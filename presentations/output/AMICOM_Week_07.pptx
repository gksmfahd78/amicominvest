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승률·손익·낙폭을 함께 읽고</a:t>
            </a:r>
          </a:p>
          <a:p>
            <a:r>
              <a:t>다음 주문에서 바꿀 행동을 찾습니다.</a:t>
            </a:r>
          </a:p>
          <a:p/>
          <a:p>
            <a:r>
              <a:t>[권장 진행]</a:t>
            </a:r>
          </a:p>
          <a:p>
            <a:r>
              <a:t>도입 5분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거래 후 알게 된 정보를 주문 전 근거에 나중에 끼워 넣지 않습니다.</a:t>
            </a:r>
          </a:p>
          <a:p/>
          <a:p>
            <a:r>
              <a:t>[권장 진행]</a:t>
            </a:r>
          </a:p>
          <a:p>
            <a:r>
              <a:t>설명 4분 · 질문 2분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이익 합계 3만 원 − 손실 5만 원 − 비용 2천 원 = −2만2천 원</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한 번의 손실 규모가 평균 이익 다섯 번과 같습니다.</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 기록의 평균입니다. 미래에도 같은 승률과 손익 규모가 반복된다는 뜻은 아닙니다.</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최대 낙폭은 (120−90) ÷ 120 = 25%. 시작점 대비 −10%와 다릅니다.</a:t>
            </a:r>
          </a:p>
          <a:p/>
          <a:p>
            <a:r>
              <a:t>[권장 진행]</a:t>
            </a:r>
          </a:p>
          <a:p>
            <a:r>
              <a:t>설명 4분 · 질문 2분</a:t>
            </a:r>
          </a:p>
          <a:p/>
          <a:p>
            <a:r>
              <a:t>[설명 원고]</a:t>
            </a:r>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입금 직전·직후 평가가 정확히 주어진 가상 사례입니다.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손실 구간에 더 많은 돈이 들어 있었습니다. 잔액 증가 80%를 성과로 쓰지 않습니다.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사람을 평가하기보다 수정 가능한 기록과 행동을 찾습니다.</a:t>
            </a:r>
          </a:p>
          <a:p/>
          <a:p>
            <a:r>
              <a:t>[권장 진행]</a:t>
            </a:r>
          </a:p>
          <a:p>
            <a:r>
              <a:t>개별 복기 7분 · 동료 피드백 8분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과정 평가는 손실을 지우는 설명이 아니라 다음 판단을 개선하는 기록입니다.</a:t>
            </a:r>
          </a:p>
          <a:p/>
          <a:p>
            <a:r>
              <a:t>[권장 진행]</a:t>
            </a:r>
          </a:p>
          <a:p>
            <a:r>
              <a:t>설명 4분 · 질문 2분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이름의 지표라도 집계 기준이 다르면 같은 값으로 비교할 수 없습니다.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최종 발표에 사용할 투자 기록 2건과 수정한 원칙 3개를 준비합니다.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ra.org/investors/investing/investing-basics/fees-commissions" TargetMode="External"/><Relationship Id="rId3" Type="http://schemas.openxmlformats.org/officeDocument/2006/relationships/hyperlink" Target="https://www.investor.gov/introduction-investing/getting-started/asset-allocation" TargetMode="External"/><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07</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수익률 한 줄로는</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알 수 없는 것들</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승률·손익·낙폭을 함께 읽고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다음 주문에서 바꿀 행동을 찾습니다.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07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수익이 났어도 가설의 빈칸은 남을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거래 후 알게 된 정보를 주문 전 근거에 나중에 끼워 넣지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주문 전 가정</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 증가 → 이익 증가”</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매출만 확인 · 원가와 현금은 미확인</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이후 확인한 결과</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매출 +20% / 이익 −20%</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원가율 60% → 65%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네 번 중 세 번 이겨도 전체는 손실일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이익 합계 3만 원 − 손실 5만 원 − 비용 2천 원 = −2만2천 원</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cxnSp>
        <p:nvCxnSpPr>
          <p:cNvPr id="19" name="Connector 18"/>
          <p:cNvCxnSpPr/>
          <p:nvPr/>
        </p:nvCxnSpPr>
        <p:spPr>
          <a:xfrm>
            <a:off x="777240" y="4317226"/>
            <a:ext cx="10652760" cy="0"/>
          </a:xfrm>
          <a:prstGeom prst="line">
            <a:avLst/>
          </a:prstGeom>
          <a:ln w="19050">
            <a:solidFill>
              <a:srgbClr val="D8DEDA"/>
            </a:solidFill>
          </a:ln>
          <a:effectLst/>
        </p:spPr>
      </p:cxnSp>
      <p:sp>
        <p:nvSpPr>
          <p:cNvPr id="20" name="Rectangle 19"/>
          <p:cNvSpPr/>
          <p:nvPr/>
        </p:nvSpPr>
        <p:spPr>
          <a:xfrm>
            <a:off x="914400" y="3988657"/>
            <a:ext cx="1029919" cy="32856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354060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10</a:t>
            </a:r>
          </a:p>
        </p:txBody>
      </p:sp>
      <p:sp>
        <p:nvSpPr>
          <p:cNvPr id="22" name="TextBox 21"/>
          <p:cNvSpPr txBox="1"/>
          <p:nvPr/>
        </p:nvSpPr>
        <p:spPr>
          <a:xfrm>
            <a:off x="7406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1</a:t>
            </a:r>
          </a:p>
        </p:txBody>
      </p:sp>
      <p:cxnSp>
        <p:nvCxnSpPr>
          <p:cNvPr id="23" name="Connector 22"/>
          <p:cNvCxnSpPr/>
          <p:nvPr/>
        </p:nvCxnSpPr>
        <p:spPr>
          <a:xfrm>
            <a:off x="1944319" y="3988657"/>
            <a:ext cx="631241" cy="0"/>
          </a:xfrm>
          <a:prstGeom prst="line">
            <a:avLst/>
          </a:prstGeom>
          <a:ln w="12700">
            <a:solidFill>
              <a:srgbClr val="D8DEDA"/>
            </a:solidFill>
          </a:ln>
          <a:effectLst/>
        </p:spPr>
      </p:cxnSp>
      <p:sp>
        <p:nvSpPr>
          <p:cNvPr id="24" name="Rectangle 23"/>
          <p:cNvSpPr/>
          <p:nvPr/>
        </p:nvSpPr>
        <p:spPr>
          <a:xfrm>
            <a:off x="2575560" y="3594374"/>
            <a:ext cx="1029919" cy="394282"/>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484119" y="3146318"/>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+12</a:t>
            </a:r>
          </a:p>
        </p:txBody>
      </p:sp>
      <p:sp>
        <p:nvSpPr>
          <p:cNvPr id="26" name="TextBox 25"/>
          <p:cNvSpPr txBox="1"/>
          <p:nvPr/>
        </p:nvSpPr>
        <p:spPr>
          <a:xfrm>
            <a:off x="240182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2</a:t>
            </a:r>
          </a:p>
        </p:txBody>
      </p:sp>
      <p:cxnSp>
        <p:nvCxnSpPr>
          <p:cNvPr id="27" name="Connector 26"/>
          <p:cNvCxnSpPr/>
          <p:nvPr/>
        </p:nvCxnSpPr>
        <p:spPr>
          <a:xfrm>
            <a:off x="3605479" y="3594374"/>
            <a:ext cx="631241" cy="0"/>
          </a:xfrm>
          <a:prstGeom prst="line">
            <a:avLst/>
          </a:prstGeom>
          <a:ln w="12700">
            <a:solidFill>
              <a:srgbClr val="D8DEDA"/>
            </a:solidFill>
          </a:ln>
          <a:effectLst/>
        </p:spPr>
      </p:cxnSp>
      <p:sp>
        <p:nvSpPr>
          <p:cNvPr id="28" name="Rectangle 27"/>
          <p:cNvSpPr/>
          <p:nvPr/>
        </p:nvSpPr>
        <p:spPr>
          <a:xfrm>
            <a:off x="4236720" y="3331519"/>
            <a:ext cx="1029919" cy="262855"/>
          </a:xfrm>
          <a:prstGeom prst="rect">
            <a:avLst/>
          </a:prstGeom>
          <a:solidFill>
            <a:srgbClr val="167964"/>
          </a:solidFill>
          <a:ln>
            <a:noFill/>
          </a:ln>
          <a:effectLst/>
        </p:spPr>
        <p:txBody>
          <a:bodyPr rtlCol="0" anchor="ctr"/>
          <a:lstStyle/>
          <a:p>
            <a:pPr algn="ctr"/>
          </a:p>
        </p:txBody>
      </p:sp>
      <p:sp>
        <p:nvSpPr>
          <p:cNvPr id="29" name="TextBox 28"/>
          <p:cNvSpPr txBox="1"/>
          <p:nvPr/>
        </p:nvSpPr>
        <p:spPr>
          <a:xfrm>
            <a:off x="4145280" y="2883463"/>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+8</a:t>
            </a:r>
          </a:p>
        </p:txBody>
      </p:sp>
      <p:sp>
        <p:nvSpPr>
          <p:cNvPr id="30" name="TextBox 29"/>
          <p:cNvSpPr txBox="1"/>
          <p:nvPr/>
        </p:nvSpPr>
        <p:spPr>
          <a:xfrm>
            <a:off x="4062983"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3</a:t>
            </a:r>
          </a:p>
        </p:txBody>
      </p:sp>
      <p:cxnSp>
        <p:nvCxnSpPr>
          <p:cNvPr id="31" name="Connector 30"/>
          <p:cNvCxnSpPr/>
          <p:nvPr/>
        </p:nvCxnSpPr>
        <p:spPr>
          <a:xfrm>
            <a:off x="5266639" y="3331519"/>
            <a:ext cx="631240" cy="0"/>
          </a:xfrm>
          <a:prstGeom prst="line">
            <a:avLst/>
          </a:prstGeom>
          <a:ln w="12700">
            <a:solidFill>
              <a:srgbClr val="D8DEDA"/>
            </a:solidFill>
          </a:ln>
          <a:effectLst/>
        </p:spPr>
      </p:cxnSp>
      <p:sp>
        <p:nvSpPr>
          <p:cNvPr id="32" name="Rectangle 31"/>
          <p:cNvSpPr/>
          <p:nvPr/>
        </p:nvSpPr>
        <p:spPr>
          <a:xfrm>
            <a:off x="5897880" y="3331519"/>
            <a:ext cx="1029919" cy="1642844"/>
          </a:xfrm>
          <a:prstGeom prst="rect">
            <a:avLst/>
          </a:prstGeom>
          <a:solidFill>
            <a:srgbClr val="3667A1"/>
          </a:solidFill>
          <a:ln>
            <a:noFill/>
          </a:ln>
          <a:effectLst/>
        </p:spPr>
        <p:txBody>
          <a:bodyPr rtlCol="0" anchor="ctr"/>
          <a:lstStyle/>
          <a:p>
            <a:pPr algn="ctr"/>
          </a:p>
        </p:txBody>
      </p:sp>
      <p:sp>
        <p:nvSpPr>
          <p:cNvPr id="33" name="TextBox 32"/>
          <p:cNvSpPr txBox="1"/>
          <p:nvPr/>
        </p:nvSpPr>
        <p:spPr>
          <a:xfrm>
            <a:off x="5806440" y="2883463"/>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-50</a:t>
            </a:r>
          </a:p>
        </p:txBody>
      </p:sp>
      <p:sp>
        <p:nvSpPr>
          <p:cNvPr id="34" name="TextBox 33"/>
          <p:cNvSpPr txBox="1"/>
          <p:nvPr/>
        </p:nvSpPr>
        <p:spPr>
          <a:xfrm>
            <a:off x="572414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4</a:t>
            </a:r>
          </a:p>
        </p:txBody>
      </p:sp>
      <p:cxnSp>
        <p:nvCxnSpPr>
          <p:cNvPr id="35" name="Connector 34"/>
          <p:cNvCxnSpPr/>
          <p:nvPr/>
        </p:nvCxnSpPr>
        <p:spPr>
          <a:xfrm>
            <a:off x="6927799" y="4974363"/>
            <a:ext cx="631241" cy="0"/>
          </a:xfrm>
          <a:prstGeom prst="line">
            <a:avLst/>
          </a:prstGeom>
          <a:ln w="12700">
            <a:solidFill>
              <a:srgbClr val="D8DEDA"/>
            </a:solidFill>
          </a:ln>
          <a:effectLst/>
        </p:spPr>
      </p:cxnSp>
      <p:sp>
        <p:nvSpPr>
          <p:cNvPr id="36" name="Rectangle 35"/>
          <p:cNvSpPr/>
          <p:nvPr/>
        </p:nvSpPr>
        <p:spPr>
          <a:xfrm>
            <a:off x="7559039" y="4974363"/>
            <a:ext cx="1029919" cy="65713"/>
          </a:xfrm>
          <a:prstGeom prst="rect">
            <a:avLst/>
          </a:prstGeom>
          <a:solidFill>
            <a:srgbClr val="3667A1"/>
          </a:solidFill>
          <a:ln>
            <a:noFill/>
          </a:ln>
          <a:effectLst/>
        </p:spPr>
        <p:txBody>
          <a:bodyPr rtlCol="0" anchor="ctr"/>
          <a:lstStyle/>
          <a:p>
            <a:pPr algn="ctr"/>
          </a:p>
        </p:txBody>
      </p:sp>
      <p:sp>
        <p:nvSpPr>
          <p:cNvPr id="37" name="TextBox 36"/>
          <p:cNvSpPr txBox="1"/>
          <p:nvPr/>
        </p:nvSpPr>
        <p:spPr>
          <a:xfrm>
            <a:off x="7467599" y="4526307"/>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-2</a:t>
            </a:r>
          </a:p>
        </p:txBody>
      </p:sp>
      <p:sp>
        <p:nvSpPr>
          <p:cNvPr id="38" name="TextBox 37"/>
          <p:cNvSpPr txBox="1"/>
          <p:nvPr/>
        </p:nvSpPr>
        <p:spPr>
          <a:xfrm>
            <a:off x="738530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비용</a:t>
            </a:r>
          </a:p>
        </p:txBody>
      </p:sp>
      <p:sp>
        <p:nvSpPr>
          <p:cNvPr id="39" name="Rectangle 38"/>
          <p:cNvSpPr/>
          <p:nvPr/>
        </p:nvSpPr>
        <p:spPr>
          <a:xfrm>
            <a:off x="9220200" y="4317226"/>
            <a:ext cx="1029919" cy="722851"/>
          </a:xfrm>
          <a:prstGeom prst="rect">
            <a:avLst/>
          </a:prstGeom>
          <a:solidFill>
            <a:srgbClr val="19282C"/>
          </a:solidFill>
          <a:ln>
            <a:noFill/>
          </a:ln>
          <a:effectLst/>
        </p:spPr>
        <p:txBody>
          <a:bodyPr rtlCol="0" anchor="ctr"/>
          <a:lstStyle/>
          <a:p>
            <a:pPr algn="ctr"/>
          </a:p>
        </p:txBody>
      </p:sp>
      <p:sp>
        <p:nvSpPr>
          <p:cNvPr id="40" name="TextBox 39"/>
          <p:cNvSpPr txBox="1"/>
          <p:nvPr/>
        </p:nvSpPr>
        <p:spPr>
          <a:xfrm>
            <a:off x="9128760" y="3869170"/>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-22</a:t>
            </a:r>
          </a:p>
        </p:txBody>
      </p:sp>
      <p:sp>
        <p:nvSpPr>
          <p:cNvPr id="41" name="TextBox 40"/>
          <p:cNvSpPr txBox="1"/>
          <p:nvPr/>
        </p:nvSpPr>
        <p:spPr>
          <a:xfrm>
            <a:off x="90464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순손익</a:t>
            </a:r>
          </a:p>
        </p:txBody>
      </p:sp>
      <p:sp>
        <p:nvSpPr>
          <p:cNvPr id="42" name="TextBox 41"/>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천 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승률과 손익 규모는 서로 다른 정보를 줍니다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한 번의 손실 규모가 평균 이익 다섯 번과 같습니다.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이익 거래 비중</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75%</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3건 ÷ 전체 4건</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이익 거래 평균</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1만 원</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총이익 3만 원 ÷ 3건</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손실 거래 평균</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5만 원</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총손실 절댓값 5만 원 ÷ 1건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거래당 평균도 비용을 구분해서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 기록의 평균입니다. 미래에도 같은 승률과 손익 규모가 반복된다는 뜻은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비용 전 평균</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−5,000원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75% × 1만 − 25% × 5만</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비용 후 평균</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−5,500원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순손익 −22,000원 ÷ 4건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마지막 수익률은 중간에 겪은 하락을 보여 주지 않습니다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입출금 없는 별도 평가 경로: 100 → 120 → 90 → 110</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최대 낙폭은 (120−90) ÷ 120 = 25%. 시작점 대비 −10%와 다릅니다.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cxnSp>
        <p:nvCxnSpPr>
          <p:cNvPr id="20" name="Connector 19"/>
          <p:cNvCxnSpPr/>
          <p:nvPr/>
        </p:nvCxnSpPr>
        <p:spPr>
          <a:xfrm>
            <a:off x="1051560" y="5184648"/>
            <a:ext cx="10058400" cy="0"/>
          </a:xfrm>
          <a:prstGeom prst="line">
            <a:avLst/>
          </a:prstGeom>
          <a:ln w="19050">
            <a:solidFill>
              <a:srgbClr val="D8DEDA"/>
            </a:solidFill>
          </a:ln>
          <a:effectLst/>
        </p:spPr>
      </p:cxnSp>
      <p:sp>
        <p:nvSpPr>
          <p:cNvPr id="21" name="TextBox 20"/>
          <p:cNvSpPr txBox="1"/>
          <p:nvPr/>
        </p:nvSpPr>
        <p:spPr>
          <a:xfrm>
            <a:off x="603504" y="5056632"/>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80</a:t>
            </a:r>
          </a:p>
        </p:txBody>
      </p:sp>
      <p:cxnSp>
        <p:nvCxnSpPr>
          <p:cNvPr id="22" name="Connector 21"/>
          <p:cNvCxnSpPr/>
          <p:nvPr/>
        </p:nvCxnSpPr>
        <p:spPr>
          <a:xfrm>
            <a:off x="1051560" y="4197096"/>
            <a:ext cx="10058400" cy="0"/>
          </a:xfrm>
          <a:prstGeom prst="line">
            <a:avLst/>
          </a:prstGeom>
          <a:ln w="19050">
            <a:solidFill>
              <a:srgbClr val="D8DEDA"/>
            </a:solidFill>
          </a:ln>
          <a:effectLst/>
        </p:spPr>
      </p:cxnSp>
      <p:sp>
        <p:nvSpPr>
          <p:cNvPr id="23" name="TextBox 22"/>
          <p:cNvSpPr txBox="1"/>
          <p:nvPr/>
        </p:nvSpPr>
        <p:spPr>
          <a:xfrm>
            <a:off x="603504" y="4069080"/>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100</a:t>
            </a:r>
          </a:p>
        </p:txBody>
      </p:sp>
      <p:cxnSp>
        <p:nvCxnSpPr>
          <p:cNvPr id="24" name="Connector 23"/>
          <p:cNvCxnSpPr/>
          <p:nvPr/>
        </p:nvCxnSpPr>
        <p:spPr>
          <a:xfrm>
            <a:off x="1051560" y="3209544"/>
            <a:ext cx="10058400" cy="0"/>
          </a:xfrm>
          <a:prstGeom prst="line">
            <a:avLst/>
          </a:prstGeom>
          <a:ln w="19050">
            <a:solidFill>
              <a:srgbClr val="D8DEDA"/>
            </a:solidFill>
          </a:ln>
          <a:effectLst/>
        </p:spPr>
      </p:cxnSp>
      <p:sp>
        <p:nvSpPr>
          <p:cNvPr id="25" name="TextBox 24"/>
          <p:cNvSpPr txBox="1"/>
          <p:nvPr/>
        </p:nvSpPr>
        <p:spPr>
          <a:xfrm>
            <a:off x="603504" y="3081527"/>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120</a:t>
            </a:r>
          </a:p>
        </p:txBody>
      </p:sp>
      <p:cxnSp>
        <p:nvCxnSpPr>
          <p:cNvPr id="26" name="Connector 25"/>
          <p:cNvCxnSpPr/>
          <p:nvPr/>
        </p:nvCxnSpPr>
        <p:spPr>
          <a:xfrm flipV="1">
            <a:off x="1417320" y="3209544"/>
            <a:ext cx="2834640" cy="987552"/>
          </a:xfrm>
          <a:prstGeom prst="line">
            <a:avLst/>
          </a:prstGeom>
          <a:ln w="50800">
            <a:solidFill>
              <a:srgbClr val="CF283B"/>
            </a:solidFill>
          </a:ln>
          <a:effectLst/>
        </p:spPr>
      </p:cxnSp>
      <p:cxnSp>
        <p:nvCxnSpPr>
          <p:cNvPr id="27" name="Connector 26"/>
          <p:cNvCxnSpPr/>
          <p:nvPr/>
        </p:nvCxnSpPr>
        <p:spPr>
          <a:xfrm>
            <a:off x="4251960" y="3209544"/>
            <a:ext cx="2834640" cy="1481328"/>
          </a:xfrm>
          <a:prstGeom prst="line">
            <a:avLst/>
          </a:prstGeom>
          <a:ln w="50800">
            <a:solidFill>
              <a:srgbClr val="3667A1"/>
            </a:solidFill>
          </a:ln>
          <a:effectLst/>
        </p:spPr>
      </p:cxnSp>
      <p:cxnSp>
        <p:nvCxnSpPr>
          <p:cNvPr id="28" name="Connector 27"/>
          <p:cNvCxnSpPr/>
          <p:nvPr/>
        </p:nvCxnSpPr>
        <p:spPr>
          <a:xfrm flipV="1">
            <a:off x="7086600" y="3703320"/>
            <a:ext cx="2834640" cy="987552"/>
          </a:xfrm>
          <a:prstGeom prst="line">
            <a:avLst/>
          </a:prstGeom>
          <a:ln w="50800">
            <a:solidFill>
              <a:srgbClr val="CF283B"/>
            </a:solidFill>
          </a:ln>
          <a:effectLst/>
        </p:spPr>
      </p:cxnSp>
      <p:sp>
        <p:nvSpPr>
          <p:cNvPr id="29" name="Rectangle 28"/>
          <p:cNvSpPr/>
          <p:nvPr/>
        </p:nvSpPr>
        <p:spPr>
          <a:xfrm>
            <a:off x="1367028" y="4146804"/>
            <a:ext cx="100584" cy="100584"/>
          </a:xfrm>
          <a:prstGeom prst="rect">
            <a:avLst/>
          </a:prstGeom>
          <a:solidFill>
            <a:srgbClr val="19282C"/>
          </a:solidFill>
          <a:ln>
            <a:noFill/>
          </a:ln>
          <a:effectLst/>
        </p:spPr>
        <p:txBody>
          <a:bodyPr rtlCol="0" anchor="ctr"/>
          <a:lstStyle/>
          <a:p>
            <a:pPr algn="ctr"/>
          </a:p>
        </p:txBody>
      </p:sp>
      <p:sp>
        <p:nvSpPr>
          <p:cNvPr id="30" name="TextBox 29"/>
          <p:cNvSpPr txBox="1"/>
          <p:nvPr/>
        </p:nvSpPr>
        <p:spPr>
          <a:xfrm>
            <a:off x="1106424" y="3739896"/>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100</a:t>
            </a:r>
          </a:p>
        </p:txBody>
      </p:sp>
      <p:sp>
        <p:nvSpPr>
          <p:cNvPr id="31" name="Rectangle 30"/>
          <p:cNvSpPr/>
          <p:nvPr/>
        </p:nvSpPr>
        <p:spPr>
          <a:xfrm>
            <a:off x="4201668" y="3159251"/>
            <a:ext cx="100584" cy="100584"/>
          </a:xfrm>
          <a:prstGeom prst="rect">
            <a:avLst/>
          </a:prstGeom>
          <a:solidFill>
            <a:srgbClr val="19282C"/>
          </a:solidFill>
          <a:ln>
            <a:noFill/>
          </a:ln>
          <a:effectLst/>
        </p:spPr>
        <p:txBody>
          <a:bodyPr rtlCol="0" anchor="ctr"/>
          <a:lstStyle/>
          <a:p>
            <a:pPr algn="ctr"/>
          </a:p>
        </p:txBody>
      </p:sp>
      <p:sp>
        <p:nvSpPr>
          <p:cNvPr id="32" name="TextBox 31"/>
          <p:cNvSpPr txBox="1"/>
          <p:nvPr/>
        </p:nvSpPr>
        <p:spPr>
          <a:xfrm>
            <a:off x="3941064" y="2752344"/>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120</a:t>
            </a:r>
          </a:p>
        </p:txBody>
      </p:sp>
      <p:sp>
        <p:nvSpPr>
          <p:cNvPr id="33" name="Rectangle 32"/>
          <p:cNvSpPr/>
          <p:nvPr/>
        </p:nvSpPr>
        <p:spPr>
          <a:xfrm>
            <a:off x="7036308" y="4640580"/>
            <a:ext cx="100584" cy="100584"/>
          </a:xfrm>
          <a:prstGeom prst="rect">
            <a:avLst/>
          </a:prstGeom>
          <a:solidFill>
            <a:srgbClr val="19282C"/>
          </a:solidFill>
          <a:ln>
            <a:noFill/>
          </a:ln>
          <a:effectLst/>
        </p:spPr>
        <p:txBody>
          <a:bodyPr rtlCol="0" anchor="ctr"/>
          <a:lstStyle/>
          <a:p>
            <a:pPr algn="ctr"/>
          </a:p>
        </p:txBody>
      </p:sp>
      <p:sp>
        <p:nvSpPr>
          <p:cNvPr id="34" name="TextBox 33"/>
          <p:cNvSpPr txBox="1"/>
          <p:nvPr/>
        </p:nvSpPr>
        <p:spPr>
          <a:xfrm>
            <a:off x="6775704" y="4233672"/>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90</a:t>
            </a:r>
          </a:p>
        </p:txBody>
      </p:sp>
      <p:sp>
        <p:nvSpPr>
          <p:cNvPr id="35" name="Rectangle 34"/>
          <p:cNvSpPr/>
          <p:nvPr/>
        </p:nvSpPr>
        <p:spPr>
          <a:xfrm>
            <a:off x="9870948" y="3653027"/>
            <a:ext cx="100584" cy="100584"/>
          </a:xfrm>
          <a:prstGeom prst="rect">
            <a:avLst/>
          </a:prstGeom>
          <a:solidFill>
            <a:srgbClr val="19282C"/>
          </a:solidFill>
          <a:ln>
            <a:noFill/>
          </a:ln>
          <a:effectLst/>
        </p:spPr>
        <p:txBody>
          <a:bodyPr rtlCol="0" anchor="ctr"/>
          <a:lstStyle/>
          <a:p>
            <a:pPr algn="ctr"/>
          </a:p>
        </p:txBody>
      </p:sp>
      <p:sp>
        <p:nvSpPr>
          <p:cNvPr id="36" name="TextBox 35"/>
          <p:cNvSpPr txBox="1"/>
          <p:nvPr/>
        </p:nvSpPr>
        <p:spPr>
          <a:xfrm>
            <a:off x="9610344" y="3246120"/>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110</a:t>
            </a:r>
          </a:p>
        </p:txBody>
      </p:sp>
      <p:sp>
        <p:nvSpPr>
          <p:cNvPr id="37" name="TextBox 36"/>
          <p:cNvSpPr txBox="1"/>
          <p:nvPr/>
        </p:nvSpPr>
        <p:spPr>
          <a:xfrm>
            <a:off x="5486400" y="2478024"/>
            <a:ext cx="2926080" cy="493776"/>
          </a:xfrm>
          <a:prstGeom prst="rect">
            <a:avLst/>
          </a:prstGeom>
          <a:noFill/>
        </p:spPr>
        <p:txBody>
          <a:bodyPr wrap="none" anchor="t" anchorCtr="0" lIns="0" rIns="0" tIns="0" bIns="0">
            <a:noAutofit/>
          </a:bodyPr>
          <a:lstStyle/>
          <a:p>
            <a:pPr algn="l">
              <a:lnSpc>
                <a:spcPct val="116000"/>
              </a:lnSpc>
              <a:spcBef>
                <a:spcPts val="0"/>
              </a:spcBef>
              <a:spcAft>
                <a:spcPts val="0"/>
              </a:spcAft>
              <a:defRPr sz="2500" b="1">
                <a:solidFill>
                  <a:srgbClr val="3667A1"/>
                </a:solidFill>
                <a:latin typeface="Noto Sans CJK KR"/>
                <a:ea typeface="Noto Sans CJK KR"/>
              </a:defRPr>
            </a:pPr>
            <a:r>
              <a:rPr>
                <a:ea typeface="Noto Sans CJK KR"/>
              </a:rPr>
              <a:t>고점 대비 −25%</a:t>
            </a:r>
          </a:p>
        </p:txBody>
      </p:sp>
      <p:sp>
        <p:nvSpPr>
          <p:cNvPr id="38" name="TextBox 37"/>
          <p:cNvSpPr txBox="1"/>
          <p:nvPr/>
        </p:nvSpPr>
        <p:spPr>
          <a:xfrm>
            <a:off x="8247888" y="5458968"/>
            <a:ext cx="3017520" cy="338328"/>
          </a:xfrm>
          <a:prstGeom prst="rect">
            <a:avLst/>
          </a:prstGeom>
          <a:noFill/>
        </p:spPr>
        <p:txBody>
          <a:bodyPr wrap="none" anchor="t" anchorCtr="0" lIns="0" rIns="0" tIns="0" bIns="0">
            <a:noAutofit/>
          </a:bodyPr>
          <a:lstStyle/>
          <a:p>
            <a:pPr algn="l">
              <a:lnSpc>
                <a:spcPct val="116000"/>
              </a:lnSpc>
              <a:spcBef>
                <a:spcPts val="0"/>
              </a:spcBef>
              <a:spcAft>
                <a:spcPts val="0"/>
              </a:spcAft>
              <a:defRPr sz="1700" b="1">
                <a:solidFill>
                  <a:srgbClr val="CF283B"/>
                </a:solidFill>
                <a:latin typeface="Noto Sans CJK KR"/>
                <a:ea typeface="Noto Sans CJK KR"/>
              </a:defRPr>
            </a:pPr>
            <a:r>
              <a:rPr>
                <a:ea typeface="Noto Sans CJK KR"/>
              </a:rPr>
              <a:t>시작 대비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중간 입금이 있으면 구간을 나누어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입금 직전·직후 평가가 정확히 주어진 가상 사례입니다.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cxnSp>
        <p:nvCxnSpPr>
          <p:cNvPr id="19" name="Connector 18"/>
          <p:cNvCxnSpPr/>
          <p:nvPr/>
        </p:nvCxnSpPr>
        <p:spPr>
          <a:xfrm>
            <a:off x="932688" y="3300984"/>
            <a:ext cx="10222992" cy="0"/>
          </a:xfrm>
          <a:prstGeom prst="line">
            <a:avLst/>
          </a:prstGeom>
          <a:ln w="38100">
            <a:solidFill>
              <a:srgbClr val="D8DEDA"/>
            </a:solidFill>
          </a:ln>
          <a:effectLst/>
        </p:spPr>
      </p:cxnSp>
      <p:sp>
        <p:nvSpPr>
          <p:cNvPr id="20" name="Rectangle 19"/>
          <p:cNvSpPr/>
          <p:nvPr/>
        </p:nvSpPr>
        <p:spPr>
          <a:xfrm>
            <a:off x="868680" y="3236976"/>
            <a:ext cx="128016" cy="128016"/>
          </a:xfrm>
          <a:prstGeom prst="rect">
            <a:avLst/>
          </a:prstGeom>
          <a:solidFill>
            <a:srgbClr val="19282C"/>
          </a:solidFill>
          <a:ln>
            <a:noFill/>
          </a:ln>
          <a:effectLst/>
        </p:spPr>
        <p:txBody>
          <a:bodyPr rtlCol="0" anchor="ctr"/>
          <a:lstStyle/>
          <a:p>
            <a:pPr algn="ctr"/>
          </a:p>
        </p:txBody>
      </p:sp>
      <p:sp>
        <p:nvSpPr>
          <p:cNvPr id="21" name="TextBox 20"/>
          <p:cNvSpPr txBox="1"/>
          <p:nvPr/>
        </p:nvSpPr>
        <p:spPr>
          <a:xfrm>
            <a:off x="59436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시작</a:t>
            </a:r>
          </a:p>
        </p:txBody>
      </p:sp>
      <p:sp>
        <p:nvSpPr>
          <p:cNvPr id="22" name="TextBox 21"/>
          <p:cNvSpPr txBox="1"/>
          <p:nvPr/>
        </p:nvSpPr>
        <p:spPr>
          <a:xfrm>
            <a:off x="59436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100만 원</a:t>
            </a:r>
          </a:p>
        </p:txBody>
      </p:sp>
      <p:sp>
        <p:nvSpPr>
          <p:cNvPr id="23" name="TextBox 22"/>
          <p:cNvSpPr txBox="1"/>
          <p:nvPr/>
        </p:nvSpPr>
        <p:spPr>
          <a:xfrm>
            <a:off x="59436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첫 구간의 기준</a:t>
            </a:r>
          </a:p>
        </p:txBody>
      </p:sp>
      <p:sp>
        <p:nvSpPr>
          <p:cNvPr id="24" name="Rectangle 23"/>
          <p:cNvSpPr/>
          <p:nvPr/>
        </p:nvSpPr>
        <p:spPr>
          <a:xfrm>
            <a:off x="4276343" y="3236976"/>
            <a:ext cx="128016" cy="128016"/>
          </a:xfrm>
          <a:prstGeom prst="rect">
            <a:avLst/>
          </a:prstGeom>
          <a:solidFill>
            <a:srgbClr val="19282C"/>
          </a:solidFill>
          <a:ln>
            <a:noFill/>
          </a:ln>
          <a:effectLst/>
        </p:spPr>
        <p:txBody>
          <a:bodyPr rtlCol="0" anchor="ctr"/>
          <a:lstStyle/>
          <a:p>
            <a:pPr algn="ctr"/>
          </a:p>
        </p:txBody>
      </p:sp>
      <p:sp>
        <p:nvSpPr>
          <p:cNvPr id="25" name="TextBox 24"/>
          <p:cNvSpPr txBox="1"/>
          <p:nvPr/>
        </p:nvSpPr>
        <p:spPr>
          <a:xfrm>
            <a:off x="3608831"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입금 직전</a:t>
            </a:r>
          </a:p>
        </p:txBody>
      </p:sp>
      <p:sp>
        <p:nvSpPr>
          <p:cNvPr id="26" name="TextBox 25"/>
          <p:cNvSpPr txBox="1"/>
          <p:nvPr/>
        </p:nvSpPr>
        <p:spPr>
          <a:xfrm>
            <a:off x="3608831"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120만 원</a:t>
            </a:r>
          </a:p>
        </p:txBody>
      </p:sp>
      <p:sp>
        <p:nvSpPr>
          <p:cNvPr id="27" name="TextBox 26"/>
          <p:cNvSpPr txBox="1"/>
          <p:nvPr/>
        </p:nvSpPr>
        <p:spPr>
          <a:xfrm>
            <a:off x="3608831"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구간 수익률 +20%</a:t>
            </a:r>
          </a:p>
        </p:txBody>
      </p:sp>
      <p:sp>
        <p:nvSpPr>
          <p:cNvPr id="28" name="Rectangle 27"/>
          <p:cNvSpPr/>
          <p:nvPr/>
        </p:nvSpPr>
        <p:spPr>
          <a:xfrm>
            <a:off x="7684007" y="3236976"/>
            <a:ext cx="128016" cy="128016"/>
          </a:xfrm>
          <a:prstGeom prst="rect">
            <a:avLst/>
          </a:prstGeom>
          <a:solidFill>
            <a:srgbClr val="19282C"/>
          </a:solidFill>
          <a:ln>
            <a:noFill/>
          </a:ln>
          <a:effectLst/>
        </p:spPr>
        <p:txBody>
          <a:bodyPr rtlCol="0" anchor="ctr"/>
          <a:lstStyle/>
          <a:p>
            <a:pPr algn="ctr"/>
          </a:p>
        </p:txBody>
      </p:sp>
      <p:sp>
        <p:nvSpPr>
          <p:cNvPr id="29" name="TextBox 28"/>
          <p:cNvSpPr txBox="1"/>
          <p:nvPr/>
        </p:nvSpPr>
        <p:spPr>
          <a:xfrm>
            <a:off x="7016496"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80만 입금</a:t>
            </a:r>
          </a:p>
        </p:txBody>
      </p:sp>
      <p:sp>
        <p:nvSpPr>
          <p:cNvPr id="30" name="TextBox 29"/>
          <p:cNvSpPr txBox="1"/>
          <p:nvPr/>
        </p:nvSpPr>
        <p:spPr>
          <a:xfrm>
            <a:off x="7016496"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200만 원</a:t>
            </a:r>
          </a:p>
        </p:txBody>
      </p:sp>
      <p:sp>
        <p:nvSpPr>
          <p:cNvPr id="31" name="TextBox 30"/>
          <p:cNvSpPr txBox="1"/>
          <p:nvPr/>
        </p:nvSpPr>
        <p:spPr>
          <a:xfrm>
            <a:off x="7016496"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둘째 구간의 기준</a:t>
            </a:r>
          </a:p>
        </p:txBody>
      </p:sp>
      <p:sp>
        <p:nvSpPr>
          <p:cNvPr id="32" name="Rectangle 31"/>
          <p:cNvSpPr/>
          <p:nvPr/>
        </p:nvSpPr>
        <p:spPr>
          <a:xfrm>
            <a:off x="11091672" y="3236976"/>
            <a:ext cx="128016" cy="128016"/>
          </a:xfrm>
          <a:prstGeom prst="rect">
            <a:avLst/>
          </a:prstGeom>
          <a:solidFill>
            <a:srgbClr val="CF283B"/>
          </a:solidFill>
          <a:ln>
            <a:noFill/>
          </a:ln>
          <a:effectLst/>
        </p:spPr>
        <p:txBody>
          <a:bodyPr rtlCol="0" anchor="ctr"/>
          <a:lstStyle/>
          <a:p>
            <a:pPr algn="ctr"/>
          </a:p>
        </p:txBody>
      </p:sp>
      <p:sp>
        <p:nvSpPr>
          <p:cNvPr id="33" name="TextBox 32"/>
          <p:cNvSpPr txBox="1"/>
          <p:nvPr/>
        </p:nvSpPr>
        <p:spPr>
          <a:xfrm>
            <a:off x="923544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CF283B"/>
                </a:solidFill>
                <a:latin typeface="Noto Sans CJK KR"/>
                <a:ea typeface="Noto Sans CJK KR"/>
              </a:defRPr>
            </a:pPr>
            <a:r>
              <a:rPr>
                <a:ea typeface="Noto Sans CJK KR"/>
              </a:rPr>
              <a:t>기말</a:t>
            </a:r>
          </a:p>
        </p:txBody>
      </p:sp>
      <p:sp>
        <p:nvSpPr>
          <p:cNvPr id="34" name="TextBox 33"/>
          <p:cNvSpPr txBox="1"/>
          <p:nvPr/>
        </p:nvSpPr>
        <p:spPr>
          <a:xfrm>
            <a:off x="923544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180만 원</a:t>
            </a:r>
          </a:p>
        </p:txBody>
      </p:sp>
      <p:sp>
        <p:nvSpPr>
          <p:cNvPr id="35" name="TextBox 34"/>
          <p:cNvSpPr txBox="1"/>
          <p:nvPr/>
        </p:nvSpPr>
        <p:spPr>
          <a:xfrm>
            <a:off x="923544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구간 수익률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연결 수익률과 금전적 손익은 다른 질문입니다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손실 구간에 더 많은 돈이 들어 있었습니다. 잔액 증가 80%를 성과로 쓰지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구간을 연결한 운용 수익률</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 × 0.90 − 1</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실제 금전적 손익</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180만 − 처음 100만 − 입금 80만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복기 메모를 다음 주문에서 확인할 행동으로 바꾸세요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사람을 평가하기보다 수정 가능한 기록과 행동을 찾습니다.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“이번에는 운이 나빴다.</a:t>
            </a:r>
          </a:p>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다음에는 더 신중하게 하겠다.”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당시 확인한 자료와 미확인 항목을 구분하세요.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처음의 가정과 실제 결과가 달랐던 지점을 쓰세요.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다음 주문에서 동료가 확인할 행동을 한 문장으로 쓰세요.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결과를 숨기지 않고 조사 과정을 구체적으로 고칩니다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과정 평가는 손실을 지우는 설명이 아니라 다음 판단을 개선하는 기록입니다.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“다음 주문부터 매출과 영업이익률을</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같은 비교표에 적고, 원가 변화를 조사한다.”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보존할 것: 당시의 원문과 시각 · 주문 전 가정 · 실제 체결·비용 · 이후 확인한 사실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계좌 지표를 비교할 때 같이 적을 기준</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이름의 지표라도 집계 기준이 다르면 같은 값으로 비교할 수 없습니다.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309067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지표</a:t>
            </a:r>
          </a:p>
        </p:txBody>
      </p:sp>
      <p:sp>
        <p:nvSpPr>
          <p:cNvPr id="21" name="TextBox 20"/>
          <p:cNvSpPr txBox="1"/>
          <p:nvPr/>
        </p:nvSpPr>
        <p:spPr>
          <a:xfrm>
            <a:off x="4123944" y="2532888"/>
            <a:ext cx="731520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함께 남길 기준</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승률·평균 손익</a:t>
            </a:r>
          </a:p>
        </p:txBody>
      </p:sp>
      <p:sp>
        <p:nvSpPr>
          <p:cNvPr id="24" name="TextBox 23"/>
          <p:cNvSpPr txBox="1"/>
          <p:nvPr/>
        </p:nvSpPr>
        <p:spPr>
          <a:xfrm>
            <a:off x="4123944" y="306324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거래 포함 범위 · 비용 · 손익분기 처리</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계좌 수익률</a:t>
            </a:r>
          </a:p>
        </p:txBody>
      </p:sp>
      <p:sp>
        <p:nvSpPr>
          <p:cNvPr id="27" name="TextBox 26"/>
          <p:cNvSpPr txBox="1"/>
          <p:nvPr/>
        </p:nvSpPr>
        <p:spPr>
          <a:xfrm>
            <a:off x="4123944" y="377035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시작/종료 · 입출금 · 배당 · 평가 시점</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최대 낙폭</a:t>
            </a:r>
          </a:p>
        </p:txBody>
      </p:sp>
      <p:sp>
        <p:nvSpPr>
          <p:cNvPr id="30" name="TextBox 29"/>
          <p:cNvSpPr txBox="1"/>
          <p:nvPr/>
        </p:nvSpPr>
        <p:spPr>
          <a:xfrm>
            <a:off x="4123944" y="447746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관측 간격 · 앞선 고점 · 평가 경로</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과정 평가</a:t>
            </a:r>
          </a:p>
        </p:txBody>
      </p:sp>
      <p:sp>
        <p:nvSpPr>
          <p:cNvPr id="33" name="TextBox 32"/>
          <p:cNvSpPr txBox="1"/>
          <p:nvPr/>
        </p:nvSpPr>
        <p:spPr>
          <a:xfrm>
            <a:off x="4123944" y="518457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당시 근거 · 가정 · 수정 조건 · 실제 행동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12</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FINRA · 수수료와 비용</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https://www.finra.org/investors/investing/investing-basics/fees-commissions</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https://www.investor.gov/introduction-investing/getting-started/asset-allocation</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7주차 · 매매 계획과 투자 복기</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
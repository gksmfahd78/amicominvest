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ETF 안의 중복 보유를 계산하고</a:t>
            </a:r>
          </a:p>
          <a:p>
            <a:r>
              <a:t>계좌 전체의 노출을 확인합니다.</a:t>
            </a:r>
          </a:p>
          <a:p/>
          <a:p>
            <a:r>
              <a:t>[권장 진행]</a:t>
            </a:r>
          </a:p>
          <a:p>
            <a:r>
              <a:t>도입 5분</a:t>
            </a:r>
          </a:p>
          <a:p/>
          <a:p>
            <a:r>
              <a:t>[설명 원고]</a:t>
            </a:r>
          </a:p>
          <a:p>
            <a:r>
              <a:t>가상 계좌 100만 원 중 한빛식품 직접 보유 20만 원, 식품 ETF 50만 원, 현금 30만 원으로 구성했다고 가정합니다. ETF의 최신 구성 내역에는 한빛식품이 10% 들어 있습니다. 이 ETF는 실제 상품이 아닌 단순 현물 구성의 학습 예시이며, 다른 경로의 한빛식품 보유는 없다고 정합니다.</a:t>
            </a:r>
          </a:p>
          <a:p/>
          <a:p>
            <a:r>
              <a:t>ETF를 통한 한빛식품 금액은 50만×10%=5만 원입니다. 직접 보유 20만 원에 더하면 총 25만 원, 계좌 전체의 25%입니다. 직접 비중 20%에 ETF 내부 비중 10%를 그냥 더해 30%라고 하면 분모가 다른 비율을 섞은 것입니다. 먼저 ETF 내부 비중을 계좌 금액으로 환산하거나 20%+50%×10%=25%로 계산합니다.</a:t>
            </a:r>
          </a:p>
          <a:p/>
          <a:p>
            <a:r>
              <a:t>ETF 안의 나머지 종목도 식품기업에 집중됐다면 한빛식품만 보유했을 때의 개별 기업 위험은 일부 나뉘어도 공통 원재료 가격 위험은 남을 수 있습니다. 보유 내역 옆에 원재료·고객·산업 노출을 적어 같은 사건에 동시에 영향을 받는 부분을 찾습니다. 상품이 두 개라는 사실만으로 충분히 분산됐다고 결론 내리지 않습니다.</a:t>
            </a:r>
          </a:p>
          <a:p/>
          <a:p>
            <a:r>
              <a:t>완성 구성 메모: ‘직접 한빛식품 20%와 ETF를 통한 5%를 합쳐 동일 기업 노출은 25%다. ETF의 다른 구성 종목에도 식품 산업 노출이 있어 원재료 가격 위험은 함께 점검한다.’ 실제 ETF는 구성 기준일을 적고 최신 내역으로 다시 계산합니다. 파생상품 등 다른 구조의 노출을 이 단순 현물 계산과 같다고 일반화하지 않습니다.</a:t>
            </a:r>
          </a:p>
          <a:p/>
          <a:p>
            <a:r>
              <a:t>[진행자 안내]</a:t>
            </a:r>
          </a:p>
          <a:p>
            <a:r>
              <a:t>이 주차의 핵심 질문을 먼저 읽고 참가자의 예상 답을 두 개 받아 기록합니다. 수익률 순위를 학습 평가 기준으로 쓰지 않습니다.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상품 이름의 개수와 실제로 노출된 기업·위험의 개수는 다릅니다.</a:t>
            </a:r>
          </a:p>
          <a:p/>
          <a:p>
            <a:r>
              <a:t>[권장 진행]</a:t>
            </a:r>
          </a:p>
          <a:p>
            <a:r>
              <a:t>설명 4분 · 질문 2분</a:t>
            </a:r>
          </a:p>
          <a:p/>
          <a:p>
            <a:r>
              <a:t>[설명 원고]</a:t>
            </a:r>
          </a:p>
          <a:p>
            <a:r>
              <a:t>가상 계좌 100만 원 중 한빛식품 직접 보유 20만 원, 식품 ETF 50만 원, 현금 30만 원으로 구성했다고 가정합니다. ETF의 최신 구성 내역에는 한빛식품이 10% 들어 있습니다. 이 ETF는 실제 상품이 아닌 단순 현물 구성의 학습 예시이며, 다른 경로의 한빛식품 보유는 없다고 정합니다.</a:t>
            </a:r>
          </a:p>
          <a:p/>
          <a:p>
            <a:r>
              <a:t>ETF를 통한 한빛식품 금액은 50만×10%=5만 원입니다. 직접 보유 20만 원에 더하면 총 25만 원, 계좌 전체의 25%입니다. 직접 비중 20%에 ETF 내부 비중 10%를 그냥 더해 30%라고 하면 분모가 다른 비율을 섞은 것입니다. 먼저 ETF 내부 비중을 계좌 금액으로 환산하거나 20%+50%×10%=25%로 계산합니다.</a:t>
            </a:r>
          </a:p>
          <a:p/>
          <a:p>
            <a:r>
              <a:t>ETF 안의 나머지 종목도 식품기업에 집중됐다면 한빛식품만 보유했을 때의 개별 기업 위험은 일부 나뉘어도 공통 원재료 가격 위험은 남을 수 있습니다. 보유 내역 옆에 원재료·고객·산업 노출을 적어 같은 사건에 동시에 영향을 받는 부분을 찾습니다. 상품이 두 개라는 사실만으로 충분히 분산됐다고 결론 내리지 않습니다.</a:t>
            </a:r>
          </a:p>
          <a:p/>
          <a:p>
            <a:r>
              <a:t>완성 구성 메모: ‘직접 한빛식품 20%와 ETF를 통한 5%를 합쳐 동일 기업 노출은 25%다. ETF의 다른 구성 종목에도 식품 산업 노출이 있어 원재료 가격 위험은 함께 점검한다.’ 실제 ETF는 구성 기준일을 적고 최신 내역으로 다시 계산합니다. 파생상품 등 다른 구조의 노출을 이 단순 현물 계산과 같다고 일반화하지 않습니다.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직접 비중 20%와 ETF 내부 비중 10%를 그대로 더하지 않습니다.</a:t>
            </a:r>
          </a:p>
          <a:p/>
          <a:p>
            <a:r>
              <a:t>[권장 진행]</a:t>
            </a:r>
          </a:p>
          <a:p>
            <a:r>
              <a:t>설명 4분 · 질문 2분</a:t>
            </a:r>
          </a:p>
          <a:p/>
          <a:p>
            <a:r>
              <a:t>[설명 원고]</a:t>
            </a:r>
          </a:p>
          <a:p>
            <a:r>
              <a:t>가상 계좌 100만 원 중 한빛식품 직접 보유 20만 원, 식품 ETF 50만 원, 현금 30만 원으로 구성했다고 가정합니다. ETF의 최신 구성 내역에는 한빛식품이 10% 들어 있습니다. 이 ETF는 실제 상품이 아닌 단순 현물 구성의 학습 예시이며, 다른 경로의 한빛식품 보유는 없다고 정합니다.</a:t>
            </a:r>
          </a:p>
          <a:p/>
          <a:p>
            <a:r>
              <a:t>ETF를 통한 한빛식품 금액은 50만×10%=5만 원입니다. 직접 보유 20만 원에 더하면 총 25만 원, 계좌 전체의 25%입니다. 직접 비중 20%에 ETF 내부 비중 10%를 그냥 더해 30%라고 하면 분모가 다른 비율을 섞은 것입니다. 먼저 ETF 내부 비중을 계좌 금액으로 환산하거나 20%+50%×10%=25%로 계산합니다.</a:t>
            </a:r>
          </a:p>
          <a:p/>
          <a:p>
            <a:r>
              <a:t>ETF 안의 나머지 종목도 식품기업에 집중됐다면 한빛식품만 보유했을 때의 개별 기업 위험은 일부 나뉘어도 공통 원재료 가격 위험은 남을 수 있습니다. 보유 내역 옆에 원재료·고객·산업 노출을 적어 같은 사건에 동시에 영향을 받는 부분을 찾습니다. 상품이 두 개라는 사실만으로 충분히 분산됐다고 결론 내리지 않습니다.</a:t>
            </a:r>
          </a:p>
          <a:p/>
          <a:p>
            <a:r>
              <a:t>완성 구성 메모: ‘직접 한빛식품 20%와 ETF를 통한 5%를 합쳐 동일 기업 노출은 25%다. ETF의 다른 구성 종목에도 식품 산업 노출이 있어 원재료 가격 위험은 함께 점검한다.’ 실제 ETF는 구성 기준일을 적고 최신 내역으로 다시 계산합니다. 파생상품 등 다른 구조의 노출을 이 단순 현물 계산과 같다고 일반화하지 않습니다.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분산은 손실을 없애는 장치가 아닙니다. 같은 사건에 함께 영향을 받는지 봅니다.</a:t>
            </a:r>
          </a:p>
          <a:p/>
          <a:p>
            <a:r>
              <a:t>[권장 진행]</a:t>
            </a:r>
          </a:p>
          <a:p>
            <a:r>
              <a:t>설명 4분 · 질문 2분</a:t>
            </a:r>
          </a:p>
          <a:p/>
          <a:p>
            <a:r>
              <a:t>[설명 원고]</a:t>
            </a:r>
          </a:p>
          <a:p>
            <a:r>
              <a:t>가상 계좌 100만 원 중 한빛식품 직접 보유 20만 원, 식품 ETF 50만 원, 현금 30만 원으로 구성했다고 가정합니다. ETF의 최신 구성 내역에는 한빛식품이 10% 들어 있습니다. 이 ETF는 실제 상품이 아닌 단순 현물 구성의 학습 예시이며, 다른 경로의 한빛식품 보유는 없다고 정합니다.</a:t>
            </a:r>
          </a:p>
          <a:p/>
          <a:p>
            <a:r>
              <a:t>ETF를 통한 한빛식품 금액은 50만×10%=5만 원입니다. 직접 보유 20만 원에 더하면 총 25만 원, 계좌 전체의 25%입니다. 직접 비중 20%에 ETF 내부 비중 10%를 그냥 더해 30%라고 하면 분모가 다른 비율을 섞은 것입니다. 먼저 ETF 내부 비중을 계좌 금액으로 환산하거나 20%+50%×10%=25%로 계산합니다.</a:t>
            </a:r>
          </a:p>
          <a:p/>
          <a:p>
            <a:r>
              <a:t>ETF 안의 나머지 종목도 식품기업에 집중됐다면 한빛식품만 보유했을 때의 개별 기업 위험은 일부 나뉘어도 공통 원재료 가격 위험은 남을 수 있습니다. 보유 내역 옆에 원재료·고객·산업 노출을 적어 같은 사건에 동시에 영향을 받는 부분을 찾습니다. 상품이 두 개라는 사실만으로 충분히 분산됐다고 결론 내리지 않습니다.</a:t>
            </a:r>
          </a:p>
          <a:p/>
          <a:p>
            <a:r>
              <a:t>완성 구성 메모: ‘직접 한빛식품 20%와 ETF를 통한 5%를 합쳐 동일 기업 노출은 25%다. ETF의 다른 구성 종목에도 식품 산업 노출이 있어 원재료 가격 위험은 함께 점검한다.’ 실제 ETF는 구성 기준일을 적고 최신 내역으로 다시 계산합니다. 파생상품 등 다른 구조의 노출을 이 단순 현물 계산과 같다고 일반화하지 않습니다.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차이 1%는 관찰값입니다. 그 차이가 사라져 이익이 된다는 보장은 아닙니다.</a:t>
            </a:r>
          </a:p>
          <a:p/>
          <a:p>
            <a:r>
              <a:t>[권장 진행]</a:t>
            </a:r>
          </a:p>
          <a:p>
            <a:r>
              <a:t>설명 4분 · 질문 2분</a:t>
            </a:r>
          </a:p>
          <a:p/>
          <a:p>
            <a:r>
              <a:t>[설명 원고]</a:t>
            </a:r>
          </a:p>
          <a:p>
            <a:r>
              <a:t>실제 ETF를 조사할 때에는 종목명만 적지 않고 상품 설명서나 운용사 상품 자료에서 추종 지수, 구성 자산, 운용 방식과 기준일을 찾습니다. 비교표의 한 행에 ‘지수 이름 / 상위 구성 / 통화 노출 / 분배금 처리 / 비용 / 자료 기준일’을 적습니다. 비슷한 상품명이더라도 같은 지수나 같은 통화 조건이라고 가정하지 않습니다.</a:t>
            </a:r>
          </a:p>
          <a:p/>
          <a:p>
            <a:r>
              <a:t>가상 ETF의 같은 시점 주당 순자산가치가 10,000원, 거래 가격이 10,100원이라면 차이는 (10,100−10,000)÷10,000=1%입니다. 100주 매수 시 거래 금액은 101만 원, 해당 기준 순자산가치 합계는 100만 원입니다. 1만 원 차이가 있다는 계산과 이후 그 차이가 해소되어 이익이 난다는 예측은 별개입니다.</a:t>
            </a:r>
          </a:p>
          <a:p/>
          <a:p>
            <a:r>
              <a:t>기준 시각이 다르면 위 비교도 다시 해야 합니다. 기초 자산 시장이 거래 중인지, 제시된 값이 확정 순자산가치인지 장중 추정값인지 자료 설명을 확인합니다. 비용에서는 보수 외 기타 비용, 매매 수수료, 호가 스프레드의 처리 위치를 구분합니다. 예를 들어 서로 다른 기준의 성과에서 보수를 다시 빼면 이미 반영된 비용을 이중 차감할 수 있습니다.</a:t>
            </a:r>
          </a:p>
          <a:p/>
          <a:p>
            <a:r>
              <a:t>완성 조사 메모: ‘이 상품은 어떤 지수를 추종하며 구성 상위 종목은 무엇이다. 비교한 가격과 순자산가치의 시각은 같다/다르다. 가상 계산의 가격 차이는 1%지만 원인과 거래 조건은 추가 확인한다.’ 찾지 못한 칸은 미확인으로 남기고 실제 상품을 고르는 결론을 내기 전에 그 자료를 확보합니다. 이름이나 보수 한 숫자만으로 비교를 끝내지 않습니다.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구성·시점이 다른 상품을 보수 한 숫자로만 비교하지 않습니다.</a:t>
            </a:r>
          </a:p>
          <a:p/>
          <a:p>
            <a:r>
              <a:t>[권장 진행]</a:t>
            </a:r>
          </a:p>
          <a:p>
            <a:r>
              <a:t>설명 4분 · 질문 2분</a:t>
            </a:r>
          </a:p>
          <a:p/>
          <a:p>
            <a:r>
              <a:t>[설명 원고]</a:t>
            </a:r>
          </a:p>
          <a:p>
            <a:r>
              <a:t>실제 ETF를 조사할 때에는 종목명만 적지 않고 상품 설명서나 운용사 상품 자료에서 추종 지수, 구성 자산, 운용 방식과 기준일을 찾습니다. 비교표의 한 행에 ‘지수 이름 / 상위 구성 / 통화 노출 / 분배금 처리 / 비용 / 자료 기준일’을 적습니다. 비슷한 상품명이더라도 같은 지수나 같은 통화 조건이라고 가정하지 않습니다.</a:t>
            </a:r>
          </a:p>
          <a:p/>
          <a:p>
            <a:r>
              <a:t>가상 ETF의 같은 시점 주당 순자산가치가 10,000원, 거래 가격이 10,100원이라면 차이는 (10,100−10,000)÷10,000=1%입니다. 100주 매수 시 거래 금액은 101만 원, 해당 기준 순자산가치 합계는 100만 원입니다. 1만 원 차이가 있다는 계산과 이후 그 차이가 해소되어 이익이 난다는 예측은 별개입니다.</a:t>
            </a:r>
          </a:p>
          <a:p/>
          <a:p>
            <a:r>
              <a:t>기준 시각이 다르면 위 비교도 다시 해야 합니다. 기초 자산 시장이 거래 중인지, 제시된 값이 확정 순자산가치인지 장중 추정값인지 자료 설명을 확인합니다. 비용에서는 보수 외 기타 비용, 매매 수수료, 호가 스프레드의 처리 위치를 구분합니다. 예를 들어 서로 다른 기준의 성과에서 보수를 다시 빼면 이미 반영된 비용을 이중 차감할 수 있습니다.</a:t>
            </a:r>
          </a:p>
          <a:p/>
          <a:p>
            <a:r>
              <a:t>완성 조사 메모: ‘이 상품은 어떤 지수를 추종하며 구성 상위 종목은 무엇이다. 비교한 가격과 순자산가치의 시각은 같다/다르다. 가상 계산의 가격 차이는 1%지만 원인과 거래 조건은 추가 확인한다.’ 찾지 못한 칸은 미확인으로 남기고 실제 상품을 고르는 결론을 내기 전에 그 자료를 확보합니다. 이름이나 보수 한 숫자만으로 비교를 끝내지 않습니다.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20% × 10% + 50% × (−4%) = 0%. 현재 구성은 22% · 48% · 30%입니다.</a:t>
            </a:r>
          </a:p>
          <a:p/>
          <a:p>
            <a:r>
              <a:t>[권장 진행]</a:t>
            </a:r>
          </a:p>
          <a:p>
            <a:r>
              <a:t>설명 4분 · 질문 2분</a:t>
            </a:r>
          </a:p>
          <a:p/>
          <a:p>
            <a:r>
              <a:t>[설명 원고]</a:t>
            </a:r>
          </a:p>
          <a:p>
            <a:r>
              <a:t>앞의 100만 원 계좌에서 한빛식품 20만 원이 +10%, ETF 50만 원이 −4%, 현금 30만 원은 그대로라고 가정합니다. 기간 중 입출금·배당·비용·매매는 없습니다. 종목 수익률을 평균 낼 것이 아니라 각 금액의 변화를 계산합니다. 한빛식품 22만 원, ETF 48만 원, 현금 30만 원으로 기말 합계는 100만 원입니다.</a:t>
            </a:r>
          </a:p>
          <a:p/>
          <a:p>
            <a:r>
              <a:t>전체 수익률은 0%이며 시작 비중으로 검산하면 20%×10%+50%×(−4%)+30%×0%=0%입니다. 하지만 현재 비중은 22%·48%·30%로 바뀌었습니다. 전체 자산이 그대로여도 구성은 달라질 수 있습니다. 과거 비중 20%·50%를 현재 비중이라고 계속 표시하면 다음 판단에 사용하는 노출이 틀려집니다.</a:t>
            </a:r>
          </a:p>
          <a:p/>
          <a:p>
            <a:r>
              <a:t>ETF 내부 한빛식품 비중도 가격 변화로 달라질 수 있으므로 앞의 10%를 무조건 유지하지 않습니다. 예를 들어 새 구성 자료가 11%라고 제시했다면 현재 간접 노출은 48만×11%=52,800원입니다. 직접 220,000원과 합쳐 272,800원, 전체의 27.28%입니다. 이 11%는 추가로 주어진 가정이며 이전 ETF 수익률만으로 계산해 낸 값은 아닙니다.</a:t>
            </a:r>
          </a:p>
          <a:p/>
          <a:p>
            <a:r>
              <a:t>원래 직접 비중 20%로 돌아가는 금액 계산은 22만−20만=2만 원 차이입니다. 하지만 실제 조정은 주식 단위, 비용, 계획의 유효성 등을 확인해야 하므로 바로 매도 지시로 사용하지 않습니다. 완성 기록은 ‘계좌 수익률은 0%지만 같은 기업 노출이 새 구성 가정에서 27.28%로 바뀌었다. 목표와 현재 구성을 비교하고 조정 여부의 이유를 적는다’입니다.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비율의 분모를 계좌 전체로 맞춘 뒤 더합니다.</a:t>
            </a:r>
          </a:p>
          <a:p/>
          <a:p>
            <a:r>
              <a:t>[권장 진행]</a:t>
            </a:r>
          </a:p>
          <a:p>
            <a:r>
              <a:t>계산 4분 · 설명 6분</a:t>
            </a:r>
          </a:p>
          <a:p/>
          <a:p>
            <a:r>
              <a:t>[설명 원고]</a:t>
            </a:r>
          </a:p>
          <a:p>
            <a:r>
              <a:t>가상 계좌 100만 원 중 한빛식품 직접 보유 20만 원, 식품 ETF 50만 원, 현금 30만 원으로 구성했다고 가정합니다. ETF의 최신 구성 내역에는 한빛식품이 10% 들어 있습니다. 이 ETF는 실제 상품이 아닌 단순 현물 구성의 학습 예시이며, 다른 경로의 한빛식품 보유는 없다고 정합니다.</a:t>
            </a:r>
          </a:p>
          <a:p/>
          <a:p>
            <a:r>
              <a:t>ETF를 통한 한빛식품 금액은 50만×10%=5만 원입니다. 직접 보유 20만 원에 더하면 총 25만 원, 계좌 전체의 25%입니다. 직접 비중 20%에 ETF 내부 비중 10%를 그냥 더해 30%라고 하면 분모가 다른 비율을 섞은 것입니다. 먼저 ETF 내부 비중을 계좌 금액으로 환산하거나 20%+50%×10%=25%로 계산합니다.</a:t>
            </a:r>
          </a:p>
          <a:p/>
          <a:p>
            <a:r>
              <a:t>ETF 안의 나머지 종목도 식품기업에 집중됐다면 한빛식품만 보유했을 때의 개별 기업 위험은 일부 나뉘어도 공통 원재료 가격 위험은 남을 수 있습니다. 보유 내역 옆에 원재료·고객·산업 노출을 적어 같은 사건에 동시에 영향을 받는 부분을 찾습니다. 상품이 두 개라는 사실만으로 충분히 분산됐다고 결론 내리지 않습니다.</a:t>
            </a:r>
          </a:p>
          <a:p/>
          <a:p>
            <a:r>
              <a:t>완성 구성 메모: ‘직접 한빛식품 20%와 ETF를 통한 5%를 합쳐 동일 기업 노출은 25%다. ETF의 다른 구성 종목에도 식품 산업 노출이 있어 원재료 가격 위험은 함께 점검한다.’ 실제 ETF는 구성 기준일을 적고 최신 내역으로 다시 계산합니다. 파생상품 등 다른 구조의 노출을 이 단순 현물 계산과 같다고 일반화하지 않습니다.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35%라고 더하면 계좌 비중과 ETF 내부 비중을 혼합한 계산입니다.</a:t>
            </a:r>
          </a:p>
          <a:p/>
          <a:p>
            <a:r>
              <a:t>[권장 진행]</a:t>
            </a:r>
          </a:p>
          <a:p>
            <a:r>
              <a:t>설명 4분 · 질문 2분</a:t>
            </a:r>
          </a:p>
          <a:p/>
          <a:p>
            <a:r>
              <a:t>[설명 원고]</a:t>
            </a:r>
          </a:p>
          <a:p>
            <a:r>
              <a:t>가상 계좌 100만 원 중 한빛식품 직접 보유 20만 원, 식품 ETF 50만 원, 현금 30만 원으로 구성했다고 가정합니다. ETF의 최신 구성 내역에는 한빛식품이 10% 들어 있습니다. 이 ETF는 실제 상품이 아닌 단순 현물 구성의 학습 예시이며, 다른 경로의 한빛식품 보유는 없다고 정합니다.</a:t>
            </a:r>
          </a:p>
          <a:p/>
          <a:p>
            <a:r>
              <a:t>ETF를 통한 한빛식품 금액은 50만×10%=5만 원입니다. 직접 보유 20만 원에 더하면 총 25만 원, 계좌 전체의 25%입니다. 직접 비중 20%에 ETF 내부 비중 10%를 그냥 더해 30%라고 하면 분모가 다른 비율을 섞은 것입니다. 먼저 ETF 내부 비중을 계좌 금액으로 환산하거나 20%+50%×10%=25%로 계산합니다.</a:t>
            </a:r>
          </a:p>
          <a:p/>
          <a:p>
            <a:r>
              <a:t>ETF 안의 나머지 종목도 식품기업에 집중됐다면 한빛식품만 보유했을 때의 개별 기업 위험은 일부 나뉘어도 공통 원재료 가격 위험은 남을 수 있습니다. 보유 내역 옆에 원재료·고객·산업 노출을 적어 같은 사건에 동시에 영향을 받는 부분을 찾습니다. 상품이 두 개라는 사실만으로 충분히 분산됐다고 결론 내리지 않습니다.</a:t>
            </a:r>
          </a:p>
          <a:p/>
          <a:p>
            <a:r>
              <a:t>완성 구성 메모: ‘직접 한빛식품 20%와 ETF를 통한 5%를 합쳐 동일 기업 노출은 25%다. ETF의 다른 구성 종목에도 식품 산업 노출이 있어 원재료 가격 위험은 함께 점검한다.’ 실제 ETF는 구성 기준일을 적고 최신 내역으로 다시 계산합니다. 파생상품 등 다른 구조의 노출을 이 단순 현물 계산과 같다고 일반화하지 않습니다.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목적]</a:t>
            </a:r>
          </a:p>
          <a:p>
            <a:r>
              <a:t>비중 차이의 계산을 곧바로 실제 매매 지시로 바꾸지 않습니다.</a:t>
            </a:r>
          </a:p>
          <a:p/>
          <a:p>
            <a:r>
              <a:t>[권장 진행]</a:t>
            </a:r>
          </a:p>
          <a:p>
            <a:r>
              <a:t>가상 구성표 작성 12분 · 공통 위험 토론 8분</a:t>
            </a:r>
          </a:p>
          <a:p/>
          <a:p>
            <a:r>
              <a:t>[설명 원고]</a:t>
            </a:r>
          </a:p>
          <a:p>
            <a:r>
              <a:t>앞의 100만 원 계좌에서 한빛식품 20만 원이 +10%, ETF 50만 원이 −4%, 현금 30만 원은 그대로라고 가정합니다. 기간 중 입출금·배당·비용·매매는 없습니다. 종목 수익률을 평균 낼 것이 아니라 각 금액의 변화를 계산합니다. 한빛식품 22만 원, ETF 48만 원, 현금 30만 원으로 기말 합계는 100만 원입니다.</a:t>
            </a:r>
          </a:p>
          <a:p/>
          <a:p>
            <a:r>
              <a:t>전체 수익률은 0%이며 시작 비중으로 검산하면 20%×10%+50%×(−4%)+30%×0%=0%입니다. 하지만 현재 비중은 22%·48%·30%로 바뀌었습니다. 전체 자산이 그대로여도 구성은 달라질 수 있습니다. 과거 비중 20%·50%를 현재 비중이라고 계속 표시하면 다음 판단에 사용하는 노출이 틀려집니다.</a:t>
            </a:r>
          </a:p>
          <a:p/>
          <a:p>
            <a:r>
              <a:t>ETF 내부 한빛식품 비중도 가격 변화로 달라질 수 있으므로 앞의 10%를 무조건 유지하지 않습니다. 예를 들어 새 구성 자료가 11%라고 제시했다면 현재 간접 노출은 48만×11%=52,800원입니다. 직접 220,000원과 합쳐 272,800원, 전체의 27.28%입니다. 이 11%는 추가로 주어진 가정이며 이전 ETF 수익률만으로 계산해 낸 값은 아닙니다.</a:t>
            </a:r>
          </a:p>
          <a:p/>
          <a:p>
            <a:r>
              <a:t>원래 직접 비중 20%로 돌아가는 금액 계산은 22만−20만=2만 원 차이입니다. 하지만 실제 조정은 주식 단위, 비용, 계획의 유효성 등을 확인해야 하므로 바로 매도 지시로 사용하지 않습니다. 완성 기록은 ‘계좌 수익률은 0%지만 같은 기업 노출이 새 구성 가정에서 27.28%로 바뀌었다. 목표와 현재 구성을 비교하고 조정 여부의 이유를 적는다’입니다.</a:t>
            </a:r>
          </a:p>
          <a:p/>
          <a:p>
            <a:r>
              <a:t>[진행자 안내]</a:t>
            </a:r>
          </a:p>
          <a:p>
            <a:r>
              <a:t>표의 단위와 가정을 먼저 읽고, 계산 결과를 제시하기 전에 참가자의 답을 받아 주세요.</a:t>
            </a:r>
          </a:p>
          <a:p/>
          <a:p>
            <a:r>
              <a:t>[확인 질문]</a:t>
            </a:r>
          </a:p>
          <a:p>
            <a:r>
              <a:t>어떤 수치는 확인한 사실이고, 어떤 결론에는 추가 자료가 필요한가요?</a:t>
            </a:r>
          </a:p>
          <a:p/>
          <a:p>
            <a:r>
              <a:t>[자료 기준]</a:t>
            </a:r>
          </a:p>
          <a:p>
            <a:r>
              <a:t>한빛식품 및 인용 형식의 계약·기사는 교육용 가상 자료입니다. 실제 종목 추천이나 실제 공시 인용이 아닙니다. 다른 예제는 별도의 가정이므로 조건을 먼저 확인합니다.</a:t>
            </a:r>
          </a:p>
          <a:p/>
          <a:p>
            <a:r>
              <a:t>[공식 개념 참고]</a:t>
            </a:r>
          </a:p>
          <a:p>
            <a:r>
              <a:t>Investor.gov · 자산배분과 분산투자</a:t>
            </a:r>
          </a:p>
          <a:p>
            <a:r>
              <a:t>https://www.investor.gov/introduction-investing/getting-started/asset-allocation</a:t>
            </a:r>
          </a:p>
          <a:p>
            <a:r>
              <a:t>Investor.gov · ETF 이해하기</a:t>
            </a:r>
          </a:p>
          <a:p>
            <a:r>
              <a:t>https://www.investor.gov/introduction-investing/investing-basics/investment-products/mutual-funds-and-exchange-traded-2</a:t>
            </a:r>
          </a:p>
          <a:p>
            <a:r>
              <a:t>FINRA · 수수료와 비용</a:t>
            </a:r>
          </a:p>
          <a:p>
            <a:r>
              <a:t>https://www.finra.org/investors/investing/investing-basics/fees-commissions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가상 회사의 수치를 실제 기업의 자료로 인용하지 않습니다. 실제 조사는 원문 링크, 대상 기간, 단위, 연결 범위, 확인 날짜를 기록합니다.</a:t>
            </a:r>
          </a:p>
          <a:p/>
          <a:p>
            <a:r>
              <a:t>가상 포트폴리오 한 장과 구성 이유, 집중 위험 2개, 점검 기준을 작성합니다.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vestor.gov/introduction-investing/getting-started/asset-allocation" TargetMode="External"/><Relationship Id="rId3" Type="http://schemas.openxmlformats.org/officeDocument/2006/relationships/hyperlink" Target="https://www.investor.gov/introduction-investing/investing-basics/investment-products/mutual-funds-and-exchange-traded-2" TargetMode="External"/><Relationship Id="rId4" Type="http://schemas.openxmlformats.org/officeDocument/2006/relationships/hyperlink" Target="https://www.finra.org/investors/investing/investing-basics/fees-commissions" TargetMode="Externa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30352"/>
            <a:ext cx="914400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INVESTMENT STUDIO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98448"/>
            <a:ext cx="548640" cy="59436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76488" y="1536192"/>
            <a:ext cx="3291840" cy="2560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400" b="1">
                <a:solidFill>
                  <a:srgbClr val="31474A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1847088"/>
            <a:ext cx="8183879" cy="17830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종목을 늘리면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위험도 나뉠까요?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995928"/>
            <a:ext cx="8183879" cy="10149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4DEDA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 안의 중복 보유를 계산하고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D4DEDA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계좌 전체의 노출을 확인합니다.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98864" y="4206240"/>
            <a:ext cx="265176" cy="402336"/>
          </a:xfrm>
          <a:prstGeom prst="rect">
            <a:avLst/>
          </a:prstGeom>
          <a:solidFill>
            <a:srgbClr val="687F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74936" y="3730752"/>
            <a:ext cx="265176" cy="877824"/>
          </a:xfrm>
          <a:prstGeom prst="rect">
            <a:avLst/>
          </a:prstGeom>
          <a:solidFill>
            <a:srgbClr val="687F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51008" y="3182112"/>
            <a:ext cx="265176" cy="14264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04088" y="5870448"/>
            <a:ext cx="10762488" cy="0"/>
          </a:xfrm>
          <a:prstGeom prst="line">
            <a:avLst/>
          </a:prstGeom>
          <a:ln w="19050">
            <a:solidFill>
              <a:srgbClr val="687F7D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713232" y="6135624"/>
            <a:ext cx="640080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· 투자 입문 스터디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6144768"/>
            <a:ext cx="3749039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D4DEDA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개념 → 자료 → 계산 → 해석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보유 목록을 보면 분산되어 있는 것처럼 보입니다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10512"/>
            <a:ext cx="1097280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 안에도 한빛식품이 10% 들어 있다면?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상품 이름의 개수와 실제로 노출된 기업·위험의 개수는 다릅니다.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23160"/>
            <a:ext cx="10991088" cy="512064"/>
          </a:xfrm>
          <a:prstGeom prst="rect">
            <a:avLst/>
          </a:prstGeom>
          <a:solidFill>
            <a:srgbClr val="1928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532888"/>
            <a:ext cx="5212079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가상 계좌 100만 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532888"/>
            <a:ext cx="2450592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금액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2532888"/>
            <a:ext cx="2450592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계좌 비중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935224"/>
            <a:ext cx="10991088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3063240"/>
            <a:ext cx="5212079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한빛식품 직접 보유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3063240"/>
            <a:ext cx="245059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20만 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3063240"/>
            <a:ext cx="245059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648456"/>
            <a:ext cx="10991088" cy="713232"/>
          </a:xfrm>
          <a:prstGeom prst="rect">
            <a:avLst/>
          </a:prstGeom>
          <a:solidFill>
            <a:srgbClr val="E8ED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3776472"/>
            <a:ext cx="5212079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식품 ETF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3776472"/>
            <a:ext cx="245059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50만 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3776472"/>
            <a:ext cx="245059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361688"/>
            <a:ext cx="10991088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" y="4489703"/>
            <a:ext cx="5212079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현금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4489703"/>
            <a:ext cx="245059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30만 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88552" y="4489703"/>
            <a:ext cx="245059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30%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 안의 같은 기업을 계좌 금액으로 환산합니다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직접 비중 20%와 ETF 내부 비중 10%를 그대로 더하지 않습니다.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496312"/>
            <a:ext cx="3407664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2926080"/>
            <a:ext cx="3407664" cy="0"/>
          </a:xfrm>
          <a:prstGeom prst="line">
            <a:avLst/>
          </a:prstGeom>
          <a:ln w="25400">
            <a:solidFill>
              <a:srgbClr val="D8DED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94360" y="3172968"/>
            <a:ext cx="3407664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직접 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31336"/>
            <a:ext cx="3407664" cy="9418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20만 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28616"/>
            <a:ext cx="3407664" cy="6675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전체 계좌의 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2024" y="3931920"/>
            <a:ext cx="36576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6072" y="2496312"/>
            <a:ext cx="3407664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86072" y="2926080"/>
            <a:ext cx="3407664" cy="0"/>
          </a:xfrm>
          <a:prstGeom prst="line">
            <a:avLst/>
          </a:prstGeom>
          <a:ln w="25400">
            <a:solidFill>
              <a:srgbClr val="D8DEDA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386072" y="3172968"/>
            <a:ext cx="3407664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ETF를 통한 보유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072" y="3831336"/>
            <a:ext cx="3407664" cy="9418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5만 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6072" y="4928616"/>
            <a:ext cx="3407664" cy="6675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 50만 원 × 내부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3736" y="3931920"/>
            <a:ext cx="36576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7784" y="2496312"/>
            <a:ext cx="3407664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77784" y="2926080"/>
            <a:ext cx="3407664" cy="0"/>
          </a:xfrm>
          <a:prstGeom prst="line">
            <a:avLst/>
          </a:prstGeom>
          <a:ln w="25400">
            <a:solidFill>
              <a:srgbClr val="D8DEDA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8177784" y="3172968"/>
            <a:ext cx="3407664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같은 기업의 총 노출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7784" y="3831336"/>
            <a:ext cx="3407664" cy="9418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25만 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7784" y="4928616"/>
            <a:ext cx="3407664" cy="6675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20만 + 5만 = 계좌의 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기업을 나누어도 같은 위험이 남을 수 있습니다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분산은 손실을 없애는 장치가 아닙니다. 같은 사건에 함께 영향을 받는지 봅니다.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87168"/>
            <a:ext cx="3529584" cy="2990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2697480"/>
            <a:ext cx="3090672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기업 고유 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319272"/>
            <a:ext cx="3090672" cy="10058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개별 사건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443984"/>
            <a:ext cx="309067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한 회사의 생산 차질·계약 변경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2487168"/>
            <a:ext cx="3529584" cy="2990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2697480"/>
            <a:ext cx="3090672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산업 공통 위험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3319272"/>
            <a:ext cx="3090672" cy="10058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원재료 가격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443984"/>
            <a:ext cx="309067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여러 식품기업이 함께 영향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55864" y="2487168"/>
            <a:ext cx="3529584" cy="2990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2697480"/>
            <a:ext cx="3090672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계좌 전체 관점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319272"/>
            <a:ext cx="3090672" cy="10058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공통 노출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43984"/>
            <a:ext cx="3090672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고객 · 산업 · 지역 · 통화 확인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 가격과 순자산가치는 같은 값이 아닐 수 있습니다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차이 1%는 관찰값입니다. 그 차이가 사라져 이익이 된다는 보장은 아닙니다.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41448"/>
            <a:ext cx="5376672" cy="3172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2724912"/>
            <a:ext cx="4864608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같은 시점 순자산가치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337560"/>
            <a:ext cx="4846320" cy="10515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10,000원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636008"/>
            <a:ext cx="4846320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100주 기준 합계 100만 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2441448"/>
            <a:ext cx="5376672" cy="3172968"/>
          </a:xfrm>
          <a:prstGeom prst="roundRect">
            <a:avLst>
              <a:gd name="adj" fmla="val 12000"/>
            </a:avLst>
          </a:prstGeom>
          <a:solidFill>
            <a:srgbClr val="1928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724912"/>
            <a:ext cx="4864608" cy="3657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2ADA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시장 거래 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3337560"/>
            <a:ext cx="4846320" cy="105156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10,100원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636008"/>
            <a:ext cx="4846320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100주 거래 금액 101만 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 비교표에는 이름보다 구조를 적습니다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구성·시점이 다른 상품을 보수 한 숫자로만 비교하지 않습니다.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423160"/>
            <a:ext cx="10991088" cy="512064"/>
          </a:xfrm>
          <a:prstGeom prst="rect">
            <a:avLst/>
          </a:prstGeom>
          <a:solidFill>
            <a:srgbClr val="1928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532888"/>
            <a:ext cx="292608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찾을 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352" y="2532888"/>
            <a:ext cx="7479792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자료에서 확인할 내용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935224"/>
            <a:ext cx="10991088" cy="707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3063240"/>
            <a:ext cx="2926080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추종 대상과 구성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3063240"/>
            <a:ext cx="7479792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지수 이름 · 상위 종목 · 편입 기준일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642334"/>
            <a:ext cx="10991088" cy="707110"/>
          </a:xfrm>
          <a:prstGeom prst="rect">
            <a:avLst/>
          </a:prstGeom>
          <a:solidFill>
            <a:srgbClr val="E8ED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70350"/>
            <a:ext cx="2926080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운용과 통화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59352" y="3770350"/>
            <a:ext cx="7479792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운용 방식 · 통화 노출 · 분배금 처리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349444"/>
            <a:ext cx="10991088" cy="707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4477460"/>
            <a:ext cx="2926080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가격 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9352" y="4477460"/>
            <a:ext cx="7479792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거래 가격과 순자산가치의 시점 · 추정/확정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5056554"/>
            <a:ext cx="10991088" cy="707110"/>
          </a:xfrm>
          <a:prstGeom prst="rect">
            <a:avLst/>
          </a:prstGeom>
          <a:solidFill>
            <a:srgbClr val="E8ED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" y="5184570"/>
            <a:ext cx="2926080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비용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9352" y="5184570"/>
            <a:ext cx="7479792" cy="54251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보수 · 기타 비용 · 수수료 · 스프레드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계좌 수익률이 0%여도 비중은 달라집니다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10512"/>
            <a:ext cx="1097280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기간 중 계좌 입출금·매매·배당·비용 없음. 총액 100만 원 유지.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20% × 10% + 50% × (−4%) = 0%. 현재 구성은 22% · 48% · 30%입니다.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423160"/>
            <a:ext cx="10991088" cy="512064"/>
          </a:xfrm>
          <a:prstGeom prst="rect">
            <a:avLst/>
          </a:prstGeom>
          <a:solidFill>
            <a:srgbClr val="1928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2532888"/>
            <a:ext cx="2267712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자산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0984" y="2532888"/>
            <a:ext cx="2633472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532888"/>
            <a:ext cx="2084832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수익률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504" y="2532888"/>
            <a:ext cx="2834640" cy="28346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기말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35224"/>
            <a:ext cx="10991088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063240"/>
            <a:ext cx="226771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직접 보유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0984" y="3063240"/>
            <a:ext cx="263347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20만 / 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3063240"/>
            <a:ext cx="208483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+10%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4504" y="3063240"/>
            <a:ext cx="283464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22만 / 22%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648456"/>
            <a:ext cx="10991088" cy="713232"/>
          </a:xfrm>
          <a:prstGeom prst="rect">
            <a:avLst/>
          </a:prstGeom>
          <a:solidFill>
            <a:srgbClr val="E8ED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3776472"/>
            <a:ext cx="226771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00984" y="3776472"/>
            <a:ext cx="263347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50만 / 50%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7064" y="3776472"/>
            <a:ext cx="208483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−4%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04504" y="3776472"/>
            <a:ext cx="283464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48만 / 48%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361688"/>
            <a:ext cx="10991088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4489703"/>
            <a:ext cx="226771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현금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00984" y="4489703"/>
            <a:ext cx="263347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30만 / 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064" y="4489703"/>
            <a:ext cx="2084832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504" y="4489703"/>
            <a:ext cx="283464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30만 / 30%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TRY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직접·간접 보유를 합쳐 보세요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비율의 분모를 계좌 전체로 맞춘 뒤 더합니다.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68880"/>
            <a:ext cx="10991088" cy="3127248"/>
          </a:xfrm>
          <a:prstGeom prst="roundRect">
            <a:avLst>
              <a:gd name="adj" fmla="val 12000"/>
            </a:avLst>
          </a:prstGeom>
          <a:solidFill>
            <a:srgbClr val="1928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798064"/>
            <a:ext cx="10378440" cy="99669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직접 보유 15% + ETF 비중 40%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 안의 동일 기업 비중은 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096512"/>
            <a:ext cx="393192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ACAA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87368"/>
            <a:ext cx="9738360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ETF를 통한 계좌 전체 노출은 얼마인가요?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498848"/>
            <a:ext cx="393192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ACAA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489704"/>
            <a:ext cx="9738360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같은 기업의 총 노출은 얼마인가요?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01184"/>
            <a:ext cx="393192" cy="329184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3ACAA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892040"/>
            <a:ext cx="9738360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15%와 20%를 바로 더하면 왜 틀리나요?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같은 기업의 총 노출은 23%입니다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35%라고 더하면 계좌 비중과 ETF 내부 비중을 혼합한 계산입니다.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487168"/>
            <a:ext cx="5394959" cy="2990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2697480"/>
            <a:ext cx="4956048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ETF를 통한 노출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" y="3319272"/>
            <a:ext cx="4956048" cy="10058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" y="4443984"/>
            <a:ext cx="4956048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계좌 ETF 40% × 내부 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2487168"/>
            <a:ext cx="5394959" cy="29900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2697480"/>
            <a:ext cx="4956048" cy="34747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직접 + 간접 합계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3319272"/>
            <a:ext cx="4956048" cy="10058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23%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443984"/>
            <a:ext cx="4956048" cy="7772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직접 15% + 간접 8%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비중을 조정하기 전에 계획과 현재 구성을 비교합니다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998464"/>
            <a:ext cx="45720" cy="320040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5989320"/>
            <a:ext cx="10835640" cy="42976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비중 차이의 계산을 곧바로 실제 매매 지시로 바꾸지 않습니다.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496312"/>
            <a:ext cx="3407664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2926080"/>
            <a:ext cx="3407664" cy="0"/>
          </a:xfrm>
          <a:prstGeom prst="line">
            <a:avLst/>
          </a:prstGeom>
          <a:ln w="25400">
            <a:solidFill>
              <a:srgbClr val="D8DEDA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594360" y="3172968"/>
            <a:ext cx="3407664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시작할 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31336"/>
            <a:ext cx="3407664" cy="9418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목표 기록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28616"/>
            <a:ext cx="3407664" cy="6675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왜 이 구성이 필요한가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2024" y="3931920"/>
            <a:ext cx="36576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6072" y="2496312"/>
            <a:ext cx="3407664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86072" y="2926080"/>
            <a:ext cx="3407664" cy="0"/>
          </a:xfrm>
          <a:prstGeom prst="line">
            <a:avLst/>
          </a:prstGeom>
          <a:ln w="25400">
            <a:solidFill>
              <a:srgbClr val="D8DEDA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386072" y="3172968"/>
            <a:ext cx="3407664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지금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072" y="3831336"/>
            <a:ext cx="3407664" cy="9418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노출 계산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6072" y="4928616"/>
            <a:ext cx="3407664" cy="6675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최신 ETF 구성도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3736" y="3931920"/>
            <a:ext cx="365760" cy="5486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7784" y="2496312"/>
            <a:ext cx="3407664" cy="32004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F283B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03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77784" y="2926080"/>
            <a:ext cx="3407664" cy="0"/>
          </a:xfrm>
          <a:prstGeom prst="line">
            <a:avLst/>
          </a:prstGeom>
          <a:ln w="25400">
            <a:solidFill>
              <a:srgbClr val="D8DEDA"/>
            </a:solidFill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8177784" y="3172968"/>
            <a:ext cx="3407664" cy="49377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다음 행동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7784" y="3831336"/>
            <a:ext cx="3407664" cy="94183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이유 기록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7784" y="4928616"/>
            <a:ext cx="3407664" cy="66751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비용 · 수량 · 계획의 유효성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384048"/>
            <a:ext cx="246888" cy="54864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283464"/>
            <a:ext cx="7315200" cy="27432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WEEK 06 /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710928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30384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49840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69296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588751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08207" y="356616"/>
            <a:ext cx="118872" cy="64008"/>
          </a:xfrm>
          <a:prstGeom prst="rect">
            <a:avLst/>
          </a:prstGeom>
          <a:solidFill>
            <a:srgbClr val="CF28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027663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247119" y="356616"/>
            <a:ext cx="118872" cy="64008"/>
          </a:xfrm>
          <a:prstGeom prst="rect">
            <a:avLst/>
          </a:prstGeom>
          <a:solidFill>
            <a:srgbClr val="D8DE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822960"/>
            <a:ext cx="10972800" cy="93268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수업 자료와 다음 확인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810512"/>
            <a:ext cx="1097280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가상 사례의 계산과 실제 원문 조사를 구분합니다.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6455664"/>
            <a:ext cx="11000232" cy="0"/>
          </a:xfrm>
          <a:prstGeom prst="line">
            <a:avLst/>
          </a:prstGeom>
          <a:ln w="19050">
            <a:solidFill>
              <a:srgbClr val="D8DEDA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594360" y="6556248"/>
            <a:ext cx="36576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AMICOM / 투자 스터디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6556248"/>
            <a:ext cx="5486400" cy="173736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수치·회사·계약은 학습용 가상 자료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19672"/>
            <a:ext cx="530352" cy="22860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r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404872"/>
            <a:ext cx="1078992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Investor.gov · 자산배분과 분산투자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834639"/>
            <a:ext cx="1078992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  <a:hlinkClick r:id="rId2"/>
              </a:rPr>
              <a:t>https://www.investor.gov/introduction-investing/getting-started/asset-allocation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355848"/>
            <a:ext cx="1078992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Investor.gov · ETF 이해하기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785615"/>
            <a:ext cx="1078992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  <a:hlinkClick r:id="rId3"/>
              </a:rPr>
              <a:t>https://www.investor.gov/introduction-investing/investing-basics/investment-products/mutual-funds-and-exchange-traded-2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06824"/>
            <a:ext cx="10789920" cy="393192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9282C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FINRA · 수수료와 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36592"/>
            <a:ext cx="10789920" cy="384048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  <a:hlinkClick r:id="rId4"/>
              </a:rPr>
              <a:t>https://www.finra.org/investors/investing/investing-basics/fees-commissions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78424"/>
            <a:ext cx="10744200" cy="411480"/>
          </a:xfrm>
          <a:prstGeom prst="rect">
            <a:avLst/>
          </a:prstGeom>
          <a:noFill/>
        </p:spPr>
        <p:txBody>
          <a:bodyPr wrap="none" anchor="t" anchorCtr="0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C6B6E"/>
                </a:solidFill>
                <a:latin typeface="Noto Sans CJK KR"/>
                <a:ea typeface="Noto Sans CJK KR"/>
              </a:defRPr>
            </a:pPr>
            <a:r>
              <a:rPr>
                <a:ea typeface="Noto Sans CJK KR"/>
              </a:rPr>
              <a:t>한빛식품·계약 문장·거래 기록은 교육을 위해 만든 가상 자료입니다.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아미콤 투자 스터디 6주차 · 분산투자와 ETF</dc:title>
  <dc:subject>가상 기업 자료를 활용한 투자 입문 수업</dc:subject>
  <dc:creator>아미콤 투자 스터디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
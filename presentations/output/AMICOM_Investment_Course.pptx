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주식의 의미와 계좌 수익률을</a:t>
            </a:r>
          </a:p>
          <a:p>
            <a:r>
              <a:t>하나의 가상 회사로 설명합니다.</a:t>
            </a:r>
          </a:p>
          <a:p/>
          <a:p>
            <a:r>
              <a:t>[권장 진행]</a:t>
            </a:r>
          </a:p>
          <a:p>
            <a:r>
              <a:t>도입 5분</a:t>
            </a:r>
          </a:p>
          <a:p/>
          <a:p>
            <a:r>
              <a:t>[설명 원고]</a:t>
            </a:r>
          </a:p>
          <a:p>
            <a:r>
              <a:t>한빛식품은 이번 강의를 위해 만든 가상 회사입니다. 같은 권리의 보통주가 100만 주 있고 1주가 20,000원에 거래된다고 가정하겠습니다. 내가 10주를 사면 지분은 10÷1,000,000=0.001%입니다. 20만 원을 냈다는 것은 기업 전체를 산 것이 아니라 이 비율의 주주가 됐다는 뜻입니다. 회사의 매출 0.001%를 매일 현금으로 가져간다는 의미는 아닙니다.</a:t>
            </a:r>
          </a:p>
          <a:p/>
          <a:p>
            <a:r>
              <a:t>회사의 지분 전체를 현재 주가로 계산하면 20,000원×100만 주=200억 원입니다. 이것이 이 예시의 시가총액입니다. 회사의 연간 매출이 120억 원이라면 매출은 한 해 동안 판매한 금액이고, 시가총액은 주식 시장에서 지분 전체에 붙인 가격입니다. 단위가 모두 원이어도 서로 다른 것을 측정합니다. 주가가 21,000원으로 올라 시가총액이 210억 원이 됐다고 매출이 10억 원 늘어나는 것은 아닙니다.</a:t>
            </a:r>
          </a:p>
          <a:p/>
          <a:p>
            <a:r>
              <a:t>회사가 1주당 100원을 배당하기로 결정하고 내가 배당을 받을 조건을 충족했다면 10주의 배당은 1,000원입니다. 반대로 올해 이익을 설비에 재투자해 배당하지 않을 수도 있습니다. 따라서 주주의 수익을 설명할 때는 주가 변화와 실제 받은 배당을 따로 적습니다. 기존 주식을 다른 투자자에게 사는 거래에서는 매수 대금이 그 매도자에게 가며, 기업이 새 주식을 발행해 자금을 조달하는 거래와 구분합니다.</a:t>
            </a:r>
          </a:p>
          <a:p/>
          <a:p>
            <a:r>
              <a:t>발표할 때는 이렇게 설명합니다. ‘저는 한빛식품 10주, 전체의 0.001%를 보유한다고 가정했습니다. 주당 가격 2만 원과 연간 매출 120억 원은 다른 지표입니다. 제 투자 결과는 나중에 거래한 가격과 받은 배당, 부담한 비용으로 계산합니다.’ ‘유명한 회사니까 오른다’는 말은 지분이나 가격에 대한 설명이 아니므로 이 문장의 결론으로 붙이지 않습니다.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주식은 기업의 지분입니다. 매출의 일정 비율을 매일 받는 권리는 아닙니다.</a:t>
            </a:r>
          </a:p>
          <a:p/>
          <a:p>
            <a:r>
              <a:t>[권장 진행]</a:t>
            </a:r>
          </a:p>
          <a:p>
            <a:r>
              <a:t>설명 4분 · 질문 2분</a:t>
            </a:r>
          </a:p>
          <a:p/>
          <a:p>
            <a:r>
              <a:t>[설명 원고]</a:t>
            </a:r>
          </a:p>
          <a:p>
            <a:r>
              <a:t>한빛식품은 이번 강의를 위해 만든 가상 회사입니다. 같은 권리의 보통주가 100만 주 있고 1주가 20,000원에 거래된다고 가정하겠습니다. 내가 10주를 사면 지분은 10÷1,000,000=0.001%입니다. 20만 원을 냈다는 것은 기업 전체를 산 것이 아니라 이 비율의 주주가 됐다는 뜻입니다. 회사의 매출 0.001%를 매일 현금으로 가져간다는 의미는 아닙니다.</a:t>
            </a:r>
          </a:p>
          <a:p/>
          <a:p>
            <a:r>
              <a:t>회사의 지분 전체를 현재 주가로 계산하면 20,000원×100만 주=200억 원입니다. 이것이 이 예시의 시가총액입니다. 회사의 연간 매출이 120억 원이라면 매출은 한 해 동안 판매한 금액이고, 시가총액은 주식 시장에서 지분 전체에 붙인 가격입니다. 단위가 모두 원이어도 서로 다른 것을 측정합니다. 주가가 21,000원으로 올라 시가총액이 210억 원이 됐다고 매출이 10억 원 늘어나는 것은 아닙니다.</a:t>
            </a:r>
          </a:p>
          <a:p/>
          <a:p>
            <a:r>
              <a:t>회사가 1주당 100원을 배당하기로 결정하고 내가 배당을 받을 조건을 충족했다면 10주의 배당은 1,000원입니다. 반대로 올해 이익을 설비에 재투자해 배당하지 않을 수도 있습니다. 따라서 주주의 수익을 설명할 때는 주가 변화와 실제 받은 배당을 따로 적습니다. 기존 주식을 다른 투자자에게 사는 거래에서는 매수 대금이 그 매도자에게 가며, 기업이 새 주식을 발행해 자금을 조달하는 거래와 구분합니다.</a:t>
            </a:r>
          </a:p>
          <a:p/>
          <a:p>
            <a:r>
              <a:t>발표할 때는 이렇게 설명합니다. ‘저는 한빛식품 10주, 전체의 0.001%를 보유한다고 가정했습니다. 주당 가격 2만 원과 연간 매출 120억 원은 다른 지표입니다. 제 투자 결과는 나중에 거래한 가격과 받은 배당, 부담한 비용으로 계산합니다.’ ‘유명한 회사니까 오른다’는 말은 지분이나 가격에 대한 설명이 아니므로 이 문장의 결론으로 붙이지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주가가 올라 시가총액이 커져도, 그만큼 매출이 생긴 것은 아닙니다.</a:t>
            </a:r>
          </a:p>
          <a:p/>
          <a:p>
            <a:r>
              <a:t>[권장 진행]</a:t>
            </a:r>
          </a:p>
          <a:p>
            <a:r>
              <a:t>설명 4분 · 질문 2분</a:t>
            </a:r>
          </a:p>
          <a:p/>
          <a:p>
            <a:r>
              <a:t>[설명 원고]</a:t>
            </a:r>
          </a:p>
          <a:p>
            <a:r>
              <a:t>한빛식품은 이번 강의를 위해 만든 가상 회사입니다. 같은 권리의 보통주가 100만 주 있고 1주가 20,000원에 거래된다고 가정하겠습니다. 내가 10주를 사면 지분은 10÷1,000,000=0.001%입니다. 20만 원을 냈다는 것은 기업 전체를 산 것이 아니라 이 비율의 주주가 됐다는 뜻입니다. 회사의 매출 0.001%를 매일 현금으로 가져간다는 의미는 아닙니다.</a:t>
            </a:r>
          </a:p>
          <a:p/>
          <a:p>
            <a:r>
              <a:t>회사의 지분 전체를 현재 주가로 계산하면 20,000원×100만 주=200억 원입니다. 이것이 이 예시의 시가총액입니다. 회사의 연간 매출이 120억 원이라면 매출은 한 해 동안 판매한 금액이고, 시가총액은 주식 시장에서 지분 전체에 붙인 가격입니다. 단위가 모두 원이어도 서로 다른 것을 측정합니다. 주가가 21,000원으로 올라 시가총액이 210억 원이 됐다고 매출이 10억 원 늘어나는 것은 아닙니다.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가격 수익률과 배당·비용을 반영한 총수익률을 구분합니다.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계좌 전체의 돈과 이 종목에 넣은 돈을 따로 표시합니다.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비용이 이미 반영된 금액이라면 다시 차감하지 않습니다.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종목 비중 20% × 종목 수익률 −4.6% = 계좌 수익률 −0.92%</a:t>
            </a:r>
          </a:p>
          <a:p/>
          <a:p>
            <a:r>
              <a:t>[권장 진행]</a:t>
            </a:r>
          </a:p>
          <a:p>
            <a:r>
              <a:t>설명 4분 · 질문 2분</a:t>
            </a:r>
          </a:p>
          <a:p/>
          <a:p>
            <a:r>
              <a:t>[설명 원고]</a:t>
            </a:r>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먼저 각 구간의 기준 금액을 적습니다.</a:t>
            </a:r>
          </a:p>
          <a:p/>
          <a:p>
            <a:r>
              <a:t>[권장 진행]</a:t>
            </a:r>
          </a:p>
          <a:p>
            <a:r>
              <a:t>개별 계산 3분 · 짝과 비교 3분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다음 장을 보여 주기 전에 96만 원과 100만 원 중 어느 값인지 손을 들어 답하게 합니다.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−20%와 +20%는 서로 상쇄되지 않습니다.</a:t>
            </a:r>
          </a:p>
          <a:p/>
          <a:p>
            <a:r>
              <a:t>[권장 진행]</a:t>
            </a:r>
          </a:p>
          <a:p>
            <a:r>
              <a:t>설명 4분 · 질문 2분</a:t>
            </a:r>
          </a:p>
          <a:p/>
          <a:p>
            <a:r>
              <a:t>[설명 원고]</a:t>
            </a:r>
          </a:p>
          <a:p>
            <a:r>
              <a:t>가상 계좌에 처음 100만 원이 있고 그중 20만 원으로 한빛식품 10주를 20,000원에 샀습니다. 남은 현금은 80만 원입니다. 이후 10주를 모두 19,000원에 팔아 19만 원을 받았고, 별도 배당 1,000원과 매수·매도 합계 비용 200원이 있다고 가정합니다. 비용은 아직 다른 금액에 포함되지 않았으며 입출금과 다른 거래는 없습니다.</a:t>
            </a:r>
          </a:p>
          <a:p/>
          <a:p>
            <a:r>
              <a:t>먼저 종목 손익을 계산합니다. 매매 차익은 (19,000−20,000)×10=−10,000원입니다. 여기에 배당 1,000원을 더하고 비용 200원을 빼면 순손익은 −9,200원입니다. 종목에 넣었던 20만 원을 분모로 삼으면 −9,200÷200,000=−4.6%입니다. 가격 변화율 −5%와 다른 이유는 배당과 비용까지 포함했기 때문입니다.</a:t>
            </a:r>
          </a:p>
          <a:p/>
          <a:p>
            <a:r>
              <a:t>계좌 전체는 남겨 둔 800,000원+매도금 190,000원+배당 1,000원−비용 200원=990,800원입니다. 처음 계좌 100만 원 대비 수익률은 −0.92%입니다. 20%의 자금만 이 종목에 넣었으므로 20%×(−4.6%)=−0.92%로도 검산할 수 있습니다. 같은 손실 금액을 종목 투자금으로 나누는지 계좌 전체로 나누는지에 따라 수익률이 달라집니다.</a:t>
            </a:r>
          </a:p>
          <a:p/>
          <a:p>
            <a:r>
              <a:t>완성 기록은 ‘가격 수익률 −5%, 배당·비용 포함 종목 수익률 −4.6%, 계좌 수익률 −0.92%’입니다. 세 수치를 하나의 ‘수익률’ 칸에 섞지 않습니다. 아직 팔지 않은 보유분이라면 매도금 대신 특정 시각의 평가액임을 표시하고 실제 처분 비용도 확정값처럼 쓰지 않습니다. 화면의 평가액에 비용이 이미 포함됐다면 위 식에서 다시 빼지 않아야 합니다.</a:t>
            </a:r>
          </a:p>
          <a:p/>
          <a:p>
            <a:r>
              <a:t>[진행자 안내]</a:t>
            </a:r>
          </a:p>
          <a:p>
            <a:r>
              <a:t>수익률을 더하지 않고 금액에 순서대로 곱하는 이유를 설명합니다.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“신중하게 투자한다”를 동료가 확인할 수 있는 행동으로 바꿉니다.</a:t>
            </a:r>
          </a:p>
          <a:p/>
          <a:p>
            <a:r>
              <a:t>[권장 진행]</a:t>
            </a:r>
          </a:p>
          <a:p>
            <a:r>
              <a:t>원칙 작성 8분 · 토론 7분</a:t>
            </a:r>
          </a:p>
          <a:p/>
          <a:p>
            <a:r>
              <a:t>[설명 원고]</a:t>
            </a:r>
          </a:p>
          <a:p>
            <a:r>
              <a:t>가상의 학습자 민수는 한 달 뒤 수강료로 쓸 100만 원과 8주 모의 실습용 계좌를 가지고 있습니다. ‘가격이 내려도 참겠다’고 말하지만 수강료 납부일에는 돈이 필요합니다. 여기서 먼저 정할 것은 매수할 종목이 아니라 자금 사용 시점입니다. 생활에 필요한 실제 자금과 모의 실습 기록을 분리하고, 이 수업의 주문 연습은 가상 계좌에서 진행합니다.</a:t>
            </a:r>
          </a:p>
          <a:p/>
          <a:p>
            <a:r>
              <a:t>민수가 적은 ‘한빛식품이 좋아 보여서 산다’에는 조사 근거가 없습니다. 이를 ‘판매가격 인상이 매출 증가에 기여했는지 사업 설명에서 확인하고, 이익률이 함께 유지됐는지 계산한다’로 바꿉니다. 아직 판매가격 자료를 못 찾았다면 ‘가격 인상 여부 미확인’이라고 적습니다. 확인되지 않은 이유를 사실로 쓰면 뒤에서 수익이 나더라도 무엇을 잘 판단했는지 평가할 수 없습니다.</a:t>
            </a:r>
          </a:p>
          <a:p/>
          <a:p>
            <a:r>
              <a:t>주문 전 메모를 실제로 채워 봅니다. 목적: 수익성 비교 연습. 확인 자료: 같은 연간 기준의 매출·영업이익. 가정: 매출 성장이 이익 증가로 이어진다. 수정 조건: 매출은 증가하지만 영업이익률이 하락하면 성장 원인을 다시 조사한다. 다음 확인: 비용 구성과 판매가격 설명. 이 예시는 매수 추천이 아니라 판단 조건을 기록하는 형식입니다.</a:t>
            </a:r>
          </a:p>
          <a:p/>
          <a:p>
            <a:r>
              <a:t>동료가 ‘가정이 틀렸는지 어떻게 알죠?’라고 물으면 ‘이익률을 계산해 전년과 비교합니다’라고 답할 수 있어야 합니다. ‘마음이 불안해지면’이나 ‘주가가 오르면 맞은 판단’은 사업 가설을 검증하는 기준이 아닙니다. 첫 주에 작성한 메모를 보존하고 3주차의 실제 계산 뒤 어디가 바뀌었는지 표시하면, 수익 결과에 맞춰 과거의 이유를 고쳐 쓰는 실수를 줄일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투자와 복리의 기초</a:t>
            </a:r>
          </a:p>
          <a:p>
            <a:r>
              <a:t>https://www.investor.gov/introduction-investing</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나의 모의투자 원칙 3개와 8주 뒤 확인할 학습 목표 1개를 작성합니다.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호가를 읽고 체결 금액을 계산한 뒤</a:t>
            </a:r>
          </a:p>
          <a:p>
            <a:r>
              <a:t>남은 주문까지 확인합니다.</a:t>
            </a:r>
          </a:p>
          <a:p/>
          <a:p>
            <a:r>
              <a:t>[권장 진행]</a:t>
            </a:r>
          </a:p>
          <a:p>
            <a:r>
              <a:t>도입 5분</a:t>
            </a:r>
          </a:p>
          <a:p/>
          <a:p>
            <a:r>
              <a:t>[설명 원고]</a:t>
            </a:r>
          </a:p>
          <a:p>
            <a:r>
              <a:t>한빛식품의 가상 호가를 종이에 적어 보겠습니다. 매도 쪽은 19,980원 4주, 19,990원 3주, 20,010원 8주입니다. 최우선 매수는 19,970원입니다. 내가 지금 사려면 팔겠다고 나온 주문과 거래해야 하므로 매도 쪽의 19,980원부터 봅니다. ‘매수하려니 매수 호가를 읽는다’고 생각하면 상대 주문의 가격을 놓치게 됩니다.</a:t>
            </a:r>
          </a:p>
          <a:p/>
          <a:p>
            <a:r>
              <a:t>최우선 매도 19,980원과 최우선 매수 19,970원의 차이는 10원입니다. 이를 이 순간의 스프레드라고 합니다. 다른 주문·가격 변화·비용이 없고 잔량이 충분하다는 가정에서 1주를 즉시 산 뒤 즉시 팔면 19,980원에 사고 19,970원에 팔아 10원의 차이가 납니다. 마지막 체결 가격이 같아 보여도 실제 거래할 수 있는 양쪽 호가는 다를 수 있습니다.</a:t>
            </a:r>
          </a:p>
          <a:p/>
          <a:p>
            <a:r>
              <a:t>수량도 누적합니다. 19,980원까지 4주, 19,990원까지는 4+3=7주, 20,010원까지는 15주가 제시돼 있습니다. 10주를 모두 사려는 가격 미지정 주문을 이 표에 대입하면 첫 줄만으로는 부족합니다. 다른 주문이 없다는 단순 가정에서 4주·3주·3주가 서로 다른 가격에 거래되므로 모든 수량을 최우선 가격으로 계산하면 안 됩니다.</a:t>
            </a:r>
          </a:p>
          <a:p/>
          <a:p>
            <a:r>
              <a:t>실제 모의 화면에서는 종목을 선택한 뒤 호가 탭을 열고 ‘관찰 시각, 최우선 매수, 최우선 매도, 각 가격의 잔량’을 기록합니다. 한빛식품은 가상 사례이므로 앱에서 검색할 실제 종목명이 아닙니다. 화면의 다른 종목으로 연습할 때에는 그 시각의 값을 새로 적습니다. 주문 결과가 표와 다르면 먼저 관찰 시각 이후의 호가 변화 여부를 확인합니다.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마지막 체결 가격과 지금 거래 가능한 호가는 다를 수 있습니다.</a:t>
            </a:r>
          </a:p>
          <a:p/>
          <a:p>
            <a:r>
              <a:t>[권장 진행]</a:t>
            </a:r>
          </a:p>
          <a:p>
            <a:r>
              <a:t>설명 4분 · 질문 2분</a:t>
            </a:r>
          </a:p>
          <a:p/>
          <a:p>
            <a:r>
              <a:t>[설명 원고]</a:t>
            </a:r>
          </a:p>
          <a:p>
            <a:r>
              <a:t>한빛식품의 가상 호가를 종이에 적어 보겠습니다. 매도 쪽은 19,980원 4주, 19,990원 3주, 20,010원 8주입니다. 최우선 매수는 19,970원입니다. 내가 지금 사려면 팔겠다고 나온 주문과 거래해야 하므로 매도 쪽의 19,980원부터 봅니다. ‘매수하려니 매수 호가를 읽는다’고 생각하면 상대 주문의 가격을 놓치게 됩니다.</a:t>
            </a:r>
          </a:p>
          <a:p/>
          <a:p>
            <a:r>
              <a:t>최우선 매도 19,980원과 최우선 매수 19,970원의 차이는 10원입니다. 이를 이 순간의 스프레드라고 합니다. 다른 주문·가격 변화·비용이 없고 잔량이 충분하다는 가정에서 1주를 즉시 산 뒤 즉시 팔면 19,980원에 사고 19,970원에 팔아 10원의 차이가 납니다. 마지막 체결 가격이 같아 보여도 실제 거래할 수 있는 양쪽 호가는 다를 수 있습니다.</a:t>
            </a:r>
          </a:p>
          <a:p/>
          <a:p>
            <a:r>
              <a:t>수량도 누적합니다. 19,980원까지 4주, 19,990원까지는 4+3=7주, 20,010원까지는 15주가 제시돼 있습니다. 10주를 모두 사려는 가격 미지정 주문을 이 표에 대입하면 첫 줄만으로는 부족합니다. 다른 주문이 없다는 단순 가정에서 4주·3주·3주가 서로 다른 가격에 거래되므로 모든 수량을 최우선 가격으로 계산하면 안 됩니다.</a:t>
            </a:r>
          </a:p>
          <a:p/>
          <a:p>
            <a:r>
              <a:t>실제 모의 화면에서는 종목을 선택한 뒤 호가 탭을 열고 ‘관찰 시각, 최우선 매수, 최우선 매도, 각 가격의 잔량’을 기록합니다. 한빛식품은 가상 사례이므로 앱에서 검색할 실제 종목명이 아닙니다. 화면의 다른 종목으로 연습할 때에는 그 시각의 값을 새로 적습니다. 주문 결과가 표와 다르면 먼저 관찰 시각 이후의 호가 변화 여부를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최우선 매도 19,980원 − 최우선 매수 19,970원 = 스프레드 10원</a:t>
            </a:r>
          </a:p>
          <a:p/>
          <a:p>
            <a:r>
              <a:t>[권장 진행]</a:t>
            </a:r>
          </a:p>
          <a:p>
            <a:r>
              <a:t>설명 4분 · 질문 2분</a:t>
            </a:r>
          </a:p>
          <a:p/>
          <a:p>
            <a:r>
              <a:t>[설명 원고]</a:t>
            </a:r>
          </a:p>
          <a:p>
            <a:r>
              <a:t>한빛식품의 가상 호가를 종이에 적어 보겠습니다. 매도 쪽은 19,980원 4주, 19,990원 3주, 20,010원 8주입니다. 최우선 매수는 19,970원입니다. 내가 지금 사려면 팔겠다고 나온 주문과 거래해야 하므로 매도 쪽의 19,980원부터 봅니다. ‘매수하려니 매수 호가를 읽는다’고 생각하면 상대 주문의 가격을 놓치게 됩니다.</a:t>
            </a:r>
          </a:p>
          <a:p/>
          <a:p>
            <a:r>
              <a:t>최우선 매도 19,980원과 최우선 매수 19,970원의 차이는 10원입니다. 이를 이 순간의 스프레드라고 합니다. 다른 주문·가격 변화·비용이 없고 잔량이 충분하다는 가정에서 1주를 즉시 산 뒤 즉시 팔면 19,980원에 사고 19,970원에 팔아 10원의 차이가 납니다. 마지막 체결 가격이 같아 보여도 실제 거래할 수 있는 양쪽 호가는 다를 수 있습니다.</a:t>
            </a:r>
          </a:p>
          <a:p/>
          <a:p>
            <a:r>
              <a:t>수량도 누적합니다. 19,980원까지 4주, 19,990원까지는 4+3=7주, 20,010원까지는 15주가 제시돼 있습니다. 10주를 모두 사려는 가격 미지정 주문을 이 표에 대입하면 첫 줄만으로는 부족합니다. 다른 주문이 없다는 단순 가정에서 4주·3주·3주가 서로 다른 가격에 거래되므로 모든 수량을 최우선 가격으로 계산하면 안 됩니다.</a:t>
            </a:r>
          </a:p>
          <a:p/>
          <a:p>
            <a:r>
              <a:t>실제 모의 화면에서는 종목을 선택한 뒤 호가 탭을 열고 ‘관찰 시각, 최우선 매수, 최우선 매도, 각 가격의 잔량’을 기록합니다. 한빛식품은 가상 사례이므로 앱에서 검색할 실제 종목명이 아닙니다. 화면의 다른 종목으로 연습할 때에는 그 시각의 값을 새로 적습니다. 주문 결과가 표와 다르면 먼저 관찰 시각 이후의 호가 변화 여부를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매수 지정가는 지정 가격 이하에서 거래하려는 조건입니다.</a:t>
            </a:r>
          </a:p>
          <a:p/>
          <a:p>
            <a:r>
              <a:t>[권장 진행]</a:t>
            </a:r>
          </a:p>
          <a:p>
            <a:r>
              <a:t>설명 4분 · 질문 2분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주문 10주로 나누면 미체결 수량을 이미 산 것으로 처리하게 됩니다.</a:t>
            </a:r>
          </a:p>
          <a:p/>
          <a:p>
            <a:r>
              <a:t>[권장 진행]</a:t>
            </a:r>
          </a:p>
          <a:p>
            <a:r>
              <a:t>설명 4분 · 질문 2분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정적인 가상 호가의 계산입니다. 실제 시장가 체결을 보장하지 않습니다.</a:t>
            </a:r>
          </a:p>
          <a:p/>
          <a:p>
            <a:r>
              <a:t>[권장 진행]</a:t>
            </a:r>
          </a:p>
          <a:p>
            <a:r>
              <a:t>설명 4분 · 질문 2분</a:t>
            </a:r>
          </a:p>
          <a:p/>
          <a:p>
            <a:r>
              <a:t>[설명 원고]</a:t>
            </a:r>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남은 주문을 취소해도 이미 체결한 주식은 사라지지 않습니다.</a:t>
            </a:r>
          </a:p>
          <a:p/>
          <a:p>
            <a:r>
              <a:t>[권장 진행]</a:t>
            </a:r>
          </a:p>
          <a:p>
            <a:r>
              <a:t>설명 4분 · 질문 2분</a:t>
            </a:r>
          </a:p>
          <a:p/>
          <a:p>
            <a:r>
              <a:t>[설명 원고]</a:t>
            </a:r>
          </a:p>
          <a:p>
            <a:r>
              <a:t>7주가 체결되고 3주가 남은 앞의 주문을 이어 보겠습니다. 남은 3주를 취소 요청했고, 추가 체결 없이 취소 완료가 확인됐다고 가정합니다. 최종 수량은 최초 주문 10주=체결 7주+취소 3주입니다. 이 주문으로 늘어난 보유는 7주이며 살아 있는 미체결 수량은 0주입니다. 취소했다고 이미 산 7주까지 사라지지 않습니다.</a:t>
            </a:r>
          </a:p>
          <a:p/>
          <a:p>
            <a:r>
              <a:t>만약 취소 요청 처리 전에 1주가 추가 체결됐다면 결과는 달라집니다. 누적 체결 8주와 취소 2주가 될 수 있으므로 버튼을 누른 순간의 7주를 최종값으로 확정하지 않습니다. 확인 순서는 주문 번호 → 누적 체결 수량 → 남은 수량 → 취소 처리 결과입니다. 응답이 늦다고 같은 주문을 새로 내기 전에 기존 주문 상태부터 확인합니다.</a:t>
            </a:r>
          </a:p>
          <a:p/>
          <a:p>
            <a:r>
              <a:t>금액도 구분합니다. 단순히 잔여 3주의 지정가 금액을 계산하면 3×20,000원=60,000원입니다. 그러나 앱에서 실제로 예약됐다 해제되는 금액은 비용 포함 방식 등에 따라 확인이 필요합니다. ‘취소 후 현금 60,000원 증가’라고 외우기보다 주문 가능 금액을 전후로 기록하고, 이미 체결된 139,890원은 지출에서 사라지지 않는다는 점을 설명합니다.</a:t>
            </a:r>
          </a:p>
          <a:p/>
          <a:p>
            <a:r>
              <a:t>완성 기록 예시는 ‘주문 10주, 체결 7주·139,890원, 잔여 3주 취소 완료, 최종 미체결 0주’입니다. 예외 기록에는 ‘취소 전 추가 1주 체결 여부 재확인’을 적습니다. 실습에서 주문을 내는 경우에는 먼저 화면의 매수·매도 방향과 수량을 확인하고, 기록은 실제 모의 결과로 작성합니다. 이 가상 예시의 금액을 다른 종목 결과에 그대로 복사하지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가격마다 수량을 곱한 금액을 먼저 합산합니다.</a:t>
            </a:r>
          </a:p>
          <a:p/>
          <a:p>
            <a:r>
              <a:t>[권장 진행]</a:t>
            </a:r>
          </a:p>
          <a:p>
            <a:r>
              <a:t>계산 4분 · 짝 설명 4분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두 가격의 단순 평균 20,050원은 체결 수량의 차이를 무시한 값입니다.</a:t>
            </a:r>
          </a:p>
          <a:p/>
          <a:p>
            <a:r>
              <a:t>[권장 진행]</a:t>
            </a:r>
          </a:p>
          <a:p>
            <a:r>
              <a:t>설명 4분 · 질문 2분</a:t>
            </a:r>
          </a:p>
          <a:p/>
          <a:p>
            <a:r>
              <a:t>[설명 원고]</a:t>
            </a:r>
          </a:p>
          <a:p>
            <a:r>
              <a:t>앞의 호가가 그대로 유지된 상태에서 한빛식품을 20,000원 지정가로 10주 매수한다고 가정합니다. 매수 지정가는 그 가격 이하라는 조건입니다. 따라서 19,980원과 19,990원은 조건을 만족하지만 20,010원은 만족하지 않습니다. 20,000원이라는 주문 가격이 실제로 모든 주식을 그 가격에 산다는 뜻은 아닙니다.</a:t>
            </a:r>
          </a:p>
          <a:p/>
          <a:p>
            <a:r>
              <a:t>첫 가격에서 4주×19,980원=79,920원, 다음 가격에서 3주×19,990원=59,970원입니다. 합계 7주가 139,890원에 체결되고 3주는 남습니다. 평균 체결가는 139,890÷7≈19,984.29원입니다. 주문한 10주로 나누어 13,989원이라고 적으면 미체결 수량을 이미 산 것으로 처리한 오류입니다.</a:t>
            </a:r>
          </a:p>
          <a:p/>
          <a:p>
            <a:r>
              <a:t>가격을 지정하지 않는 매수 10주를 같은 정적인 호가에 대입하면 나머지 3주가 20,010원에서 거래되는 단순 계산을 할 수 있습니다. 추가 금액 60,030원을 더해 총 199,920원, 평균 19,992원입니다. 이는 가상의 주문장 계산이며 실제 시장가 체결 보장이 아닙니다. 지정가 사례와 비교하면 가격 조건을 지키는 대신 남은 수량이 생기는 차이를 확인할 수 있습니다.</a:t>
            </a:r>
          </a:p>
          <a:p/>
          <a:p>
            <a:r>
              <a:t>발표 문장은 ‘2만 원 이하에서 10주를 사려 했지만 해당 가격대의 수량은 7주뿐이었습니다. 실제 평균은 약 19,984.29원이고 3주는 미체결입니다’입니다. 앱의 주문·체결 내역에서는 주문 수량, 체결 수량, 평균 체결가를 각각 찾아 이 문장에 넣습니다. 비용은 위 계산에서 제외했으므로 총 지출을 말할 때에는 화면의 비용 처리 기준을 따로 확인합니다.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실습은 앱의 실제 모의 결과를 기록합니다. 가상 호가 숫자를 복사하지 않습니다.</a:t>
            </a:r>
          </a:p>
          <a:p/>
          <a:p>
            <a:r>
              <a:t>[권장 진행]</a:t>
            </a:r>
          </a:p>
          <a:p>
            <a:r>
              <a:t>모의 화면 관찰 12분 · 결과 설명 8분</a:t>
            </a:r>
          </a:p>
          <a:p/>
          <a:p>
            <a:r>
              <a:t>[설명 원고]</a:t>
            </a:r>
          </a:p>
          <a:p>
            <a:r>
              <a:t>7주가 체결되고 3주가 남은 앞의 주문을 이어 보겠습니다. 남은 3주를 취소 요청했고, 추가 체결 없이 취소 완료가 확인됐다고 가정합니다. 최종 수량은 최초 주문 10주=체결 7주+취소 3주입니다. 이 주문으로 늘어난 보유는 7주이며 살아 있는 미체결 수량은 0주입니다. 취소했다고 이미 산 7주까지 사라지지 않습니다.</a:t>
            </a:r>
          </a:p>
          <a:p/>
          <a:p>
            <a:r>
              <a:t>만약 취소 요청 처리 전에 1주가 추가 체결됐다면 결과는 달라집니다. 누적 체결 8주와 취소 2주가 될 수 있으므로 버튼을 누른 순간의 7주를 최종값으로 확정하지 않습니다. 확인 순서는 주문 번호 → 누적 체결 수량 → 남은 수량 → 취소 처리 결과입니다. 응답이 늦다고 같은 주문을 새로 내기 전에 기존 주문 상태부터 확인합니다.</a:t>
            </a:r>
          </a:p>
          <a:p/>
          <a:p>
            <a:r>
              <a:t>금액도 구분합니다. 단순히 잔여 3주의 지정가 금액을 계산하면 3×20,000원=60,000원입니다. 그러나 앱에서 실제로 예약됐다 해제되는 금액은 비용 포함 방식 등에 따라 확인이 필요합니다. ‘취소 후 현금 60,000원 증가’라고 외우기보다 주문 가능 금액을 전후로 기록하고, 이미 체결된 139,890원은 지출에서 사라지지 않는다는 점을 설명합니다.</a:t>
            </a:r>
          </a:p>
          <a:p/>
          <a:p>
            <a:r>
              <a:t>완성 기록 예시는 ‘주문 10주, 체결 7주·139,890원, 잔여 3주 취소 완료, 최종 미체결 0주’입니다. 예외 기록에는 ‘취소 전 추가 1주 체결 여부 재확인’을 적습니다. 실습에서 주문을 내는 경우에는 먼저 화면의 매수·매도 방향과 수량을 확인하고, 기록은 실제 모의 결과로 작성합니다. 이 가상 예시의 금액을 다른 종목 결과에 그대로 복사하지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한국거래소 · 매매구분의 종류</a:t>
            </a:r>
          </a:p>
          <a:p>
            <a:r>
              <a:t>https://open.krx.co.kr/contents/OPN/01/01030205/OPN01030205T3T2.jsp</a:t>
            </a:r>
          </a:p>
          <a:p>
            <a:r>
              <a:t>FINRA · 수수료와 비용</a:t>
            </a:r>
          </a:p>
          <a:p>
            <a:r>
              <a:t>https://www.finra.org/investors/investing/investing-basics/fees-commissions</a:t>
            </a:r>
          </a:p>
          <a:p>
            <a:r>
              <a:t>Investor.gov · 주문 종류의 기본 개념</a:t>
            </a:r>
          </a:p>
          <a:p>
            <a:r>
              <a:t>https://www.investor.gov/introduction-investing/general-resources/news-alerts/alerts-bulletins/investor-bulletins-14</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시장가와 지정가 각각의 장점·제약을 한 줄씩 쓰고 모의 주문 기록 한 건을 복기합니다.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재무제표의 숫자를 연결해</a:t>
            </a:r>
          </a:p>
          <a:p>
            <a:r>
              <a:t>확인 가능한 분석 문장을 만듭니다.</a:t>
            </a:r>
          </a:p>
          <a:p/>
          <a:p>
            <a:r>
              <a:t>[권장 진행]</a:t>
            </a:r>
          </a:p>
          <a:p>
            <a:r>
              <a:t>도입 5분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원문 링크 · 표 제목 · 기간 · 단위 · 연결 여부를 숫자 옆에 기록합니다.</a:t>
            </a:r>
          </a:p>
          <a:p/>
          <a:p>
            <a:r>
              <a:t>[권장 진행]</a:t>
            </a:r>
          </a:p>
          <a:p>
            <a:r>
              <a:t>설명 4분 · 질문 2분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백만 원 단위 12,000은 120억 원입니다. 단위부터 검산합니다.</a:t>
            </a:r>
          </a:p>
          <a:p/>
          <a:p>
            <a:r>
              <a:t>[권장 진행]</a:t>
            </a:r>
          </a:p>
          <a:p>
            <a:r>
              <a:t>설명 4분 · 질문 2분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15 + 20 − 18 − 5 = 12억 원. 비용 증가가 매출 증가분을 넘어섰습니다.</a:t>
            </a:r>
          </a:p>
          <a:p/>
          <a:p>
            <a:r>
              <a:t>[권장 진행]</a:t>
            </a:r>
          </a:p>
          <a:p>
            <a:r>
              <a:t>설명 4분 · 질문 2분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판관비율은 25%로 같고, 원가율이 5%포인트 올라 이익률이 낮아졌습니다.</a:t>
            </a:r>
          </a:p>
          <a:p/>
          <a:p>
            <a:r>
              <a:t>[권장 진행]</a:t>
            </a:r>
          </a:p>
          <a:p>
            <a:r>
              <a:t>설명 4분 · 질문 2분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원가율 상승만으로 “밀가루 때문”이라고 확정하지 않습니다.</a:t>
            </a:r>
          </a:p>
          <a:p/>
          <a:p>
            <a:r>
              <a:t>[권장 진행]</a:t>
            </a:r>
          </a:p>
          <a:p>
            <a:r>
              <a:t>설명 4분 · 질문 2분</a:t>
            </a:r>
          </a:p>
          <a:p/>
          <a:p>
            <a:r>
              <a:t>[설명 원고]</a:t>
            </a:r>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이 다섯 항목만 있는 가정입니다. 실제 현금흐름표에는 다른 조정이 있을 수 있습니다.</a:t>
            </a:r>
          </a:p>
          <a:p/>
          <a:p>
            <a:r>
              <a:t>[권장 진행]</a:t>
            </a:r>
          </a:p>
          <a:p>
            <a:r>
              <a:t>설명 4분 · 질문 2분</a:t>
            </a:r>
          </a:p>
          <a:p/>
          <a:p>
            <a:r>
              <a:t>[설명 원고]</a:t>
            </a:r>
          </a:p>
          <a:p>
            <a:r>
              <a:t>가상 2025년 순이익은 8억 원입니다. 현금흐름을 이해하기 위해 다음 항목만 있다고 단순화합니다. 감가상각비 4억 원, 매출채권 증가 12억 원, 재고 증가 6억 원, 매입채무 증가 10억 원이며 다른 조정은 없습니다. 매출채권은 외상 판매 뒤 아직 받지 않은 대금, 재고는 아직 판매·사용되지 않은 물품, 매입채무는 매입 뒤 아직 지급하지 않은 대금으로 이해합니다.</a:t>
            </a:r>
          </a:p>
          <a:p/>
          <a:p>
            <a:r>
              <a:t>순이익 8에서 현금 유출이 수반되지 않은 해당 기간의 감가상각비 4를 더합니다. 아직 회수하지 않은 외상대금 증가 12와 재고에 묶인 금액 증가 6을 빼고, 아직 지급하지 않은 매입채무 증가 10을 더하면 8+4−12−6+10=4억 원입니다. 감가상각비를 더하는 것은 설비가 공짜라는 뜻이 아니라 이번 순이익에서 차감한 비현금 비용을 조정하는 뜻입니다.</a:t>
            </a:r>
          </a:p>
          <a:p/>
          <a:p>
            <a:r>
              <a:t>매출채권은 전년 10억에서 22억으로, 재고는 8억에서 14억으로 늘었다고 가정했습니다. 매출 증가보다 외상대금과 재고의 증가가 빠른 이유를 확인할 필요가 있습니다. 매출채권 주석에서 회수 지연·손상 관련 설명을, 재고 주석에서 구성·평가 관련 설명을 찾습니다. 이번에 채무 지급을 미뤄 현금 유출이 적었던 부분도 있으므로 영업 현금 4억 원을 전부 현금 창출 능력의 개선이라고 읽지 않습니다.</a:t>
            </a:r>
          </a:p>
          <a:p/>
          <a:p>
            <a:r>
              <a:t>완성 문장: ‘순이익 8억 원과 영업 현금 4억 원의 차이는 가상 조정표에서 재현된다. 매출채권과 재고 증가가 현금을 묶었고 매입채무 증가가 일부 상쇄했다. 이것만으로 부실을 확정하지 않으며 회수와 재고 평가, 지급 조건을 확인한다.’ 실제 현금흐름표에는 세금·이자·환율 등 다른 조정이 있을 수 있으므로 이 다섯 숫자를 모든 회사의 공식으로 대체하지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증가 자체가 부실의 증거는 아닙니다. 이유를 확인할 질문으로 바꿉니다.</a:t>
            </a:r>
          </a:p>
          <a:p/>
          <a:p>
            <a:r>
              <a:t>[권장 진행]</a:t>
            </a:r>
          </a:p>
          <a:p>
            <a:r>
              <a:t>설명 4분 · 질문 2분</a:t>
            </a:r>
          </a:p>
          <a:p/>
          <a:p>
            <a:r>
              <a:t>[설명 원고]</a:t>
            </a:r>
          </a:p>
          <a:p>
            <a:r>
              <a:t>가상 2025년 순이익은 8억 원입니다. 현금흐름을 이해하기 위해 다음 항목만 있다고 단순화합니다. 감가상각비 4억 원, 매출채권 증가 12억 원, 재고 증가 6억 원, 매입채무 증가 10억 원이며 다른 조정은 없습니다. 매출채권은 외상 판매 뒤 아직 받지 않은 대금, 재고는 아직 판매·사용되지 않은 물품, 매입채무는 매입 뒤 아직 지급하지 않은 대금으로 이해합니다.</a:t>
            </a:r>
          </a:p>
          <a:p/>
          <a:p>
            <a:r>
              <a:t>순이익 8에서 현금 유출이 수반되지 않은 해당 기간의 감가상각비 4를 더합니다. 아직 회수하지 않은 외상대금 증가 12와 재고에 묶인 금액 증가 6을 빼고, 아직 지급하지 않은 매입채무 증가 10을 더하면 8+4−12−6+10=4억 원입니다. 감가상각비를 더하는 것은 설비가 공짜라는 뜻이 아니라 이번 순이익에서 차감한 비현금 비용을 조정하는 뜻입니다.</a:t>
            </a:r>
          </a:p>
          <a:p/>
          <a:p>
            <a:r>
              <a:t>매출채권은 전년 10억에서 22억으로, 재고는 8억에서 14억으로 늘었다고 가정했습니다. 매출 증가보다 외상대금과 재고의 증가가 빠른 이유를 확인할 필요가 있습니다. 매출채권 주석에서 회수 지연·손상 관련 설명을, 재고 주석에서 구성·평가 관련 설명을 찾습니다. 이번에 채무 지급을 미뤄 현금 유출이 적었던 부분도 있으므로 영업 현금 4억 원을 전부 현금 창출 능력의 개선이라고 읽지 않습니다.</a:t>
            </a:r>
          </a:p>
          <a:p/>
          <a:p>
            <a:r>
              <a:t>완성 문장: ‘순이익 8억 원과 영업 현금 4억 원의 차이는 가상 조정표에서 재현된다. 매출채권과 재고 증가가 현금을 묶었고 매입채무 증가가 일부 상쇄했다. 이것만으로 부실을 확정하지 않으며 회수와 재고 평가, 지급 조건을 확인한다.’ 실제 현금흐름표에는 세금·이자·환율 등 다른 조정이 있을 수 있으므로 이 다섯 숫자를 모든 회사의 공식으로 대체하지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관찰한 계산과 아직 확인하지 못한 원인을 두 문장으로 나눕니다.</a:t>
            </a:r>
          </a:p>
          <a:p/>
          <a:p>
            <a:r>
              <a:t>[권장 진행]</a:t>
            </a:r>
          </a:p>
          <a:p>
            <a:r>
              <a:t>개별 작성 5분 · 조별 설명 8분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금액 증가만 나열하지 않고 매출 대비 비율과 다음 확인 자료를 연결합니다.</a:t>
            </a:r>
          </a:p>
          <a:p/>
          <a:p>
            <a:r>
              <a:t>[권장 진행]</a:t>
            </a:r>
          </a:p>
          <a:p>
            <a:r>
              <a:t>설명 4분 · 질문 2분</a:t>
            </a:r>
          </a:p>
          <a:p/>
          <a:p>
            <a:r>
              <a:t>[설명 원고]</a:t>
            </a:r>
          </a:p>
          <a:p>
            <a:r>
              <a:t>앞의 표를 식으로 바꿉니다. 2024년 영업이익은 매출 100−원가 60−판관비 25=15억 원입니다. 2025년은 120−78−30=12억 원입니다. 매출은 (120−100)÷100=20% 늘었지만 영업이익은 (12−15)÷15=−20%입니다. 매출 성장이라는 한 문장만으로 이익 성장까지 설명할 수 없다는 것을 같은 표에서 확인할 수 있습니다.</a:t>
            </a:r>
          </a:p>
          <a:p/>
          <a:p>
            <a:r>
              <a:t>원가율은 60÷100=60%에서 78÷120=65%로 5%포인트 높아졌습니다. 판관비율은 25÷100=25%와 30÷120=25%로 같습니다. 그래서 영업이익률은 15%에서 10%로 낮아졌습니다. ‘판관비가 5억 원 늘어 수익성이 악화됐다’만 쓰면 판관비 비중은 그대로라는 사실을 놓칩니다. 이 표에서는 매출 대비 원가 비중의 증가가 이익률 하락을 설명합니다.</a:t>
            </a:r>
          </a:p>
          <a:p/>
          <a:p>
            <a:r>
              <a:t>원가가 왜 높아졌는지는 아직 모릅니다. 다음 조사 항목은 원재료 매입가격 변화, 제품 판매가격 변화, 저마진 제품 비중, 생산량과 가동 관련 설명입니다. 원재료 가격 표가 있다면 비교 기간과 단위를 맞추고, 판매가격 인상으로 비용을 상쇄했는지도 살핍니다. 원가율 상승만 보고 ‘밀가루 가격 때문에’라고 특정 원인을 확정하면 표가 제공하지 않은 사실을 덧붙인 것입니다.</a:t>
            </a:r>
          </a:p>
          <a:p/>
          <a:p>
            <a:r>
              <a:t>완성 분석 문장: ‘한빛식품의 매출은 20% 증가했지만 영업이익은 20% 감소했다. 판관비율은 25%로 같고 원가율이 60%에서 65%로 상승해 영업이익률이 15%에서 10%로 낮아졌다. 원재료 가격, 판매가격, 제품 구성 중 원가율 변화를 설명하는 항목을 추가 확인한다.’ 이 문장은 확인한 계산과 아직 확인하지 못한 원인을 구분합니다.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실제 기업으로 연습할 때에는 한빛식품의 가상 수치를 가져다 쓰지 않습니다.</a:t>
            </a:r>
          </a:p>
          <a:p/>
          <a:p>
            <a:r>
              <a:t>[권장 진행]</a:t>
            </a:r>
          </a:p>
          <a:p>
            <a:r>
              <a:t>원문 찾기·비교표 작성 15분 · 발표 5분</a:t>
            </a:r>
          </a:p>
          <a:p/>
          <a:p>
            <a:r>
              <a:t>[설명 원고]</a:t>
            </a:r>
          </a:p>
          <a:p>
            <a:r>
              <a:t>실제 기업을 조사할 때는 DART 공시통합검색에서 회사명 또는 종목코드와 조회 기간을 정하고 사업보고서를 찾습니다. 보고서 제목만 보지 말고 대상 사업연도, 정정 여부와 첨부 자료를 확인합니다. 같은 기업의 연간 자료 두 기간을 비교하고, 연결 재무제표를 사용했다면 두 기간 모두 같은 범위인지 기록합니다. 연결 자료가 없는 기업에는 별도 기준임을 적습니다.</a:t>
            </a:r>
          </a:p>
          <a:p/>
          <a:p>
            <a:r>
              <a:t>보고서 목차에서 ‘사업의 내용’의 제품·서비스 설명과 매출·수주 관련 항목을 먼저 읽습니다. 그다음 ‘재무에 관한 사항’에서 손익계산서, 재무상태표, 현금흐름표와 주석을 찾습니다. 목차 명칭과 배치는 보고서마다 다를 수 있으므로 본문에서 ‘매출’, ‘매출원가’, ‘매출채권’을 검색하는 방법도 씁니다. 원문 URL, 표 제목, 단위, 연도, 연결 여부를 숫자 옆에 함께 적습니다.</a:t>
            </a:r>
          </a:p>
          <a:p/>
          <a:p>
            <a:r>
              <a:t>여기서부터는 실제 공시가 아닌 한빛식품의 가상 자료를 읽습니다. 2024년→2025년, 연간·연결, 단위 억 원으로 매출 100→120, 매출원가 60→78, 판매비와 관리비 25→30, 영업이익 15→12입니다. 이익 수치는 다른 영업 항목이 없다는 가정과 맞아야 합니다. 원문에 백만 원 단위로 12,000이 적혀 있다면 120억 원입니다. 숫자를 12,000억 원으로 옮기면 단위가 틀립니다.</a:t>
            </a:r>
          </a:p>
          <a:p/>
          <a:p>
            <a:r>
              <a:t>완성 메모 첫 줄은 ‘한빛식품 가상 자료 / 2024·2025년 연간 연결 / 단위 억 원’입니다. 실제 조사에서는 가상 자료라는 표기 대신 원문 링크와 확인일을 적습니다. 고객 설명은 ‘편의점에 간편식을 납품하고 제품 판매대금을 받는 회사’처럼 쓰며, 자료에 없는 고객 수나 시장점유율을 추측해서 채우지 않습니다. 이 정도를 적어야 다른 사람이 같은 표를 다시 찾고 검산할 수 있습니다.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기업 소개 3문장과 재무 숫자 3개, 원문 링크를 포함한 한 장짜리 기업 메모를 만듭니다.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EPS·PER·PBR·ROE를 계산하고</a:t>
            </a:r>
          </a:p>
          <a:p>
            <a:r>
              <a:t>가격에 들어 있는 가정을 구분합니다.</a:t>
            </a:r>
          </a:p>
          <a:p/>
          <a:p>
            <a:r>
              <a:t>[권장 진행]</a:t>
            </a:r>
          </a:p>
          <a:p>
            <a:r>
              <a:t>도입 5분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실제 EPS는 주당이익 주석의 이익·가중평균 주식 수·기본/희석 구분을 확인합니다.</a:t>
            </a:r>
          </a:p>
          <a:p/>
          <a:p>
            <a:r>
              <a:t>[권장 진행]</a:t>
            </a:r>
          </a:p>
          <a:p>
            <a:r>
              <a:t>설명 4분 · 질문 2분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주가가 오르지 않아도 이익이 줄면 이익 대비 가격은 높아집니다.</a:t>
            </a:r>
          </a:p>
          <a:p/>
          <a:p>
            <a:r>
              <a:t>[권장 진행]</a:t>
            </a:r>
          </a:p>
          <a:p>
            <a:r>
              <a:t>설명 4분 · 질문 2분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PBR의 기말 자본과 ROE의 평균 자본을 같은 분모로 처리하지 않습니다.</a:t>
            </a:r>
          </a:p>
          <a:p/>
          <a:p>
            <a:r>
              <a:t>[권장 진행]</a:t>
            </a:r>
          </a:p>
          <a:p>
            <a:r>
              <a:t>설명 4분 · 질문 2분</a:t>
            </a:r>
          </a:p>
          <a:p/>
          <a:p>
            <a:r>
              <a:t>[설명 원고]</a:t>
            </a:r>
          </a:p>
          <a:p>
            <a:r>
              <a:t>가상 한빛식품의 기초 자본은 70억 원, 기말 자본은 90억 원, 2025년 순이익은 8억 원입니다. 이익과 자본은 같은 보통주 귀속 범위이며 주식 수는 100만 주로 일정하다고 가정합니다. 자본이 늘어난 다른 원인은 이 자료에 주어지지 않았으므로 증자나 배당이 있었는지 추측하지 않습니다. 실제 조사라면 자본변동표와 주석을 추가 확인합니다.</a:t>
            </a:r>
          </a:p>
          <a:p/>
          <a:p>
            <a:r>
              <a:t>기말 BPS는 90억÷100만=9,000원입니다. 주가 20,000원과 비교한 PBR는 20,000÷9,000≈2.22배입니다. 자본의 두 시점 평균은 (70+90)÷2=80억 원이므로 단순 연간 ROE는 8÷80=10%입니다. PBR의 BPS는 이 예시에서 기말 기준이고 ROE의 자본은 평균 기준입니다. 분모를 모두 90억으로 처리하면 ROE가 약 8.89%로 달라집니다.</a:t>
            </a:r>
          </a:p>
          <a:p/>
          <a:p>
            <a:r>
              <a:t>PBR가 1배 미만이면 '기업을 청산하면 반드시 이익'이라고 생각하기 쉽습니다. 하지만 장부의 설비·재고·채권을 실제로 얼마에 회수하거나 처분할 수 있는지는 별도 문제입니다. ROE도 이익 증가뿐 아니라 자본 규모의 변화로 달라질 수 있습니다. 비율을 먼저 칭찬하거나 비난하기보다 분자와 분모가 어떤 이유로 변했는지 묻습니다.</a:t>
            </a:r>
          </a:p>
          <a:p/>
          <a:p>
            <a:r>
              <a:t>완성 메모는 ‘기말 BPS 9,000원, 현재 가정 주가 기준 PBR 약 2.22배. 두 시점 평균 자본을 사용한 ROE 10%. 자본 증가 원인은 미확인으로 자본변동표를 조사한다’입니다. 지표 세 개를 계산했다는 것만으로 사업의 경쟁력이나 매수 가격이 검증됐다고 발표하지 않습니다. 각 지표에서 남은 확인 질문을 함께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같은 이익 회복에도 평가 배수에 따라 계산 가격이 달라집니다.</a:t>
            </a:r>
          </a:p>
          <a:p/>
          <a:p>
            <a:r>
              <a:t>[권장 진행]</a:t>
            </a:r>
          </a:p>
          <a:p>
            <a:r>
              <a:t>설명 4분 · 질문 2분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높은 이익과 높은 배수를 동시에 썼다면 각각의 근거를 제시해야 합니다.</a:t>
            </a:r>
          </a:p>
          <a:p/>
          <a:p>
            <a:r>
              <a:t>[권장 진행]</a:t>
            </a:r>
          </a:p>
          <a:p>
            <a:r>
              <a:t>설명 4분 · 질문 2분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EPS와 평가 배수의 변화를 따로 계산합니다.</a:t>
            </a:r>
          </a:p>
          <a:p/>
          <a:p>
            <a:r>
              <a:t>[권장 진행]</a:t>
            </a:r>
          </a:p>
          <a:p>
            <a:r>
              <a:t>계산 4분 · 해석 토론 6분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평가 배수가 낮아지면 이익 증가가 가격 상승으로 이어지지 않을 수 있습니다.</a:t>
            </a:r>
          </a:p>
          <a:p/>
          <a:p>
            <a:r>
              <a:t>[권장 진행]</a:t>
            </a:r>
          </a:p>
          <a:p>
            <a:r>
              <a:t>설명 4분 · 질문 2분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배수는 비교를 돕는 숫자입니다. 결론의 근거를 대신하지 않습니다.</a:t>
            </a:r>
          </a:p>
          <a:p/>
          <a:p>
            <a:r>
              <a:t>[권장 진행]</a:t>
            </a:r>
          </a:p>
          <a:p>
            <a:r>
              <a:t>설명 4분 · 질문 2분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가상 시나리오를 회사 전망이나 수익 보장으로 표시하지 않습니다.</a:t>
            </a:r>
          </a:p>
          <a:p/>
          <a:p>
            <a:r>
              <a:t>[권장 진행]</a:t>
            </a:r>
          </a:p>
          <a:p>
            <a:r>
              <a:t>시나리오 표 10분 · 반대 조건 토론 10분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기업 비교표에 숫자뿐 아니라 비교의 한계 3개를 추가합니다.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기사의 조건과 공개 시각을 읽고</a:t>
            </a:r>
          </a:p>
          <a:p>
            <a:r>
              <a:t>관찰한 사실과 추정을 나눕니다.</a:t>
            </a:r>
          </a:p>
          <a:p/>
          <a:p>
            <a:r>
              <a:t>[권장 진행]</a:t>
            </a:r>
          </a:p>
          <a:p>
            <a:r>
              <a:t>도입 5분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기사의 동사와 조건을 먼저 읽습니다. 실제 기사 인용이 아닌 학습용 문장입니다.</a:t>
            </a:r>
          </a:p>
          <a:p/>
          <a:p>
            <a:r>
              <a:t>[권장 진행]</a:t>
            </a:r>
          </a:p>
          <a:p>
            <a:r>
              <a:t>설명 4분 · 질문 2분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계약 금액을 당기 매출이나 순이익으로 바로 더하지 않습니다.</a:t>
            </a:r>
          </a:p>
          <a:p/>
          <a:p>
            <a:r>
              <a:t>[권장 진행]</a:t>
            </a:r>
          </a:p>
          <a:p>
            <a:r>
              <a:t>설명 4분 · 질문 2분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계약 대금과 매출 인식액, 이익은 각각 다른 개념입니다.</a:t>
            </a:r>
          </a:p>
          <a:p/>
          <a:p>
            <a:r>
              <a:t>[권장 진행]</a:t>
            </a:r>
          </a:p>
          <a:p>
            <a:r>
              <a:t>설명 4분 · 질문 2분</a:t>
            </a:r>
          </a:p>
          <a:p/>
          <a:p>
            <a:r>
              <a:t>[설명 원고]</a:t>
            </a:r>
          </a:p>
          <a:p>
            <a:r>
              <a:t>다음 두 문장은 수업용으로 만든 가상 뉴스입니다. A: ‘한빛식품, 유통사와 연간 30억 원 규모 공급계약 협의 중’. B: ‘한빛식품, 30억 원 공급계약 체결, 계약기간 내년 1월부터 12월, 상대방 요청 물량에 따라 공급’. A의 핵심은 ‘협의 중’으로 계약 성립을 확정하지 않습니다. B는 ‘체결’이라는 사실과 함께 기간·수량 조건을 확인해야 합니다. 실제 기사나 공시를 인용한 문장이 아닙니다.</a:t>
            </a:r>
          </a:p>
          <a:p/>
          <a:p>
            <a:r>
              <a:t>B를 분석표에 옮기면 사건: 공급계약 체결, 금액: 30억 원, 기간: 다음 해 12개월, 조건: 요청 물량에 따라 공급입니다. 제목의 ‘30억 원’만 읽으면 전액이 당장 매출로 인식되거나 확정 현금으로 들어온다고 착각할 수 있습니다. 원문 계약·공시에서 최소 구매 의무, 변경·해지 조건, 대금 지급과 납품 조건이 명시됐는지 확인하고 없는 항목은 미확인으로 남깁니다.</a:t>
            </a:r>
          </a:p>
          <a:p/>
          <a:p>
            <a:r>
              <a:t>앞서 본 연간 매출 120억 원과 비교한 계약 규모 비율은 30÷120=25%입니다. 이 비율은 계약의 상대적 크기를 보여 줍니다. 올해 매출이 25% 증가한다거나 순이익이 30억 원 증가한다는 뜻은 아닙니다. 기존 거래의 갱신인지 새 물량인지, 실제 납품·매출 인식 시점과 원가가 무엇인지 아직 알 수 없기 때문입니다.</a:t>
            </a:r>
          </a:p>
          <a:p/>
          <a:p>
            <a:r>
              <a:t>완성 분석 문장: ‘가상 공급계약 금액은 직전 연간 매출의 25% 규모다. 공급 기간과 물량 조건이 있어 당기 매출 증가액으로 바로 더하지 않는다. 신규 물량 여부, 최소 구매 의무, 납품·인식 시점을 원문에서 추가 확인한다.’ ‘30억 호재로 순이익 급증’이라는 문장은 금액의 종류와 확인 수준을 모두 바꾼 잘못된 해석입니다.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16:10 공개 이후 반응으로 13:00의 상승을 설명할 수는 없습니다.</a:t>
            </a:r>
          </a:p>
          <a:p/>
          <a:p>
            <a:r>
              <a:t>[권장 진행]</a:t>
            </a:r>
          </a:p>
          <a:p>
            <a:r>
              <a:t>설명 4분 · 질문 2분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기사 수보다 독립된 원문과 새롭게 확인한 사실을 확인합니다.</a:t>
            </a:r>
          </a:p>
          <a:p/>
          <a:p>
            <a:r>
              <a:t>[권장 진행]</a:t>
            </a:r>
          </a:p>
          <a:p>
            <a:r>
              <a:t>설명 4분 · 질문 2분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같은 테마라도 실제 사업 비중과 영향은 기업마다 다릅니다.</a:t>
            </a:r>
          </a:p>
          <a:p/>
          <a:p>
            <a:r>
              <a:t>[권장 진행]</a:t>
            </a:r>
          </a:p>
          <a:p>
            <a:r>
              <a:t>설명 4분 · 질문 2분</a:t>
            </a:r>
          </a:p>
          <a:p/>
          <a:p>
            <a:r>
              <a:t>[설명 원고]</a:t>
            </a:r>
          </a:p>
          <a:p>
            <a:r>
              <a:t>시장 분석 화면에서 먼저 관찰일과 집계 시각을 적고 상승·하락 목록을 각각 확인합니다. 등락률 기준이 전일 대비인지, 관측한 일부 종목만 집계한 것인지 화면 설명을 읽습니다. 가상 목록이 100종목 중 상승 30·하락 60·보합 10이라면 상승 비중 30%, 하락 비중 60%입니다. 이것을 전체 시장의 확정 비중이라고 옮기려면 집계 범위가 같다는 근거가 있어야 합니다.</a:t>
            </a:r>
          </a:p>
          <a:p/>
          <a:p>
            <a:r>
              <a:t>한빛식품이 +8%라는 사실에서 출발해 거래 규모를 봅니다. 가상 종목 A는 1,000원에 100만 주, B는 20,000원에 10만 주가 모두 고정 가격에 거래됐다면 거래량은 A가 크지만 거래대금은 A 10억, B 20억 원으로 B가 큽니다. 실제로는 체결 가격이 달라지므로 종가×거래량을 실제 거래대금과 같다고 쓰지 않고 집계된 수치를 확인합니다.</a:t>
            </a:r>
          </a:p>
          <a:p/>
          <a:p>
            <a:r>
              <a:t>관련 테마가 ‘간편식’이라면 회사의 제품 설명에서 간편식 매출이 실제로 있는지, 전체에서 차지하는 비중이 얼마인지 찾아봅니다. 가상 사업 자료가 간편식 72억·기타 48억 원이면 간편식 비중은 72÷120=60%입니다. 같은 테마의 다른 회사도 60%라는 뜻은 아닙니다. 화면의 테마 분류는 이 확인 작업으로 들어가는 출발점입니다.</a:t>
            </a:r>
          </a:p>
          <a:p/>
          <a:p>
            <a:r>
              <a:t>완성 메모 예시: ‘관찰 시각 기준 한빛식품 +8%. 간편식 매출 비중은 가상 연간 자료에서 60%. 계약 발표는 장 마감 후이며 당일 상승 원인은 미확인. 거래대금은 화면 집계값과 기준 시각을 별도로 기록한다.’ 하락 포착도 같은 순서로 읽습니다. 하락 이유를 모르면 ‘악재 없음’ 대신 ‘확인한 자료에서 이유 미확인’이라고 씁니다.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확인한 사실을 남기고, 자료가 뒷받침하지 않는 연결을 고칩니다.</a:t>
            </a:r>
          </a:p>
          <a:p/>
          <a:p>
            <a:r>
              <a:t>[권장 진행]</a:t>
            </a:r>
          </a:p>
          <a:p>
            <a:r>
              <a:t>문장 수정 5분 · 조별 비교 8분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“알 수 없다”에서 멈추지 않고 다음에 읽을 자료와 조건을 명시합니다.</a:t>
            </a:r>
          </a:p>
          <a:p/>
          <a:p>
            <a:r>
              <a:t>[권장 진행]</a:t>
            </a:r>
          </a:p>
          <a:p>
            <a:r>
              <a:t>설명 4분 · 질문 2분</a:t>
            </a:r>
          </a:p>
          <a:p/>
          <a:p>
            <a:r>
              <a:t>[설명 원고]</a:t>
            </a:r>
          </a:p>
          <a:p>
            <a:r>
              <a:t>같은 날의 가상 기록을 씁니다. 09:10 한빛식품 +1%, 13:00 +6%, 15:30 종가 +8%, 16:10 계약 발표, 16:25 첫 기사입니다. 16:10 발표가 공개된 뒤 투자자가 반응했다는 설명으로 13:00 상승을 설명할 수는 없습니다. 종가와 그날 기사 제목을 나란히 놓았다는 이유만으로 인과를 확인한 것이 아닙니다.</a:t>
            </a:r>
          </a:p>
          <a:p/>
          <a:p>
            <a:r>
              <a:t>이때 필요한 자료는 더 이른 공시·발표의 존재, 기사 최초·수정 시각, 같은 산업과 시장의 움직임입니다. 해당 산업도 13:00에 함께 올랐다면 산업 공통 요인은 가능한 설명 중 하나입니다. 이 시간표만으로 발표 전 정보 유출이나 특정 투자자의 행동을 단정할 수 없습니다. 관찰된 사실과 추가 조사할 가설을 구분합니다.</a:t>
            </a:r>
          </a:p>
          <a:p/>
          <a:p>
            <a:r>
              <a:t>세 언론사의 16시대 기사가 모두 16:10 발표를 인용했다면 독립 근거 세 개로 세지 않습니다. 분석표에는 원문 사건 한 건과 그 사건을 보도한 기사 세 건으로 적습니다. 두 기사가 같은 문구와 같은 관계자 발언을 사용했는지도 확인합니다. 다른 취재가 있다면 그 기사에서 새롭게 확인한 사실이 무엇인지 별도로 표시합니다.</a:t>
            </a:r>
          </a:p>
          <a:p/>
          <a:p>
            <a:r>
              <a:t>완성 브리핑: ‘종목은 당일 8% 상승했고 계약 발표는 16:10에 나왔다. 발표가 종가 이전에 공개됐다는 근거는 현재 표에 없다. 산업 공통 요인과 이전 발표를 확인하기 전까지 당일 상승 원인으로 단정하지 않는다.’ 다음 날 가격이 움직여도 그 자체로 전날 해석이 입증된 것은 아니므로 시각과 대안 설명을 다시 점검합니다.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하락 포착도 같은 순서로 조사합니다. 이유 미확인을 “악재 없음”으로 바꾸지 않습니다.</a:t>
            </a:r>
          </a:p>
          <a:p/>
          <a:p>
            <a:r>
              <a:t>[권장 진행]</a:t>
            </a:r>
          </a:p>
          <a:p>
            <a:r>
              <a:t>원문 조사 15분 · 브리핑 5분</a:t>
            </a:r>
          </a:p>
          <a:p/>
          <a:p>
            <a:r>
              <a:t>[설명 원고]</a:t>
            </a:r>
          </a:p>
          <a:p>
            <a:r>
              <a:t>시장 분석 화면에서 먼저 관찰일과 집계 시각을 적고 상승·하락 목록을 각각 확인합니다. 등락률 기준이 전일 대비인지, 관측한 일부 종목만 집계한 것인지 화면 설명을 읽습니다. 가상 목록이 100종목 중 상승 30·하락 60·보합 10이라면 상승 비중 30%, 하락 비중 60%입니다. 이것을 전체 시장의 확정 비중이라고 옮기려면 집계 범위가 같다는 근거가 있어야 합니다.</a:t>
            </a:r>
          </a:p>
          <a:p/>
          <a:p>
            <a:r>
              <a:t>한빛식품이 +8%라는 사실에서 출발해 거래 규모를 봅니다. 가상 종목 A는 1,000원에 100만 주, B는 20,000원에 10만 주가 모두 고정 가격에 거래됐다면 거래량은 A가 크지만 거래대금은 A 10억, B 20억 원으로 B가 큽니다. 실제로는 체결 가격이 달라지므로 종가×거래량을 실제 거래대금과 같다고 쓰지 않고 집계된 수치를 확인합니다.</a:t>
            </a:r>
          </a:p>
          <a:p/>
          <a:p>
            <a:r>
              <a:t>관련 테마가 ‘간편식’이라면 회사의 제품 설명에서 간편식 매출이 실제로 있는지, 전체에서 차지하는 비중이 얼마인지 찾아봅니다. 가상 사업 자료가 간편식 72억·기타 48억 원이면 간편식 비중은 72÷120=60%입니다. 같은 테마의 다른 회사도 60%라는 뜻은 아닙니다. 화면의 테마 분류는 이 확인 작업으로 들어가는 출발점입니다.</a:t>
            </a:r>
          </a:p>
          <a:p/>
          <a:p>
            <a:r>
              <a:t>완성 메모 예시: ‘관찰 시각 기준 한빛식품 +8%. 간편식 매출 비중은 가상 연간 자료에서 60%. 계약 발표는 장 마감 후이며 당일 상승 원인은 미확인. 거래대금은 화면 집계값과 기준 시각을 별도로 기록한다.’ 하락 포착도 같은 순서로 읽습니다. 하락 이유를 모르면 ‘악재 없음’ 대신 ‘확인한 자료에서 이유 미확인’이라고 씁니다.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기사 1건에 대해 확인된 사실 2개, 나의 해석 1개, 반대 근거 1개를 작성합니다.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ETF 안의 중복 보유를 계산하고</a:t>
            </a:r>
          </a:p>
          <a:p>
            <a:r>
              <a:t>계좌 전체의 노출을 확인합니다.</a:t>
            </a:r>
          </a:p>
          <a:p/>
          <a:p>
            <a:r>
              <a:t>[권장 진행]</a:t>
            </a:r>
          </a:p>
          <a:p>
            <a:r>
              <a:t>도입 5분</a:t>
            </a:r>
          </a:p>
          <a:p/>
          <a:p>
            <a:r>
              <a:t>[설명 원고]</a:t>
            </a:r>
          </a:p>
          <a:p>
            <a:r>
              <a:t>가상 계좌 100만 원 중 한빛식품 직접 보유 20만 원, 식품 ETF 50만 원, 현금 30만 원으로 구성했다고 가정합니다. ETF의 최신 구성 내역에는 한빛식품이 10% 들어 있습니다. 이 ETF는 실제 상품이 아닌 단순 현물 구성의 학습 예시이며, 다른 경로의 한빛식품 보유는 없다고 정합니다.</a:t>
            </a:r>
          </a:p>
          <a:p/>
          <a:p>
            <a:r>
              <a:t>ETF를 통한 한빛식품 금액은 50만×10%=5만 원입니다. 직접 보유 20만 원에 더하면 총 25만 원, 계좌 전체의 25%입니다. 직접 비중 20%에 ETF 내부 비중 10%를 그냥 더해 30%라고 하면 분모가 다른 비율을 섞은 것입니다. 먼저 ETF 내부 비중을 계좌 금액으로 환산하거나 20%+50%×10%=25%로 계산합니다.</a:t>
            </a:r>
          </a:p>
          <a:p/>
          <a:p>
            <a:r>
              <a:t>ETF 안의 나머지 종목도 식품기업에 집중됐다면 한빛식품만 보유했을 때의 개별 기업 위험은 일부 나뉘어도 공통 원재료 가격 위험은 남을 수 있습니다. 보유 내역 옆에 원재료·고객·산업 노출을 적어 같은 사건에 동시에 영향을 받는 부분을 찾습니다. 상품이 두 개라는 사실만으로 충분히 분산됐다고 결론 내리지 않습니다.</a:t>
            </a:r>
          </a:p>
          <a:p/>
          <a:p>
            <a:r>
              <a:t>완성 구성 메모: ‘직접 한빛식품 20%와 ETF를 통한 5%를 합쳐 동일 기업 노출은 25%다. ETF의 다른 구성 종목에도 식품 산업 노출이 있어 원재료 가격 위험은 함께 점검한다.’ 실제 ETF는 구성 기준일을 적고 최신 내역으로 다시 계산합니다. 파생상품 등 다른 구조의 노출을 이 단순 현물 계산과 같다고 일반화하지 않습니다.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상품 이름의 개수와 실제로 노출된 기업·위험의 개수는 다릅니다.</a:t>
            </a:r>
          </a:p>
          <a:p/>
          <a:p>
            <a:r>
              <a:t>[권장 진행]</a:t>
            </a:r>
          </a:p>
          <a:p>
            <a:r>
              <a:t>설명 4분 · 질문 2분</a:t>
            </a:r>
          </a:p>
          <a:p/>
          <a:p>
            <a:r>
              <a:t>[설명 원고]</a:t>
            </a:r>
          </a:p>
          <a:p>
            <a:r>
              <a:t>가상 계좌 100만 원 중 한빛식품 직접 보유 20만 원, 식품 ETF 50만 원, 현금 30만 원으로 구성했다고 가정합니다. ETF의 최신 구성 내역에는 한빛식품이 10% 들어 있습니다. 이 ETF는 실제 상품이 아닌 단순 현물 구성의 학습 예시이며, 다른 경로의 한빛식품 보유는 없다고 정합니다.</a:t>
            </a:r>
          </a:p>
          <a:p/>
          <a:p>
            <a:r>
              <a:t>ETF를 통한 한빛식품 금액은 50만×10%=5만 원입니다. 직접 보유 20만 원에 더하면 총 25만 원, 계좌 전체의 25%입니다. 직접 비중 20%에 ETF 내부 비중 10%를 그냥 더해 30%라고 하면 분모가 다른 비율을 섞은 것입니다. 먼저 ETF 내부 비중을 계좌 금액으로 환산하거나 20%+50%×10%=25%로 계산합니다.</a:t>
            </a:r>
          </a:p>
          <a:p/>
          <a:p>
            <a:r>
              <a:t>ETF 안의 나머지 종목도 식품기업에 집중됐다면 한빛식품만 보유했을 때의 개별 기업 위험은 일부 나뉘어도 공통 원재료 가격 위험은 남을 수 있습니다. 보유 내역 옆에 원재료·고객·산업 노출을 적어 같은 사건에 동시에 영향을 받는 부분을 찾습니다. 상품이 두 개라는 사실만으로 충분히 분산됐다고 결론 내리지 않습니다.</a:t>
            </a:r>
          </a:p>
          <a:p/>
          <a:p>
            <a:r>
              <a:t>완성 구성 메모: ‘직접 한빛식품 20%와 ETF를 통한 5%를 합쳐 동일 기업 노출은 25%다. ETF의 다른 구성 종목에도 식품 산업 노출이 있어 원재료 가격 위험은 함께 점검한다.’ 실제 ETF는 구성 기준일을 적고 최신 내역으로 다시 계산합니다. 파생상품 등 다른 구조의 노출을 이 단순 현물 계산과 같다고 일반화하지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직접 비중 20%와 ETF 내부 비중 10%를 그대로 더하지 않습니다.</a:t>
            </a:r>
          </a:p>
          <a:p/>
          <a:p>
            <a:r>
              <a:t>[권장 진행]</a:t>
            </a:r>
          </a:p>
          <a:p>
            <a:r>
              <a:t>설명 4분 · 질문 2분</a:t>
            </a:r>
          </a:p>
          <a:p/>
          <a:p>
            <a:r>
              <a:t>[설명 원고]</a:t>
            </a:r>
          </a:p>
          <a:p>
            <a:r>
              <a:t>가상 계좌 100만 원 중 한빛식품 직접 보유 20만 원, 식품 ETF 50만 원, 현금 30만 원으로 구성했다고 가정합니다. ETF의 최신 구성 내역에는 한빛식품이 10% 들어 있습니다. 이 ETF는 실제 상품이 아닌 단순 현물 구성의 학습 예시이며, 다른 경로의 한빛식품 보유는 없다고 정합니다.</a:t>
            </a:r>
          </a:p>
          <a:p/>
          <a:p>
            <a:r>
              <a:t>ETF를 통한 한빛식품 금액은 50만×10%=5만 원입니다. 직접 보유 20만 원에 더하면 총 25만 원, 계좌 전체의 25%입니다. 직접 비중 20%에 ETF 내부 비중 10%를 그냥 더해 30%라고 하면 분모가 다른 비율을 섞은 것입니다. 먼저 ETF 내부 비중을 계좌 금액으로 환산하거나 20%+50%×10%=25%로 계산합니다.</a:t>
            </a:r>
          </a:p>
          <a:p/>
          <a:p>
            <a:r>
              <a:t>ETF 안의 나머지 종목도 식품기업에 집중됐다면 한빛식품만 보유했을 때의 개별 기업 위험은 일부 나뉘어도 공통 원재료 가격 위험은 남을 수 있습니다. 보유 내역 옆에 원재료·고객·산업 노출을 적어 같은 사건에 동시에 영향을 받는 부분을 찾습니다. 상품이 두 개라는 사실만으로 충분히 분산됐다고 결론 내리지 않습니다.</a:t>
            </a:r>
          </a:p>
          <a:p/>
          <a:p>
            <a:r>
              <a:t>완성 구성 메모: ‘직접 한빛식품 20%와 ETF를 통한 5%를 합쳐 동일 기업 노출은 25%다. ETF의 다른 구성 종목에도 식품 산업 노출이 있어 원재료 가격 위험은 함께 점검한다.’ 실제 ETF는 구성 기준일을 적고 최신 내역으로 다시 계산합니다. 파생상품 등 다른 구조의 노출을 이 단순 현물 계산과 같다고 일반화하지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분산은 손실을 없애는 장치가 아닙니다. 같은 사건에 함께 영향을 받는지 봅니다.</a:t>
            </a:r>
          </a:p>
          <a:p/>
          <a:p>
            <a:r>
              <a:t>[권장 진행]</a:t>
            </a:r>
          </a:p>
          <a:p>
            <a:r>
              <a:t>설명 4분 · 질문 2분</a:t>
            </a:r>
          </a:p>
          <a:p/>
          <a:p>
            <a:r>
              <a:t>[설명 원고]</a:t>
            </a:r>
          </a:p>
          <a:p>
            <a:r>
              <a:t>가상 계좌 100만 원 중 한빛식품 직접 보유 20만 원, 식품 ETF 50만 원, 현금 30만 원으로 구성했다고 가정합니다. ETF의 최신 구성 내역에는 한빛식품이 10% 들어 있습니다. 이 ETF는 실제 상품이 아닌 단순 현물 구성의 학습 예시이며, 다른 경로의 한빛식품 보유는 없다고 정합니다.</a:t>
            </a:r>
          </a:p>
          <a:p/>
          <a:p>
            <a:r>
              <a:t>ETF를 통한 한빛식품 금액은 50만×10%=5만 원입니다. 직접 보유 20만 원에 더하면 총 25만 원, 계좌 전체의 25%입니다. 직접 비중 20%에 ETF 내부 비중 10%를 그냥 더해 30%라고 하면 분모가 다른 비율을 섞은 것입니다. 먼저 ETF 내부 비중을 계좌 금액으로 환산하거나 20%+50%×10%=25%로 계산합니다.</a:t>
            </a:r>
          </a:p>
          <a:p/>
          <a:p>
            <a:r>
              <a:t>ETF 안의 나머지 종목도 식품기업에 집중됐다면 한빛식품만 보유했을 때의 개별 기업 위험은 일부 나뉘어도 공통 원재료 가격 위험은 남을 수 있습니다. 보유 내역 옆에 원재료·고객·산업 노출을 적어 같은 사건에 동시에 영향을 받는 부분을 찾습니다. 상품이 두 개라는 사실만으로 충분히 분산됐다고 결론 내리지 않습니다.</a:t>
            </a:r>
          </a:p>
          <a:p/>
          <a:p>
            <a:r>
              <a:t>완성 구성 메모: ‘직접 한빛식품 20%와 ETF를 통한 5%를 합쳐 동일 기업 노출은 25%다. ETF의 다른 구성 종목에도 식품 산업 노출이 있어 원재료 가격 위험은 함께 점검한다.’ 실제 ETF는 구성 기준일을 적고 최신 내역으로 다시 계산합니다. 파생상품 등 다른 구조의 노출을 이 단순 현물 계산과 같다고 일반화하지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차이 1%는 관찰값입니다. 그 차이가 사라져 이익이 된다는 보장은 아닙니다.</a:t>
            </a:r>
          </a:p>
          <a:p/>
          <a:p>
            <a:r>
              <a:t>[권장 진행]</a:t>
            </a:r>
          </a:p>
          <a:p>
            <a:r>
              <a:t>설명 4분 · 질문 2분</a:t>
            </a:r>
          </a:p>
          <a:p/>
          <a:p>
            <a:r>
              <a:t>[설명 원고]</a:t>
            </a:r>
          </a:p>
          <a:p>
            <a:r>
              <a:t>실제 ETF를 조사할 때에는 종목명만 적지 않고 상품 설명서나 운용사 상품 자료에서 추종 지수, 구성 자산, 운용 방식과 기준일을 찾습니다. 비교표의 한 행에 ‘지수 이름 / 상위 구성 / 통화 노출 / 분배금 처리 / 비용 / 자료 기준일’을 적습니다. 비슷한 상품명이더라도 같은 지수나 같은 통화 조건이라고 가정하지 않습니다.</a:t>
            </a:r>
          </a:p>
          <a:p/>
          <a:p>
            <a:r>
              <a:t>가상 ETF의 같은 시점 주당 순자산가치가 10,000원, 거래 가격이 10,100원이라면 차이는 (10,100−10,000)÷10,000=1%입니다. 100주 매수 시 거래 금액은 101만 원, 해당 기준 순자산가치 합계는 100만 원입니다. 1만 원 차이가 있다는 계산과 이후 그 차이가 해소되어 이익이 난다는 예측은 별개입니다.</a:t>
            </a:r>
          </a:p>
          <a:p/>
          <a:p>
            <a:r>
              <a:t>기준 시각이 다르면 위 비교도 다시 해야 합니다. 기초 자산 시장이 거래 중인지, 제시된 값이 확정 순자산가치인지 장중 추정값인지 자료 설명을 확인합니다. 비용에서는 보수 외 기타 비용, 매매 수수료, 호가 스프레드의 처리 위치를 구분합니다. 예를 들어 서로 다른 기준의 성과에서 보수를 다시 빼면 이미 반영된 비용을 이중 차감할 수 있습니다.</a:t>
            </a:r>
          </a:p>
          <a:p/>
          <a:p>
            <a:r>
              <a:t>완성 조사 메모: ‘이 상품은 어떤 지수를 추종하며 구성 상위 종목은 무엇이다. 비교한 가격과 순자산가치의 시각은 같다/다르다. 가상 계산의 가격 차이는 1%지만 원인과 거래 조건은 추가 확인한다.’ 찾지 못한 칸은 미확인으로 남기고 실제 상품을 고르는 결론을 내기 전에 그 자료를 확보합니다. 이름이나 보수 한 숫자만으로 비교를 끝내지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구성·시점이 다른 상품을 보수 한 숫자로만 비교하지 않습니다.</a:t>
            </a:r>
          </a:p>
          <a:p/>
          <a:p>
            <a:r>
              <a:t>[권장 진행]</a:t>
            </a:r>
          </a:p>
          <a:p>
            <a:r>
              <a:t>설명 4분 · 질문 2분</a:t>
            </a:r>
          </a:p>
          <a:p/>
          <a:p>
            <a:r>
              <a:t>[설명 원고]</a:t>
            </a:r>
          </a:p>
          <a:p>
            <a:r>
              <a:t>실제 ETF를 조사할 때에는 종목명만 적지 않고 상품 설명서나 운용사 상품 자료에서 추종 지수, 구성 자산, 운용 방식과 기준일을 찾습니다. 비교표의 한 행에 ‘지수 이름 / 상위 구성 / 통화 노출 / 분배금 처리 / 비용 / 자료 기준일’을 적습니다. 비슷한 상품명이더라도 같은 지수나 같은 통화 조건이라고 가정하지 않습니다.</a:t>
            </a:r>
          </a:p>
          <a:p/>
          <a:p>
            <a:r>
              <a:t>가상 ETF의 같은 시점 주당 순자산가치가 10,000원, 거래 가격이 10,100원이라면 차이는 (10,100−10,000)÷10,000=1%입니다. 100주 매수 시 거래 금액은 101만 원, 해당 기준 순자산가치 합계는 100만 원입니다. 1만 원 차이가 있다는 계산과 이후 그 차이가 해소되어 이익이 난다는 예측은 별개입니다.</a:t>
            </a:r>
          </a:p>
          <a:p/>
          <a:p>
            <a:r>
              <a:t>기준 시각이 다르면 위 비교도 다시 해야 합니다. 기초 자산 시장이 거래 중인지, 제시된 값이 확정 순자산가치인지 장중 추정값인지 자료 설명을 확인합니다. 비용에서는 보수 외 기타 비용, 매매 수수료, 호가 스프레드의 처리 위치를 구분합니다. 예를 들어 서로 다른 기준의 성과에서 보수를 다시 빼면 이미 반영된 비용을 이중 차감할 수 있습니다.</a:t>
            </a:r>
          </a:p>
          <a:p/>
          <a:p>
            <a:r>
              <a:t>완성 조사 메모: ‘이 상품은 어떤 지수를 추종하며 구성 상위 종목은 무엇이다. 비교한 가격과 순자산가치의 시각은 같다/다르다. 가상 계산의 가격 차이는 1%지만 원인과 거래 조건은 추가 확인한다.’ 찾지 못한 칸은 미확인으로 남기고 실제 상품을 고르는 결론을 내기 전에 그 자료를 확보합니다. 이름이나 보수 한 숫자만으로 비교를 끝내지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20% × 10% + 50% × (−4%) = 0%. 현재 구성은 22% · 48% · 30%입니다.</a:t>
            </a:r>
          </a:p>
          <a:p/>
          <a:p>
            <a:r>
              <a:t>[권장 진행]</a:t>
            </a:r>
          </a:p>
          <a:p>
            <a:r>
              <a:t>설명 4분 · 질문 2분</a:t>
            </a:r>
          </a:p>
          <a:p/>
          <a:p>
            <a:r>
              <a:t>[설명 원고]</a:t>
            </a:r>
          </a:p>
          <a:p>
            <a:r>
              <a:t>앞의 100만 원 계좌에서 한빛식품 20만 원이 +10%, ETF 50만 원이 −4%, 현금 30만 원은 그대로라고 가정합니다. 기간 중 입출금·배당·비용·매매는 없습니다. 종목 수익률을 평균 낼 것이 아니라 각 금액의 변화를 계산합니다. 한빛식품 22만 원, ETF 48만 원, 현금 30만 원으로 기말 합계는 100만 원입니다.</a:t>
            </a:r>
          </a:p>
          <a:p/>
          <a:p>
            <a:r>
              <a:t>전체 수익률은 0%이며 시작 비중으로 검산하면 20%×10%+50%×(−4%)+30%×0%=0%입니다. 하지만 현재 비중은 22%·48%·30%로 바뀌었습니다. 전체 자산이 그대로여도 구성은 달라질 수 있습니다. 과거 비중 20%·50%를 현재 비중이라고 계속 표시하면 다음 판단에 사용하는 노출이 틀려집니다.</a:t>
            </a:r>
          </a:p>
          <a:p/>
          <a:p>
            <a:r>
              <a:t>ETF 내부 한빛식품 비중도 가격 변화로 달라질 수 있으므로 앞의 10%를 무조건 유지하지 않습니다. 예를 들어 새 구성 자료가 11%라고 제시했다면 현재 간접 노출은 48만×11%=52,800원입니다. 직접 220,000원과 합쳐 272,800원, 전체의 27.28%입니다. 이 11%는 추가로 주어진 가정이며 이전 ETF 수익률만으로 계산해 낸 값은 아닙니다.</a:t>
            </a:r>
          </a:p>
          <a:p/>
          <a:p>
            <a:r>
              <a:t>원래 직접 비중 20%로 돌아가는 금액 계산은 22만−20만=2만 원 차이입니다. 하지만 실제 조정은 주식 단위, 비용, 계획의 유효성 등을 확인해야 하므로 바로 매도 지시로 사용하지 않습니다. 완성 기록은 ‘계좌 수익률은 0%지만 같은 기업 노출이 새 구성 가정에서 27.28%로 바뀌었다. 목표와 현재 구성을 비교하고 조정 여부의 이유를 적는다’입니다.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비율의 분모를 계좌 전체로 맞춘 뒤 더합니다.</a:t>
            </a:r>
          </a:p>
          <a:p/>
          <a:p>
            <a:r>
              <a:t>[권장 진행]</a:t>
            </a:r>
          </a:p>
          <a:p>
            <a:r>
              <a:t>계산 4분 · 설명 6분</a:t>
            </a:r>
          </a:p>
          <a:p/>
          <a:p>
            <a:r>
              <a:t>[설명 원고]</a:t>
            </a:r>
          </a:p>
          <a:p>
            <a:r>
              <a:t>가상 계좌 100만 원 중 한빛식품 직접 보유 20만 원, 식품 ETF 50만 원, 현금 30만 원으로 구성했다고 가정합니다. ETF의 최신 구성 내역에는 한빛식품이 10% 들어 있습니다. 이 ETF는 실제 상품이 아닌 단순 현물 구성의 학습 예시이며, 다른 경로의 한빛식품 보유는 없다고 정합니다.</a:t>
            </a:r>
          </a:p>
          <a:p/>
          <a:p>
            <a:r>
              <a:t>ETF를 통한 한빛식품 금액은 50만×10%=5만 원입니다. 직접 보유 20만 원에 더하면 총 25만 원, 계좌 전체의 25%입니다. 직접 비중 20%에 ETF 내부 비중 10%를 그냥 더해 30%라고 하면 분모가 다른 비율을 섞은 것입니다. 먼저 ETF 내부 비중을 계좌 금액으로 환산하거나 20%+50%×10%=25%로 계산합니다.</a:t>
            </a:r>
          </a:p>
          <a:p/>
          <a:p>
            <a:r>
              <a:t>ETF 안의 나머지 종목도 식품기업에 집중됐다면 한빛식품만 보유했을 때의 개별 기업 위험은 일부 나뉘어도 공통 원재료 가격 위험은 남을 수 있습니다. 보유 내역 옆에 원재료·고객·산업 노출을 적어 같은 사건에 동시에 영향을 받는 부분을 찾습니다. 상품이 두 개라는 사실만으로 충분히 분산됐다고 결론 내리지 않습니다.</a:t>
            </a:r>
          </a:p>
          <a:p/>
          <a:p>
            <a:r>
              <a:t>완성 구성 메모: ‘직접 한빛식품 20%와 ETF를 통한 5%를 합쳐 동일 기업 노출은 25%다. ETF의 다른 구성 종목에도 식품 산업 노출이 있어 원재료 가격 위험은 함께 점검한다.’ 실제 ETF는 구성 기준일을 적고 최신 내역으로 다시 계산합니다. 파생상품 등 다른 구조의 노출을 이 단순 현물 계산과 같다고 일반화하지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35%라고 더하면 계좌 비중과 ETF 내부 비중을 혼합한 계산입니다.</a:t>
            </a:r>
          </a:p>
          <a:p/>
          <a:p>
            <a:r>
              <a:t>[권장 진행]</a:t>
            </a:r>
          </a:p>
          <a:p>
            <a:r>
              <a:t>설명 4분 · 질문 2분</a:t>
            </a:r>
          </a:p>
          <a:p/>
          <a:p>
            <a:r>
              <a:t>[설명 원고]</a:t>
            </a:r>
          </a:p>
          <a:p>
            <a:r>
              <a:t>가상 계좌 100만 원 중 한빛식품 직접 보유 20만 원, 식품 ETF 50만 원, 현금 30만 원으로 구성했다고 가정합니다. ETF의 최신 구성 내역에는 한빛식품이 10% 들어 있습니다. 이 ETF는 실제 상품이 아닌 단순 현물 구성의 학습 예시이며, 다른 경로의 한빛식품 보유는 없다고 정합니다.</a:t>
            </a:r>
          </a:p>
          <a:p/>
          <a:p>
            <a:r>
              <a:t>ETF를 통한 한빛식품 금액은 50만×10%=5만 원입니다. 직접 보유 20만 원에 더하면 총 25만 원, 계좌 전체의 25%입니다. 직접 비중 20%에 ETF 내부 비중 10%를 그냥 더해 30%라고 하면 분모가 다른 비율을 섞은 것입니다. 먼저 ETF 내부 비중을 계좌 금액으로 환산하거나 20%+50%×10%=25%로 계산합니다.</a:t>
            </a:r>
          </a:p>
          <a:p/>
          <a:p>
            <a:r>
              <a:t>ETF 안의 나머지 종목도 식품기업에 집중됐다면 한빛식품만 보유했을 때의 개별 기업 위험은 일부 나뉘어도 공통 원재료 가격 위험은 남을 수 있습니다. 보유 내역 옆에 원재료·고객·산업 노출을 적어 같은 사건에 동시에 영향을 받는 부분을 찾습니다. 상품이 두 개라는 사실만으로 충분히 분산됐다고 결론 내리지 않습니다.</a:t>
            </a:r>
          </a:p>
          <a:p/>
          <a:p>
            <a:r>
              <a:t>완성 구성 메모: ‘직접 한빛식품 20%와 ETF를 통한 5%를 합쳐 동일 기업 노출은 25%다. ETF의 다른 구성 종목에도 식품 산업 노출이 있어 원재료 가격 위험은 함께 점검한다.’ 실제 ETF는 구성 기준일을 적고 최신 내역으로 다시 계산합니다. 파생상품 등 다른 구조의 노출을 이 단순 현물 계산과 같다고 일반화하지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비중 차이의 계산을 곧바로 실제 매매 지시로 바꾸지 않습니다.</a:t>
            </a:r>
          </a:p>
          <a:p/>
          <a:p>
            <a:r>
              <a:t>[권장 진행]</a:t>
            </a:r>
          </a:p>
          <a:p>
            <a:r>
              <a:t>가상 구성표 작성 12분 · 공통 위험 토론 8분</a:t>
            </a:r>
          </a:p>
          <a:p/>
          <a:p>
            <a:r>
              <a:t>[설명 원고]</a:t>
            </a:r>
          </a:p>
          <a:p>
            <a:r>
              <a:t>앞의 100만 원 계좌에서 한빛식품 20만 원이 +10%, ETF 50만 원이 −4%, 현금 30만 원은 그대로라고 가정합니다. 기간 중 입출금·배당·비용·매매는 없습니다. 종목 수익률을 평균 낼 것이 아니라 각 금액의 변화를 계산합니다. 한빛식품 22만 원, ETF 48만 원, 현금 30만 원으로 기말 합계는 100만 원입니다.</a:t>
            </a:r>
          </a:p>
          <a:p/>
          <a:p>
            <a:r>
              <a:t>전체 수익률은 0%이며 시작 비중으로 검산하면 20%×10%+50%×(−4%)+30%×0%=0%입니다. 하지만 현재 비중은 22%·48%·30%로 바뀌었습니다. 전체 자산이 그대로여도 구성은 달라질 수 있습니다. 과거 비중 20%·50%를 현재 비중이라고 계속 표시하면 다음 판단에 사용하는 노출이 틀려집니다.</a:t>
            </a:r>
          </a:p>
          <a:p/>
          <a:p>
            <a:r>
              <a:t>ETF 내부 한빛식품 비중도 가격 변화로 달라질 수 있으므로 앞의 10%를 무조건 유지하지 않습니다. 예를 들어 새 구성 자료가 11%라고 제시했다면 현재 간접 노출은 48만×11%=52,800원입니다. 직접 220,000원과 합쳐 272,800원, 전체의 27.28%입니다. 이 11%는 추가로 주어진 가정이며 이전 ETF 수익률만으로 계산해 낸 값은 아닙니다.</a:t>
            </a:r>
          </a:p>
          <a:p/>
          <a:p>
            <a:r>
              <a:t>원래 직접 비중 20%로 돌아가는 금액 계산은 22만−20만=2만 원 차이입니다. 하지만 실제 조정은 주식 단위, 비용, 계획의 유효성 등을 확인해야 하므로 바로 매도 지시로 사용하지 않습니다. 완성 기록은 ‘계좌 수익률은 0%지만 같은 기업 노출이 새 구성 가정에서 27.28%로 바뀌었다. 목표와 현재 구성을 비교하고 조정 여부의 이유를 적는다’입니다.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Investor.gov · 자산배분과 분산투자</a:t>
            </a:r>
          </a:p>
          <a:p>
            <a:r>
              <a:t>https://www.investor.gov/introduction-investing/getting-started/asset-allocation</a:t>
            </a:r>
          </a:p>
          <a:p>
            <a:r>
              <a:t>Investor.gov · ETF 이해하기</a:t>
            </a:r>
          </a:p>
          <a:p>
            <a:r>
              <a:t>https://www.investor.gov/introduction-investing/investing-basics/investment-products/mutual-funds-and-exchange-traded-2</a:t>
            </a:r>
          </a:p>
          <a:p>
            <a:r>
              <a:t>FINRA · 수수료와 비용</a:t>
            </a:r>
          </a:p>
          <a:p>
            <a:r>
              <a:t>https://www.finra.org/investors/investing/investing-basics/fees-commissions</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가상 포트폴리오 한 장과 구성 이유, 집중 위험 2개, 점검 기준을 작성합니다.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승률·손익·낙폭을 함께 읽고</a:t>
            </a:r>
          </a:p>
          <a:p>
            <a:r>
              <a:t>다음 주문에서 바꿀 행동을 찾습니다.</a:t>
            </a:r>
          </a:p>
          <a:p/>
          <a:p>
            <a:r>
              <a:t>[권장 진행]</a:t>
            </a:r>
          </a:p>
          <a:p>
            <a:r>
              <a:t>도입 5분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거래 후 알게 된 정보를 주문 전 근거에 나중에 끼워 넣지 않습니다.</a:t>
            </a:r>
          </a:p>
          <a:p/>
          <a:p>
            <a:r>
              <a:t>[권장 진행]</a:t>
            </a:r>
          </a:p>
          <a:p>
            <a:r>
              <a:t>설명 4분 · 질문 2분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이익 합계 3만 원 − 손실 5만 원 − 비용 2천 원 = −2만2천 원</a:t>
            </a:r>
          </a:p>
          <a:p/>
          <a:p>
            <a:r>
              <a:t>[권장 진행]</a:t>
            </a:r>
          </a:p>
          <a:p>
            <a:r>
              <a:t>설명 4분 · 질문 2분</a:t>
            </a:r>
          </a:p>
          <a:p/>
          <a:p>
            <a:r>
              <a:t>[설명 원고]</a:t>
            </a:r>
          </a:p>
          <a:p>
            <a:r>
              <a:t>가상으로 완료된 거래 네 건의 실현손익은 +10,000원, +12,000원, +8,000원, −50,000원입니다. 제시된 손익에는 비용이 아직 포함되지 않았고 별도 합계 비용은 2,000원입니다. 보유 중인 종목은 없으며 손익분기 거래도 없습니다. 이 조건을 먼저 적어 미실현손익이나 이미 반영한 비용을 나중에 섞지 않습니다.</a:t>
            </a:r>
          </a:p>
          <a:p/>
          <a:p>
            <a:r>
              <a:t>이익 거래가 3건이므로 승률은 3÷4=75%입니다. 총이익은 30,000원, 총손실 절댓값은 50,000원으로 비용 전 순손익은 −20,000원, 비용 후에는 −22,000원입니다. 이익 거래 평균은 30,000÷3=10,000원, 손실 거래 평균은 50,000÷1=50,000원입니다. 한 번의 손실이 평균 이익 다섯 번의 크기라는 설명을 붙이면 승률만으로 보이지 않던 규모가 드러납니다.</a:t>
            </a:r>
          </a:p>
          <a:p/>
          <a:p>
            <a:r>
              <a:t>이 기록의 비용 전 거래당 평균은 0.75×10,000−0.25×50,000=−5,000원입니다. 총손익 −20,000원을 네 건으로 나누어도 같습니다. 비용 후 평균은 −22,000÷4=−5,500원입니다. 총이익÷총손실 절댓값은 0.6이지만 이것을 승률 60%라고 부르지 않습니다. 각 지표의 분자와 분모가 다릅니다.</a:t>
            </a:r>
          </a:p>
          <a:p/>
          <a:p>
            <a:r>
              <a:t>완성 해석: ‘승률은 75%지만 한 건의 5만 원 손실이 세 건의 이익 3만 원을 초과해 비용 후 2만2천 원 손실이다. 거래별 투입 금액·기간과 주문 전 가정을 더 확인한다.’ 이 네 건만으로 전략의 미래 승률이나 적정 매수 규모를 확정하지 않습니다. 주문별 자금 규모가 달랐다면 왜 큰 손실 거래에 그 금액이 들어갔는지도 복기 질문에 넣습니다.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한 번의 손실 규모가 평균 이익 다섯 번과 같습니다.</a:t>
            </a:r>
          </a:p>
          <a:p/>
          <a:p>
            <a:r>
              <a:t>[권장 진행]</a:t>
            </a:r>
          </a:p>
          <a:p>
            <a:r>
              <a:t>설명 4분 · 질문 2분</a:t>
            </a:r>
          </a:p>
          <a:p/>
          <a:p>
            <a:r>
              <a:t>[설명 원고]</a:t>
            </a:r>
          </a:p>
          <a:p>
            <a:r>
              <a:t>가상으로 완료된 거래 네 건의 실현손익은 +10,000원, +12,000원, +8,000원, −50,000원입니다. 제시된 손익에는 비용이 아직 포함되지 않았고 별도 합계 비용은 2,000원입니다. 보유 중인 종목은 없으며 손익분기 거래도 없습니다. 이 조건을 먼저 적어 미실현손익이나 이미 반영한 비용을 나중에 섞지 않습니다.</a:t>
            </a:r>
          </a:p>
          <a:p/>
          <a:p>
            <a:r>
              <a:t>이익 거래가 3건이므로 승률은 3÷4=75%입니다. 총이익은 30,000원, 총손실 절댓값은 50,000원으로 비용 전 순손익은 −20,000원, 비용 후에는 −22,000원입니다. 이익 거래 평균은 30,000÷3=10,000원, 손실 거래 평균은 50,000÷1=50,000원입니다. 한 번의 손실이 평균 이익 다섯 번의 크기라는 설명을 붙이면 승률만으로 보이지 않던 규모가 드러납니다.</a:t>
            </a:r>
          </a:p>
          <a:p/>
          <a:p>
            <a:r>
              <a:t>이 기록의 비용 전 거래당 평균은 0.75×10,000−0.25×50,000=−5,000원입니다. 총손익 −20,000원을 네 건으로 나누어도 같습니다. 비용 후 평균은 −22,000÷4=−5,500원입니다. 총이익÷총손실 절댓값은 0.6이지만 이것을 승률 60%라고 부르지 않습니다. 각 지표의 분자와 분모가 다릅니다.</a:t>
            </a:r>
          </a:p>
          <a:p/>
          <a:p>
            <a:r>
              <a:t>완성 해석: ‘승률은 75%지만 한 건의 5만 원 손실이 세 건의 이익 3만 원을 초과해 비용 후 2만2천 원 손실이다. 거래별 투입 금액·기간과 주문 전 가정을 더 확인한다.’ 이 네 건만으로 전략의 미래 승률이나 적정 매수 규모를 확정하지 않습니다. 주문별 자금 규모가 달랐다면 왜 큰 손실 거래에 그 금액이 들어갔는지도 복기 질문에 넣습니다.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이 기록의 평균입니다. 미래에도 같은 승률과 손익 규모가 반복된다는 뜻은 아닙니다.</a:t>
            </a:r>
          </a:p>
          <a:p/>
          <a:p>
            <a:r>
              <a:t>[권장 진행]</a:t>
            </a:r>
          </a:p>
          <a:p>
            <a:r>
              <a:t>설명 4분 · 질문 2분</a:t>
            </a:r>
          </a:p>
          <a:p/>
          <a:p>
            <a:r>
              <a:t>[설명 원고]</a:t>
            </a:r>
          </a:p>
          <a:p>
            <a:r>
              <a:t>가상으로 완료된 거래 네 건의 실현손익은 +10,000원, +12,000원, +8,000원, −50,000원입니다. 제시된 손익에는 비용이 아직 포함되지 않았고 별도 합계 비용은 2,000원입니다. 보유 중인 종목은 없으며 손익분기 거래도 없습니다. 이 조건을 먼저 적어 미실현손익이나 이미 반영한 비용을 나중에 섞지 않습니다.</a:t>
            </a:r>
          </a:p>
          <a:p/>
          <a:p>
            <a:r>
              <a:t>이익 거래가 3건이므로 승률은 3÷4=75%입니다. 총이익은 30,000원, 총손실 절댓값은 50,000원으로 비용 전 순손익은 −20,000원, 비용 후에는 −22,000원입니다. 이익 거래 평균은 30,000÷3=10,000원, 손실 거래 평균은 50,000÷1=50,000원입니다. 한 번의 손실이 평균 이익 다섯 번의 크기라는 설명을 붙이면 승률만으로 보이지 않던 규모가 드러납니다.</a:t>
            </a:r>
          </a:p>
          <a:p/>
          <a:p>
            <a:r>
              <a:t>이 기록의 비용 전 거래당 평균은 0.75×10,000−0.25×50,000=−5,000원입니다. 총손익 −20,000원을 네 건으로 나누어도 같습니다. 비용 후 평균은 −22,000÷4=−5,500원입니다. 총이익÷총손실 절댓값은 0.6이지만 이것을 승률 60%라고 부르지 않습니다. 각 지표의 분자와 분모가 다릅니다.</a:t>
            </a:r>
          </a:p>
          <a:p/>
          <a:p>
            <a:r>
              <a:t>완성 해석: ‘승률은 75%지만 한 건의 5만 원 손실이 세 건의 이익 3만 원을 초과해 비용 후 2만2천 원 손실이다. 거래별 투입 금액·기간과 주문 전 가정을 더 확인한다.’ 이 네 건만으로 전략의 미래 승률이나 적정 매수 규모를 확정하지 않습니다. 주문별 자금 규모가 달랐다면 왜 큰 손실 거래에 그 금액이 들어갔는지도 복기 질문에 넣습니다.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최대 낙폭은 (120−90) ÷ 120 = 25%. 시작점 대비 −10%와 다릅니다.</a:t>
            </a:r>
          </a:p>
          <a:p/>
          <a:p>
            <a:r>
              <a:t>[권장 진행]</a:t>
            </a:r>
          </a:p>
          <a:p>
            <a:r>
              <a:t>설명 4분 · 질문 2분</a:t>
            </a:r>
          </a:p>
          <a:p/>
          <a:p>
            <a:r>
              <a:t>[설명 원고]</a:t>
            </a:r>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입금 직전·직후 평가가 정확히 주어진 가상 사례입니다.</a:t>
            </a:r>
          </a:p>
          <a:p/>
          <a:p>
            <a:r>
              <a:t>[권장 진행]</a:t>
            </a:r>
          </a:p>
          <a:p>
            <a:r>
              <a:t>설명 4분 · 질문 2분</a:t>
            </a:r>
          </a:p>
          <a:p/>
          <a:p>
            <a:r>
              <a:t>[설명 원고]</a:t>
            </a:r>
          </a:p>
          <a:p>
            <a:r>
              <a:t>가상 계좌가 100만 원에서 120만 원으로 오른 직후 80만 원을 입금하고, 이후 180만 원이 됐다고 가정합니다. 비용·배당·다른 입출금은 없고 입금 직전 평가가 정확히 주어져 있습니다. 잔액은 시작보다 80% 늘었지만 80만 원의 외부 입금도 있었으므로 그 증가를 전부 투자 수익으로 쓰면 안 됩니다.</a:t>
            </a:r>
          </a:p>
          <a:p/>
          <a:p>
            <a:r>
              <a:t>입금 전 구간 수익률은 120÷100−1=20%입니다. 입금 직후 시작 금액은 200만 원이므로 다음 구간은 180÷200−1=−10%입니다. 경계에서 나눈 두 구간을 연결한 운용 수익률은 1.20×0.90−1=8%입니다. 금전적 손익은 180−100−80=0만 원입니다. 손실 구간에 더 많은 금액이 들어 있었으므로 연결 수익률과 금전적 손익은 다른 질문에 답합니다.</a:t>
            </a:r>
          </a:p>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손실 구간에 더 많은 돈이 들어 있었습니다. 잔액 증가 80%를 성과로 쓰지 않습니다.</a:t>
            </a:r>
          </a:p>
          <a:p/>
          <a:p>
            <a:r>
              <a:t>[권장 진행]</a:t>
            </a:r>
          </a:p>
          <a:p>
            <a:r>
              <a:t>설명 4분 · 질문 2분</a:t>
            </a:r>
          </a:p>
          <a:p/>
          <a:p>
            <a:r>
              <a:t>[설명 원고]</a:t>
            </a:r>
          </a:p>
          <a:p>
            <a:r>
              <a:t>가상 계좌가 100만 원에서 120만 원으로 오른 직후 80만 원을 입금하고, 이후 180만 원이 됐다고 가정합니다. 비용·배당·다른 입출금은 없고 입금 직전 평가가 정확히 주어져 있습니다. 잔액은 시작보다 80% 늘었지만 80만 원의 외부 입금도 있었으므로 그 증가를 전부 투자 수익으로 쓰면 안 됩니다.</a:t>
            </a:r>
          </a:p>
          <a:p/>
          <a:p>
            <a:r>
              <a:t>입금 전 구간 수익률은 120÷100−1=20%입니다. 입금 직후 시작 금액은 200만 원이므로 다음 구간은 180÷200−1=−10%입니다. 경계에서 나눈 두 구간을 연결한 운용 수익률은 1.20×0.90−1=8%입니다. 금전적 손익은 180−100−80=0만 원입니다. 손실 구간에 더 많은 금액이 들어 있었으므로 연결 수익률과 금전적 손익은 다른 질문에 답합니다.</a:t>
            </a:r>
          </a:p>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사람을 평가하기보다 수정 가능한 기록과 행동을 찾습니다.</a:t>
            </a:r>
          </a:p>
          <a:p/>
          <a:p>
            <a:r>
              <a:t>[권장 진행]</a:t>
            </a:r>
          </a:p>
          <a:p>
            <a:r>
              <a:t>개별 복기 7분 · 동료 피드백 8분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과정 평가는 손실을 지우는 설명이 아니라 다음 판단을 개선하는 기록입니다.</a:t>
            </a:r>
          </a:p>
          <a:p/>
          <a:p>
            <a:r>
              <a:t>[권장 진행]</a:t>
            </a:r>
          </a:p>
          <a:p>
            <a:r>
              <a:t>설명 4분 · 질문 2분</a:t>
            </a:r>
          </a:p>
          <a:p/>
          <a:p>
            <a:r>
              <a:t>[설명 원고]</a:t>
            </a:r>
          </a:p>
          <a:p>
            <a:r>
              <a:t>한빛식품에 대한 주문 전 가상 메모를 그대로 보존합니다. ‘매출이 늘면 이익도 늘 것이라고 가정했다. 확인 자료는 매출 100→120억 원이며 원가와 현금은 아직 확인하지 못했다.’ 이 메모는 조사에 빈칸이 있음을 보여 줍니다. 거래가 끝난 뒤 다른 이유를 덧붙여 원래부터 알고 있었다고 고치면 무엇을 개선해야 하는지 찾을 수 없습니다.</a:t>
            </a:r>
          </a:p>
          <a:p/>
          <a:p>
            <a:r>
              <a:t>3주차에 확인한 숫자를 결과 칸에 넣습니다. 매출 +20%, 영업이익 −20%, 원가율 60%→65%, 판관비율 25% 유지입니다. 가정과 다른 지점은 ‘매출 성장만으로 이익 성장을 예상했다’입니다. 다음 행동은 가격 전망을 더 강하게 말하는 것이 아니라 매출과 함께 원가율·이익률을 계산하고 원가율 상승의 설명을 찾아보는 것입니다.</a:t>
            </a:r>
          </a:p>
          <a:p/>
          <a:p>
            <a:r>
              <a:t>이 거래가 우연히 수익으로 끝났더라도 사업 가설의 빈칸은 그대로입니다. 반대로 사업 가설을 충분히 확인했는데 가격이 하락했다고 모든 조사 과정이 틀린 것도 아닙니다. 과정 평가에는 비교 범위·근거·수량 확인을, 결과 평가에는 실제 손익과 비용을 적습니다. 두 칸을 분리하되 손실을 과정 설명으로 지워 버리지 않습니다.</a:t>
            </a:r>
          </a:p>
          <a:p/>
          <a:p>
            <a:r>
              <a:t>완성 복기 문장: ‘매출 성장 자료만 확인한 채 이익 성장으로 확대 해석했다. 이후 원가율 상승과 영업이익 감소를 확인했다. 다음 모의 주문에서는 매출과 영업이익률을 함께 기록하고 원가 변화 설명이 없으면 미확인으로 표시한다.’ ‘운이 나빴다’나 ‘더 신중하게’보다 다음 주문에서 확인할 수 있는 구체적인 개선입니다.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같은 이름의 지표라도 집계 기준이 다르면 같은 값으로 비교할 수 없습니다.</a:t>
            </a:r>
          </a:p>
          <a:p/>
          <a:p>
            <a:r>
              <a:t>[권장 진행]</a:t>
            </a:r>
          </a:p>
          <a:p>
            <a:r>
              <a:t>설명 4분 · 질문 2분</a:t>
            </a:r>
          </a:p>
          <a:p/>
          <a:p>
            <a:r>
              <a:t>[설명 원고]</a:t>
            </a:r>
          </a:p>
          <a:p>
            <a:r>
              <a:t>가상 계좌가 100만 원에서 120만 원으로 오른 직후 80만 원을 입금하고, 이후 180만 원이 됐다고 가정합니다. 비용·배당·다른 입출금은 없고 입금 직전 평가가 정확히 주어져 있습니다. 잔액은 시작보다 80% 늘었지만 80만 원의 외부 입금도 있었으므로 그 증가를 전부 투자 수익으로 쓰면 안 됩니다.</a:t>
            </a:r>
          </a:p>
          <a:p/>
          <a:p>
            <a:r>
              <a:t>입금 전 구간 수익률은 120÷100−1=20%입니다. 입금 직후 시작 금액은 200만 원이므로 다음 구간은 180÷200−1=−10%입니다. 경계에서 나눈 두 구간을 연결한 운용 수익률은 1.20×0.90−1=8%입니다. 금전적 손익은 180−100−80=0만 원입니다. 손실 구간에 더 많은 금액이 들어 있었으므로 연결 수익률과 금전적 손익은 다른 질문에 답합니다.</a:t>
            </a:r>
          </a:p>
          <a:p/>
          <a:p>
            <a:r>
              <a:t>낙폭은 별도의 입출금 없는 평가 경로 100→120→90→110을 읽어 봅니다. 고점 120에서 저점 90까지 (120−90)÷120=25% 내려갔습니다. 시작 대비 최저점은 −10%이지만 그것을 최대 낙폭 10%라고 쓰면 이전 고점에서의 하락을 놓칩니다. 최종 수익률은 +10%로, 중간 낙폭 25%와 동시에 성립합니다. 금액 단위는 같고 제시된 관측점만 사용합니다.</a:t>
            </a:r>
          </a:p>
          <a:p/>
          <a:p>
            <a:r>
              <a:t>계좌 화면에서 기록을 옮길 때는 지표명, 시작·종료 시각, 입출금 처리, 관측 간격을 적습니다. 완성 문장: ‘입금 전후 평가로 연결한 수익률은 8%, 금전적 손익은 0원이다. 낙폭 예시는 별도 입출금 없는 경로에서 25%다.’ 입금 전후 평가가 없거나 앱의 집계 기준이 다르면 같은 결과가 나오는 척하지 말고 필요한 자료와 기준 차이를 명시합니다.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FINRA · 수수료와 비용</a:t>
            </a:r>
          </a:p>
          <a:p>
            <a:r>
              <a:t>https://www.finra.org/investors/investing/investing-basics/fees-commissions</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최종 발표에 사용할 투자 기록 2건과 수정한 원칙 3개를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하나의 질문, 검산 가능한 숫자,</a:t>
            </a:r>
          </a:p>
          <a:p>
            <a:r>
              <a:t>반대 조건이 있는 최종 발표를 만듭니다.</a:t>
            </a:r>
          </a:p>
          <a:p/>
          <a:p>
            <a:r>
              <a:t>[권장 진행]</a:t>
            </a:r>
          </a:p>
          <a:p>
            <a:r>
              <a:t>도입 5분</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각 표와 사례가 이 질문에 어떤 답을 주는지 설명합니다.</a:t>
            </a:r>
          </a:p>
          <a:p/>
          <a:p>
            <a:r>
              <a:t>[권장 진행]</a:t>
            </a:r>
          </a:p>
          <a:p>
            <a:r>
              <a:t>설명 4분 · 질문 2분</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자료를 많이 나열하기보다 질문 → 근거 → 해석 → 다음 행동으로 연결합니다.</a:t>
            </a:r>
          </a:p>
          <a:p/>
          <a:p>
            <a:r>
              <a:t>[권장 진행]</a:t>
            </a:r>
          </a:p>
          <a:p>
            <a:r>
              <a:t>개요 작성 8분 · 짝에게 1분 설명</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매출 증가와 수익성 개선을 같은 의미로 사용하지 않습니다.</a:t>
            </a:r>
          </a:p>
          <a:p/>
          <a:p>
            <a:r>
              <a:t>[권장 진행]</a:t>
            </a:r>
          </a:p>
          <a:p>
            <a:r>
              <a:t>설명 4분 · 질문 2분</a:t>
            </a:r>
          </a:p>
          <a:p/>
          <a:p>
            <a:r>
              <a:t>[설명 원고]</a:t>
            </a:r>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기간·계산 기준·계약 조건을 숫자와 같은 화면에 표시합니다.</a:t>
            </a:r>
          </a:p>
          <a:p/>
          <a:p>
            <a:r>
              <a:t>[권장 진행]</a:t>
            </a:r>
          </a:p>
          <a:p>
            <a:r>
              <a:t>설명 4분 · 질문 2분</a:t>
            </a:r>
          </a:p>
          <a:p/>
          <a:p>
            <a:r>
              <a:t>[설명 원고]</a:t>
            </a:r>
          </a:p>
          <a:p>
            <a:r>
              <a:t>슬라이드 초안에 ‘한빛식품, 매출 120억, PER 20배, 계약 30억 호재’라고만 적혀 있다고 해 보겠습니다. 매출의 기간과 단위 범위, PER의 EPS 기준, 계약의 기간과 조건이 빠져 있습니다. 듣는 사람은 세 숫자가 같은 시점에 같은 수준으로 확정된 사실이라고 오해할 수 있습니다. 숫자마다 무엇을 측정하는지 표시해야 합니다.</a:t>
            </a:r>
          </a:p>
          <a:p/>
          <a:p>
            <a:r>
              <a:t>수정 표에는 ‘2025년 연간 연결 가상 매출 120억 원’, ‘가정 주가 20,000원 / 2025년 EPS 800원 = PER 25배’, ‘다음 해 12개월 공급계약 금액 30억 원 / 요청 물량 조건’이라고 씁니다. 이전 EPS 1,000원을 사용한 PER 20배는 다른 기준임을 별도로 표시합니다. 실제 기업 발표라면 각 행 근처에 원문 링크·표 제목·확인일을 넣어 다른 사람이 동일 자료를 찾을 수 있게 합니다.</a:t>
            </a:r>
          </a:p>
          <a:p/>
          <a:p>
            <a:r>
              <a:t>청중에게 표를 보여 준 뒤 ‘매출은 기간 성과, PER는 이익 대비 가격, 계약은 정해진 조건의 금액이라 서로 바로 더할 수 없다’고 설명합니다. 가격 차트에는 기간과 축을 표시하고, 뉴스 시각은 해당 사건과 맞춥니다. 발표자가 알아보는 축약어만 쓰지 말고 EPS를 처음 사용할 때 ‘보통주 한 주에 해당하는 이익’이라고 정의한 뒤 식을 설명합니다.</a:t>
            </a:r>
          </a:p>
          <a:p/>
          <a:p>
            <a:r>
              <a:t>제출 전 점검 예시: 120억이 백만 원 단위 12,000에서 올바르게 환산됐는가? 800원 EPS와 25배 PER가 맞는가? 계약 30억을 매출에 미리 더하지 않았는가? 가상 자료가 실제 공시처럼 보이지 않는가? 한 항목이라도 설명하지 못하면 숫자를 더 넣기보다 그 기준부터 수정합니다. 원문이 없는 이 수업의 가상 수치는 출처를 만들어 붙이지 않습니다.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판단 유보도 근거와 다음 확인 항목이 있으면 설명 가능한 결론입니다.</a:t>
            </a:r>
          </a:p>
          <a:p/>
          <a:p>
            <a:r>
              <a:t>[권장 진행]</a:t>
            </a:r>
          </a:p>
          <a:p>
            <a:r>
              <a:t>설명 4분 · 질문 2분</a:t>
            </a:r>
          </a:p>
          <a:p/>
          <a:p>
            <a:r>
              <a:t>[설명 원고]</a:t>
            </a:r>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모르는 숫자를 즉석에서 만들어 답하지 않습니다.</a:t>
            </a:r>
          </a:p>
          <a:p/>
          <a:p>
            <a:r>
              <a:t>[권장 진행]</a:t>
            </a:r>
          </a:p>
          <a:p>
            <a:r>
              <a:t>설명 4분 · 질문 2분</a:t>
            </a:r>
          </a:p>
          <a:p/>
          <a:p>
            <a:r>
              <a:t>[설명 원고]</a:t>
            </a:r>
          </a:p>
          <a:p>
            <a:r>
              <a:t>질문 1: ‘매출이 20% 늘었는데 왜 긍정적으로 보지 않나요?’ 답변 원고: ‘매출 증가 자체는 확인했습니다. 다만 영업이익은 20% 줄고 원가율은 5%포인트 높아졌습니다. 그래서 매출 증가와 수익성 개선을 나누어 설명한 것입니다. 비용 증가 원인을 확인하면 평가가 달라질 수 있습니다.’ 사실을 부정하지 않으면서 결론의 범위를 분명히 합니다.</a:t>
            </a:r>
          </a:p>
          <a:p/>
          <a:p>
            <a:r>
              <a:t>질문 2: ‘30억 원 계약이면 이익도 30억 원 늘지 않나요?’ 답변 원고: ‘계약 대금과 이익은 다릅니다. 실제 공급 시점, 신규 물량 여부, 그 물량을 공급하는 비용이 필요합니다. 제시한 가상 문장에는 모두 없어서 추가 이익을 계산하지 않았습니다.’ 모르는 이익률을 임의로 넣어 확정 이익처럼 답하지 않습니다.</a:t>
            </a:r>
          </a:p>
          <a:p/>
          <a:p>
            <a:r>
              <a:t>질문 3: ‘그래서 내일 오릅니까?’ 답변 원고: ‘이번 자료로 내일 가격을 확정할 수는 없습니다. 저는 사업과 평가 가정을 검토했습니다. 순이익 10억에 20배를 적용하면 2만 원, 25배면 2만5천 원으로 가정에 따라 결과가 달라집니다.’ 질문의 형태에 맞추려고 불확실한 예측을 확정 답변으로 바꾸지 않습니다.</a:t>
            </a:r>
          </a:p>
          <a:p/>
          <a:p>
            <a:r>
              <a:t>발표 뒤 남길 실제 개선 문장은 ‘다음 모의 주문부터 매출·원가율·영업이익률을 같은 비교표에 적고, 뉴스가 근거면 원문 시각·기간·조건을 함께 기록한다’입니다. 동료 피드백은 ‘PER 기준이 섞였다’처럼 고칠 항목으로 적고 해당 표를 수정합니다. ‘잘했다’나 ‘더 공부하자’만 남기면 다음 행동을 확인할 수 없으므로 수정한 문장과 확인할 자료까지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수익률 순위를 발표 품질의 점수로 사용하지 않습니다.</a:t>
            </a:r>
          </a:p>
          <a:p/>
          <a:p>
            <a:r>
              <a:t>[권장 진행]</a:t>
            </a:r>
          </a:p>
          <a:p>
            <a:r>
              <a:t>설명 4분 · 질문 2분</a:t>
            </a:r>
          </a:p>
          <a:p/>
          <a:p>
            <a:r>
              <a:t>[설명 원고]</a:t>
            </a:r>
          </a:p>
          <a:p>
            <a:r>
              <a:t>질문 1: ‘매출이 20% 늘었는데 왜 긍정적으로 보지 않나요?’ 답변 원고: ‘매출 증가 자체는 확인했습니다. 다만 영업이익은 20% 줄고 원가율은 5%포인트 높아졌습니다. 그래서 매출 증가와 수익성 개선을 나누어 설명한 것입니다. 비용 증가 원인을 확인하면 평가가 달라질 수 있습니다.’ 사실을 부정하지 않으면서 결론의 범위를 분명히 합니다.</a:t>
            </a:r>
          </a:p>
          <a:p/>
          <a:p>
            <a:r>
              <a:t>질문 2: ‘30억 원 계약이면 이익도 30억 원 늘지 않나요?’ 답변 원고: ‘계약 대금과 이익은 다릅니다. 실제 공급 시점, 신규 물량 여부, 그 물량을 공급하는 비용이 필요합니다. 제시한 가상 문장에는 모두 없어서 추가 이익을 계산하지 않았습니다.’ 모르는 이익률을 임의로 넣어 확정 이익처럼 답하지 않습니다.</a:t>
            </a:r>
          </a:p>
          <a:p/>
          <a:p>
            <a:r>
              <a:t>질문 3: ‘그래서 내일 오릅니까?’ 답변 원고: ‘이번 자료로 내일 가격을 확정할 수는 없습니다. 저는 사업과 평가 가정을 검토했습니다. 순이익 10억에 20배를 적용하면 2만 원, 25배면 2만5천 원으로 가정에 따라 결과가 달라집니다.’ 질문의 형태에 맞추려고 불확실한 예측을 확정 답변으로 바꾸지 않습니다.</a:t>
            </a:r>
          </a:p>
          <a:p/>
          <a:p>
            <a:r>
              <a:t>발표 뒤 남길 실제 개선 문장은 ‘다음 모의 주문부터 매출·원가율·영업이익률을 같은 비교표에 적고, 뉴스가 근거면 원문 시각·기간·조건을 함께 기록한다’입니다. 동료 피드백은 ‘PER 기준이 섞였다’처럼 고칠 항목으로 적고 해당 표를 수정합니다. ‘잘했다’나 ‘더 공부하자’만 남기면 다음 행동을 확인할 수 없으므로 수정한 문장과 확인할 자료까지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발표자 노트의 완성 원고를 참고하고 자신의 조사 자료로 바꾸어 설명합니다.</a:t>
            </a:r>
          </a:p>
          <a:p/>
          <a:p>
            <a:r>
              <a:t>[권장 진행]</a:t>
            </a:r>
          </a:p>
          <a:p>
            <a:r>
              <a:t>개인 5분 발표 · 피드백 3분 / 인원에 따라 조별 진행</a:t>
            </a:r>
          </a:p>
          <a:p/>
          <a:p>
            <a:r>
              <a:t>[설명 원고]</a:t>
            </a:r>
          </a:p>
          <a:p>
            <a:r>
              <a:t>도입 원고: ‘오늘의 질문은 한빛식품의 매출 증가가 투자 판단을 뒷받침하는가입니다. 한빛식품은 수업용 가상 기업이고 모든 수치는 같은 연간·연결 기준의 예시입니다. 저는 처음에는 매출 증가를 이익 성장으로 생각했지만, 원가와 현금을 확인한 뒤 판단을 수정했습니다.’ 먼저 무엇을 검토했고 어떤 범위의 자료인지 밝히면 청중이 결론의 조건을 이해할 수 있습니다.</a:t>
            </a:r>
          </a:p>
          <a:p/>
          <a:p>
            <a:r>
              <a:t>사업과 실적 설명 원고: ‘이 회사는 편의점에 간편식을 납품합니다. 매출은 100억에서 120억으로 20% 증가했지만 영업이익은 15억에서 12억으로 20% 감소했습니다. 원가율이 60%에서 65%로 높아졌고 판관비율은 25%로 같습니다. 따라서 매출 증가만으로 수익성이 좋아졌다고 말할 수 없습니다. 원가 상승의 구체적 이유는 추가 조사할 항목입니다.’ 숫자에서 확인하지 못한 원재료 가격 상승을 확정 사실로 삽입하지 않습니다.</a:t>
            </a:r>
          </a:p>
          <a:p/>
          <a:p>
            <a:r>
              <a:t>가격과 뉴스 설명 원고: ‘같은 2만 원 주가에서 순이익 감소로 EPS가 1,000원에서 800원으로 줄어 PER가 20배에서 25배로 높아졌습니다. 또한 30억 원 계약은 기존 연매출의 25% 규모지만 다음 해 공급 조건이 있어 올해 매출 증가액으로 바로 더하지 않았습니다. 이익 회복과 계약 이행을 확인해야 합니다.’ 앞선 주차의 계산을 재사용하되 서로 다른 기간의 숫자를 같은 기간처럼 읽지 않습니다.</a:t>
            </a:r>
          </a:p>
          <a:p/>
          <a:p>
            <a:r>
              <a:t>결론 원고: ‘저의 결론은 지금의 자료만으로 매출 성장이나 계약 금액을 곧바로 이익 성장과 주가 상승으로 연결할 수 없다는 것입니다. 원가율 변화의 설명, 외상대금 회수, 계약의 신규 물량과 인식 시점을 확인하겠습니다. 다음 판단에서는 매출·이익률·현금·평가 기준을 함께 기록하겠습니다.’ 특정 종목을 사라고 설득하는 말 대신 확인한 범위와 다음 행동으로 마무리합니다.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8주 동안 배운 내용을 다음 의사결정에서 확인 가능한 행동으로 연결합니다.</a:t>
            </a:r>
          </a:p>
          <a:p/>
          <a:p>
            <a:r>
              <a:t>[권장 진행]</a:t>
            </a:r>
          </a:p>
          <a:p>
            <a:r>
              <a:t>설명 4분 · 질문 2분</a:t>
            </a:r>
          </a:p>
          <a:p/>
          <a:p>
            <a:r>
              <a:t>[설명 원고]</a:t>
            </a:r>
          </a:p>
          <a:p>
            <a:r>
              <a:t>질문 1: ‘매출이 20% 늘었는데 왜 긍정적으로 보지 않나요?’ 답변 원고: ‘매출 증가 자체는 확인했습니다. 다만 영업이익은 20% 줄고 원가율은 5%포인트 높아졌습니다. 그래서 매출 증가와 수익성 개선을 나누어 설명한 것입니다. 비용 증가 원인을 확인하면 평가가 달라질 수 있습니다.’ 사실을 부정하지 않으면서 결론의 범위를 분명히 합니다.</a:t>
            </a:r>
          </a:p>
          <a:p/>
          <a:p>
            <a:r>
              <a:t>질문 2: ‘30억 원 계약이면 이익도 30억 원 늘지 않나요?’ 답변 원고: ‘계약 대금과 이익은 다릅니다. 실제 공급 시점, 신규 물량 여부, 그 물량을 공급하는 비용이 필요합니다. 제시한 가상 문장에는 모두 없어서 추가 이익을 계산하지 않았습니다.’ 모르는 이익률을 임의로 넣어 확정 이익처럼 답하지 않습니다.</a:t>
            </a:r>
          </a:p>
          <a:p/>
          <a:p>
            <a:r>
              <a:t>질문 3: ‘그래서 내일 오릅니까?’ 답변 원고: ‘이번 자료로 내일 가격을 확정할 수는 없습니다. 저는 사업과 평가 가정을 검토했습니다. 순이익 10억에 20배를 적용하면 2만 원, 25배면 2만5천 원으로 가정에 따라 결과가 달라집니다.’ 질문의 형태에 맞추려고 불확실한 예측을 확정 답변으로 바꾸지 않습니다.</a:t>
            </a:r>
          </a:p>
          <a:p/>
          <a:p>
            <a:r>
              <a:t>발표 뒤 남길 실제 개선 문장은 ‘다음 모의 주문부터 매출·원가율·영업이익률을 같은 비교표에 적고, 뉴스가 근거면 원문 시각·기간·조건을 함께 기록한다’입니다. 동료 피드백은 ‘PER 기준이 섞였다’처럼 고칠 항목으로 적고 해당 표를 수정합니다. ‘잘했다’나 ‘더 공부하자’만 남기면 다음 행동을 확인할 수 없으므로 수정한 문장과 확인할 자료까지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공시 검색</a:t>
            </a:r>
          </a:p>
          <a:p>
            <a:r>
              <a:t>https://dart.fss.or.kr/dsab007/main.do</a:t>
            </a:r>
          </a:p>
          <a:p>
            <a:r>
              <a:t>Investor.gov · 자산배분과 분산투자</a:t>
            </a:r>
          </a:p>
          <a:p>
            <a:r>
              <a:t>https://www.investor.gov/introduction-investing/getting-started/asset-allocation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최종 자료를 정리하고 다음 한 달 동안 점검할 학습 계획을 작성합니다.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vestor.gov/introduction-investing/getting-started/asset-allocation" TargetMode="External"/><Relationship Id="rId3" Type="http://schemas.openxmlformats.org/officeDocument/2006/relationships/hyperlink" Target="https://www.investor.gov/introduction-investing"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krx.co.kr/contents/OPN/01/01030205/OPN01030205T3T2.jsp" TargetMode="External"/><Relationship Id="rId3" Type="http://schemas.openxmlformats.org/officeDocument/2006/relationships/hyperlink" Target="https://www.finra.org/investors/investing/investing-basics/fees-commissions" TargetMode="External"/><Relationship Id="rId4" Type="http://schemas.openxmlformats.org/officeDocument/2006/relationships/hyperlink" Target="https://www.investor.gov/introduction-investing/general-resources/news-alerts/alerts-bulletins/investor-bulletins-14" TargetMode="Externa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introduction/content2.do" TargetMode="External"/><Relationship Id="rId3" Type="http://schemas.openxmlformats.org/officeDocument/2006/relationships/hyperlink" Target="https://dart.fss.or.kr/dsab007/main.do" TargetMode="External"/><Relationship Id="rId4" Type="http://schemas.openxmlformats.org/officeDocument/2006/relationships/hyperlink" Target="https://www.sec.gov/about/reports-publications/investorpubsbegfinstmtguide" TargetMode="Externa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introduction/content2.do" TargetMode="External"/><Relationship Id="rId3" Type="http://schemas.openxmlformats.org/officeDocument/2006/relationships/hyperlink" Target="https://dart.fss.or.kr/dsab007/main.do" TargetMode="External"/><Relationship Id="rId4" Type="http://schemas.openxmlformats.org/officeDocument/2006/relationships/hyperlink" Target="https://www.sec.gov/about/reports-publications/investorpubsbegfinstmtguide" TargetMode="Externa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dsab007/main.do" TargetMode="Externa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nvestor.gov/introduction-investing/getting-started/asset-allocation" TargetMode="External"/><Relationship Id="rId3" Type="http://schemas.openxmlformats.org/officeDocument/2006/relationships/hyperlink" Target="https://www.investor.gov/introduction-investing/investing-basics/investment-products/mutual-funds-and-exchange-traded-2" TargetMode="External"/><Relationship Id="rId4" Type="http://schemas.openxmlformats.org/officeDocument/2006/relationships/hyperlink" Target="https://www.finra.org/investors/investing/investing-basics/fees-commissions" TargetMode="Externa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nra.org/investors/investing/investing-basics/fees-commissions" TargetMode="External"/><Relationship Id="rId3" Type="http://schemas.openxmlformats.org/officeDocument/2006/relationships/hyperlink" Target="https://www.investor.gov/introduction-investing/getting-started/asset-allocation" TargetMode="Externa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dsab007/main.do" TargetMode="External"/><Relationship Id="rId3" Type="http://schemas.openxmlformats.org/officeDocument/2006/relationships/hyperlink" Target="https://www.investor.gov/introduction-investing/getting-started/asset-allocation" TargetMode="External"/><Relationship Id="rId4" Type="http://schemas.openxmlformats.org/officeDocument/2006/relationships/notesSlide" Target="../notesSlides/notesSlide9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01</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가격을 보기 전에,</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무엇을 사는지 이해하기</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주식의 의미와 계좌 수익률을</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하나의 가상 회사로 설명합니다.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01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오늘의 질문: 주식 10주를 사면 무엇을 갖게 되나요?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주식은 기업의 지분입니다. 매출의 일정 비율을 매일 받는 권리는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기업이 나눈 지분</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100만 주</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한빛식품의 보통주 수</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내가 산 주식</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10주</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주당 20,000원에 매수</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전체에서 내 몫</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0.001%</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10 ÷ 1,000,000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매출과 시가총액은 같은 단위, 다른 질문입니다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주가가 올라 시가총액이 커져도, 그만큼 매출이 생긴 것은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연간 매출</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120억 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한 해 동안 판매한 금액</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시가총액</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200억 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주가 20,000원 × 100만 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지분의 수익을 세 가지로 나누어 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가격 수익률과 배당·비용을 반영한 총수익률을 구분합니다.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가격 변화</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매매 차익</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팔거나 평가하는 가격의 변화</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현금 분배</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67964"/>
                </a:solidFill>
                <a:latin typeface="Noto Sans CJK KR"/>
                <a:ea typeface="Noto Sans CJK KR"/>
              </a:defRPr>
            </a:pPr>
            <a:r>
              <a:rPr>
                <a:ea typeface="Noto Sans CJK KR"/>
              </a:rPr>
              <a:t>배당</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실제로 받은 금액을 확인</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거래에 든 돈</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3667A1"/>
                </a:solidFill>
                <a:latin typeface="Noto Sans CJK KR"/>
                <a:ea typeface="Noto Sans CJK KR"/>
              </a:defRPr>
            </a:pPr>
            <a:r>
              <a:rPr>
                <a:ea typeface="Noto Sans CJK KR"/>
              </a:rPr>
              <a:t>비용</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이미 반영했는지 먼저 확인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계좌 100만 원 중 20만 원만 투자했습니다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기간 중 다른 거래·입출금 없음. 비용은 다른 금액에 아직 포함되지 않았습니다.</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계좌 전체의 돈과 이 종목에 넣은 돈을 따로 표시합니다.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24505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항목</a:t>
            </a:r>
          </a:p>
        </p:txBody>
      </p:sp>
      <p:sp>
        <p:nvSpPr>
          <p:cNvPr id="22" name="TextBox 21"/>
          <p:cNvSpPr txBox="1"/>
          <p:nvPr/>
        </p:nvSpPr>
        <p:spPr>
          <a:xfrm>
            <a:off x="3483864" y="2532888"/>
            <a:ext cx="3831335"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처음</a:t>
            </a:r>
          </a:p>
        </p:txBody>
      </p:sp>
      <p:sp>
        <p:nvSpPr>
          <p:cNvPr id="23" name="TextBox 22"/>
          <p:cNvSpPr txBox="1"/>
          <p:nvPr/>
        </p:nvSpPr>
        <p:spPr>
          <a:xfrm>
            <a:off x="7607808" y="2532888"/>
            <a:ext cx="3831335"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거래 종료 후</a:t>
            </a:r>
          </a:p>
        </p:txBody>
      </p:sp>
      <p:sp>
        <p:nvSpPr>
          <p:cNvPr id="24" name="Rectangle 23"/>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보유 주식</a:t>
            </a:r>
          </a:p>
        </p:txBody>
      </p:sp>
      <p:sp>
        <p:nvSpPr>
          <p:cNvPr id="26" name="TextBox 25"/>
          <p:cNvSpPr txBox="1"/>
          <p:nvPr/>
        </p:nvSpPr>
        <p:spPr>
          <a:xfrm>
            <a:off x="3483864" y="306324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10주 × 20,000원</a:t>
            </a:r>
          </a:p>
        </p:txBody>
      </p:sp>
      <p:sp>
        <p:nvSpPr>
          <p:cNvPr id="27" name="TextBox 26"/>
          <p:cNvSpPr txBox="1"/>
          <p:nvPr/>
        </p:nvSpPr>
        <p:spPr>
          <a:xfrm>
            <a:off x="7607808" y="306324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10주 × 19,000원 매도</a:t>
            </a:r>
          </a:p>
        </p:txBody>
      </p:sp>
      <p:sp>
        <p:nvSpPr>
          <p:cNvPr id="28" name="Rectangle 27"/>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035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대기 현금</a:t>
            </a:r>
          </a:p>
        </p:txBody>
      </p:sp>
      <p:sp>
        <p:nvSpPr>
          <p:cNvPr id="30" name="TextBox 29"/>
          <p:cNvSpPr txBox="1"/>
          <p:nvPr/>
        </p:nvSpPr>
        <p:spPr>
          <a:xfrm>
            <a:off x="3483864" y="377035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800,000원</a:t>
            </a:r>
          </a:p>
        </p:txBody>
      </p:sp>
      <p:sp>
        <p:nvSpPr>
          <p:cNvPr id="31" name="TextBox 30"/>
          <p:cNvSpPr txBox="1"/>
          <p:nvPr/>
        </p:nvSpPr>
        <p:spPr>
          <a:xfrm>
            <a:off x="7607808" y="377035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800,000원</a:t>
            </a:r>
          </a:p>
        </p:txBody>
      </p:sp>
      <p:sp>
        <p:nvSpPr>
          <p:cNvPr id="32" name="Rectangle 31"/>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7746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별도 배당</a:t>
            </a:r>
          </a:p>
        </p:txBody>
      </p:sp>
      <p:sp>
        <p:nvSpPr>
          <p:cNvPr id="34" name="TextBox 33"/>
          <p:cNvSpPr txBox="1"/>
          <p:nvPr/>
        </p:nvSpPr>
        <p:spPr>
          <a:xfrm>
            <a:off x="3483864" y="447746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a:t>
            </a:r>
          </a:p>
        </p:txBody>
      </p:sp>
      <p:sp>
        <p:nvSpPr>
          <p:cNvPr id="35" name="TextBox 34"/>
          <p:cNvSpPr txBox="1"/>
          <p:nvPr/>
        </p:nvSpPr>
        <p:spPr>
          <a:xfrm>
            <a:off x="7607808" y="447746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+1,000원</a:t>
            </a:r>
          </a:p>
        </p:txBody>
      </p:sp>
      <p:sp>
        <p:nvSpPr>
          <p:cNvPr id="36" name="Rectangle 35"/>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7" name="TextBox 36"/>
          <p:cNvSpPr txBox="1"/>
          <p:nvPr/>
        </p:nvSpPr>
        <p:spPr>
          <a:xfrm>
            <a:off x="740664" y="5184570"/>
            <a:ext cx="24505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별도 총비용</a:t>
            </a:r>
          </a:p>
        </p:txBody>
      </p:sp>
      <p:sp>
        <p:nvSpPr>
          <p:cNvPr id="38" name="TextBox 37"/>
          <p:cNvSpPr txBox="1"/>
          <p:nvPr/>
        </p:nvSpPr>
        <p:spPr>
          <a:xfrm>
            <a:off x="3483864" y="518457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아직 차감 전</a:t>
            </a:r>
          </a:p>
        </p:txBody>
      </p:sp>
      <p:sp>
        <p:nvSpPr>
          <p:cNvPr id="39" name="TextBox 38"/>
          <p:cNvSpPr txBox="1"/>
          <p:nvPr/>
        </p:nvSpPr>
        <p:spPr>
          <a:xfrm>
            <a:off x="7607808" y="5184570"/>
            <a:ext cx="3831335"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−200원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손익은 금액부터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비용이 이미 반영된 금액이라면 다시 차감하지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매매 차익</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−10,000원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(19,000−20,000) × 10주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배당 − 비용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+800원</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1,000원 − 200원</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종목 순손익</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−9,200원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−10,000원 + 800원</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CONCEPT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손실을 무엇으로 나누느냐가 다릅니다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종목 비중 20% × 종목 수익률 −4.6% = 계좌 수익률 −0.92%</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종목 투자금 기준</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−4.6%</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−9,200원 ÷ 200,000원</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계좌 전체 기준</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−0.92%</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−9,200원 ÷ 1,000,000원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TRY IT</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직접 계산: 20% 하락 뒤 20% 오르면 원금일까요?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먼저 각 구간의 기준 금액을 적습니다.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100만 원 → 80만 원 → 20% 상승</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마지막 금액을 계산해 보세요.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80만 원에서 원금 회복에 필요한 상승률은 얼마인가요?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두 계산에서 분모가 어떻게 달라지나요?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ANSWER</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회복률의 기준은 줄어든 자산입니다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−20%와 +20%는 서로 상쇄되지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20% 상승한 금액</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96만 원</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80만 원 × 1.20</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원금 회복 상승률</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25%</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20만 원 ÷ 80만 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PRACTICE</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다음 주문에서 확인할 수 있는 원칙을 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“신중하게 투자한다”를 동료가 확인할 수 있는 행동으로 바꿉니다.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“매출과 이익률을 같은 기간으로 비교하고,</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확인하지 못한 원인은 미확인으로 남긴다.”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제출할 것: 목적 · 확인 자료 · 가정 · 수정 조건 · 다음 확인 항목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01 / REFERENCE</a:t>
            </a:r>
          </a:p>
        </p:txBody>
      </p:sp>
      <p:sp>
        <p:nvSpPr>
          <p:cNvPr id="4" name="Rectangle 3"/>
          <p:cNvSpPr/>
          <p:nvPr/>
        </p:nvSpPr>
        <p:spPr>
          <a:xfrm>
            <a:off x="9710928" y="356616"/>
            <a:ext cx="118872" cy="64008"/>
          </a:xfrm>
          <a:prstGeom prst="rect">
            <a:avLst/>
          </a:prstGeom>
          <a:solidFill>
            <a:srgbClr val="CF283B"/>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https://www.investor.gov/introduction-investing/getting-started/asset-allocation</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투자와 복리의 기초</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a:t>
            </a:r>
          </a:p>
        </p:txBody>
      </p:sp>
      <p:sp>
        <p:nvSpPr>
          <p:cNvPr id="22" name="TextBox 21"/>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02</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주문 버튼 이후,</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무슨 일이 일어날까요?</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호가를 읽고 체결 금액을 계산한 뒤</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남은 주문까지 확인합니다.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02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매수할 때는 매도 호가부터 읽습니다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마지막 체결 가격과 지금 거래 가능한 호가는 다를 수 있습니다.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13</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내 행동</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매수</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지금 살 수 있는 가격을 찾기</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거래 상대</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매도 주문</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팔겠다고 나온 가격과 수량</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먼저 볼 것</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가격 + 잔량</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한 줄로 수량이 충분한지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정지된 호가창을 한 줄씩 읽어 봅니다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최우선 매수는 19,970원. 다른 주문·취소가 없는 가상 호가입니다.</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최우선 매도 19,980원 − 최우선 매수 19,970원 = 스프레드 10원</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14</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33649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매도 가격</a:t>
            </a:r>
          </a:p>
        </p:txBody>
      </p:sp>
      <p:sp>
        <p:nvSpPr>
          <p:cNvPr id="22" name="TextBox 21"/>
          <p:cNvSpPr txBox="1"/>
          <p:nvPr/>
        </p:nvSpPr>
        <p:spPr>
          <a:xfrm>
            <a:off x="4398264" y="2532888"/>
            <a:ext cx="33649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제시 수량</a:t>
            </a:r>
          </a:p>
        </p:txBody>
      </p:sp>
      <p:sp>
        <p:nvSpPr>
          <p:cNvPr id="23" name="TextBox 22"/>
          <p:cNvSpPr txBox="1"/>
          <p:nvPr/>
        </p:nvSpPr>
        <p:spPr>
          <a:xfrm>
            <a:off x="8055864" y="2532888"/>
            <a:ext cx="338327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누적 수량</a:t>
            </a:r>
          </a:p>
        </p:txBody>
      </p:sp>
      <p:sp>
        <p:nvSpPr>
          <p:cNvPr id="24" name="Rectangle 23"/>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19,980원</a:t>
            </a:r>
          </a:p>
        </p:txBody>
      </p:sp>
      <p:sp>
        <p:nvSpPr>
          <p:cNvPr id="26" name="TextBox 25"/>
          <p:cNvSpPr txBox="1"/>
          <p:nvPr/>
        </p:nvSpPr>
        <p:spPr>
          <a:xfrm>
            <a:off x="4398264" y="3063240"/>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4주</a:t>
            </a:r>
          </a:p>
        </p:txBody>
      </p:sp>
      <p:sp>
        <p:nvSpPr>
          <p:cNvPr id="27" name="TextBox 26"/>
          <p:cNvSpPr txBox="1"/>
          <p:nvPr/>
        </p:nvSpPr>
        <p:spPr>
          <a:xfrm>
            <a:off x="8055864" y="3063240"/>
            <a:ext cx="33832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4주</a:t>
            </a:r>
          </a:p>
        </p:txBody>
      </p:sp>
      <p:sp>
        <p:nvSpPr>
          <p:cNvPr id="28" name="Rectangle 27"/>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6472"/>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19,990원</a:t>
            </a:r>
          </a:p>
        </p:txBody>
      </p:sp>
      <p:sp>
        <p:nvSpPr>
          <p:cNvPr id="30" name="TextBox 29"/>
          <p:cNvSpPr txBox="1"/>
          <p:nvPr/>
        </p:nvSpPr>
        <p:spPr>
          <a:xfrm>
            <a:off x="4398264" y="3776472"/>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3주</a:t>
            </a:r>
          </a:p>
        </p:txBody>
      </p:sp>
      <p:sp>
        <p:nvSpPr>
          <p:cNvPr id="31" name="TextBox 30"/>
          <p:cNvSpPr txBox="1"/>
          <p:nvPr/>
        </p:nvSpPr>
        <p:spPr>
          <a:xfrm>
            <a:off x="8055864" y="3776472"/>
            <a:ext cx="33832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7주</a:t>
            </a:r>
          </a:p>
        </p:txBody>
      </p:sp>
      <p:sp>
        <p:nvSpPr>
          <p:cNvPr id="32" name="Rectangle 31"/>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89703"/>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20,010원</a:t>
            </a:r>
          </a:p>
        </p:txBody>
      </p:sp>
      <p:sp>
        <p:nvSpPr>
          <p:cNvPr id="34" name="TextBox 33"/>
          <p:cNvSpPr txBox="1"/>
          <p:nvPr/>
        </p:nvSpPr>
        <p:spPr>
          <a:xfrm>
            <a:off x="4398264" y="4489703"/>
            <a:ext cx="33649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8주</a:t>
            </a:r>
          </a:p>
        </p:txBody>
      </p:sp>
      <p:sp>
        <p:nvSpPr>
          <p:cNvPr id="35" name="TextBox 34"/>
          <p:cNvSpPr txBox="1"/>
          <p:nvPr/>
        </p:nvSpPr>
        <p:spPr>
          <a:xfrm>
            <a:off x="8055864" y="4489703"/>
            <a:ext cx="33832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15주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2만 원 지정가로 10주를 주문하면?</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매수 지정가는 지정 가격 이하에서 거래하려는 조건입니다.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15</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가격 조건 안</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7주 체결</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19,980원 4주 + 19,990원 3주</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가격 조건 밖</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3주 미체결</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20,010원은 20,000원보다 높음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평균 체결가의 분모는 실제 체결 수량입니다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주문 10주로 나누면 미체결 수량을 이미 산 것으로 처리하게 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16</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첫 가격</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79,920원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19,980원 × 4주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다음 가격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59,970원</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19,990원 × 3주</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평균 가격</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19,984.29원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139,890원 ÷ 7주</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호가에 가격 미지정 주문을 대입하면</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정적인 가상 호가의 계산입니다. 실제 시장가 체결을 보장하지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17</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지정가 20,000원</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7주 / 139,890원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나머지 3주는 가격 조건 밖</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가격 미지정의 단순 계산</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10주 / 199,920원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20,010원에서 3주 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취소 요청 뒤에도 최종 체결 수량을 확인합니다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남은 주문을 취소해도 이미 체결한 주식은 사라지지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18</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추가 체결 없음</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 + 3 = 10</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체결 7주 · 취소 3주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취소 전 1주 추가 체결</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 + 2 = 10</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체결 8주 · 취소 2주</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최종 확인</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주문 번호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누적 체결 · 잔여 · 취소 결과</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직접 계산: 4주의 평균 체결가는 얼마인가요?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가격마다 수량을 곱한 금액을 먼저 합산합니다.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19</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20,000원 1주 + 20,100원 3주</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총 체결 금액을 구하세요.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평균 체결가를 계산하세요.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두 가격을 단순 평균하면 왜 다른 값이 나오나요?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수량이 다른 거래는 가중 평균으로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두 가격의 단순 평균 20,050원은 체결 수량의 차이를 무시한 값입니다.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20</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총 체결 금액</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80,300원</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20,000 + 20,100 × 3</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평균 체결가</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20,075원</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80,300 ÷ 4주</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“샀다”를 체결 내역으로 설명해 보세요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실습은 앱의 실제 모의 결과를 기록합니다. 가상 호가 숫자를 복사하지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21</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“2만 원 이하로 10주를 주문했고,</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7주가 체결됐으며 남은 3주는 취소했습니다.”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기록할 것: 종목 · 방향 · 종류 · 가격 조건 · 주문/체결/취소 수량 · 평균 가격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02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CF283B"/>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22</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한국거래소 · 매매구분의 종류</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https://open.krx.co.kr/contents/OPN/01/01030205/OPN01030205T3T2.jsp</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FINRA · 수수료와 비용</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https://www.finra.org/investors/investing/investing-basics/fees-commissions</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주문 종류의 기본 개념</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https://www.investor.gov/introduction-investing/general-resources/news-alerts/alerts-bulletins/investor-bulletins-14</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03</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매출은 늘었는데,</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이익은 왜 줄었을까요?</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재무제표의 숫자를 연결해</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확인 가능한 분석 문장을 만듭니다.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03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공시의 숫자를 옮기기 전에 비교 기준을 맞춥니다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원문 링크 · 표 제목 · 기간 · 단위 · 연결 여부를 숫자 옆에 기록합니다.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24</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DART 검색</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사업보고서</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기업 · 사업연도 · 정정 여부</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사업의 내용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무엇을 파는가</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제품 · 매출 · 수주 설명</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재무에 관한 사항</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얼마를 남기는가</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재무제표 · 관련 주석</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한빛식품의 같은 기준 자료를 나란히 놓습니다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연간·연결 기준의 가상 자료. 다른 영업 비용은 없습니다.</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백만 원 단위 12,000은 120억 원입니다. 단위부터 검산합니다.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25</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429767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단위: 억 원</a:t>
            </a:r>
          </a:p>
        </p:txBody>
      </p:sp>
      <p:sp>
        <p:nvSpPr>
          <p:cNvPr id="22" name="TextBox 21"/>
          <p:cNvSpPr txBox="1"/>
          <p:nvPr/>
        </p:nvSpPr>
        <p:spPr>
          <a:xfrm>
            <a:off x="5330952" y="2532888"/>
            <a:ext cx="29077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2024년</a:t>
            </a:r>
          </a:p>
        </p:txBody>
      </p:sp>
      <p:sp>
        <p:nvSpPr>
          <p:cNvPr id="23" name="TextBox 22"/>
          <p:cNvSpPr txBox="1"/>
          <p:nvPr/>
        </p:nvSpPr>
        <p:spPr>
          <a:xfrm>
            <a:off x="8531352" y="2532888"/>
            <a:ext cx="29077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2025년</a:t>
            </a:r>
          </a:p>
        </p:txBody>
      </p:sp>
      <p:sp>
        <p:nvSpPr>
          <p:cNvPr id="24" name="Rectangle 23"/>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a:t>
            </a:r>
          </a:p>
        </p:txBody>
      </p:sp>
      <p:sp>
        <p:nvSpPr>
          <p:cNvPr id="26" name="TextBox 25"/>
          <p:cNvSpPr txBox="1"/>
          <p:nvPr/>
        </p:nvSpPr>
        <p:spPr>
          <a:xfrm>
            <a:off x="5330952" y="306324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a:t>
            </a:r>
          </a:p>
        </p:txBody>
      </p:sp>
      <p:sp>
        <p:nvSpPr>
          <p:cNvPr id="27" name="TextBox 26"/>
          <p:cNvSpPr txBox="1"/>
          <p:nvPr/>
        </p:nvSpPr>
        <p:spPr>
          <a:xfrm>
            <a:off x="8531352" y="306324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120</a:t>
            </a:r>
          </a:p>
        </p:txBody>
      </p:sp>
      <p:sp>
        <p:nvSpPr>
          <p:cNvPr id="28" name="Rectangle 27"/>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035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매출원가</a:t>
            </a:r>
          </a:p>
        </p:txBody>
      </p:sp>
      <p:sp>
        <p:nvSpPr>
          <p:cNvPr id="30" name="TextBox 29"/>
          <p:cNvSpPr txBox="1"/>
          <p:nvPr/>
        </p:nvSpPr>
        <p:spPr>
          <a:xfrm>
            <a:off x="5330952" y="377035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60</a:t>
            </a:r>
          </a:p>
        </p:txBody>
      </p:sp>
      <p:sp>
        <p:nvSpPr>
          <p:cNvPr id="31" name="TextBox 30"/>
          <p:cNvSpPr txBox="1"/>
          <p:nvPr/>
        </p:nvSpPr>
        <p:spPr>
          <a:xfrm>
            <a:off x="8531352" y="377035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78</a:t>
            </a:r>
          </a:p>
        </p:txBody>
      </p:sp>
      <p:sp>
        <p:nvSpPr>
          <p:cNvPr id="32" name="Rectangle 31"/>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7746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판매비와 관리비</a:t>
            </a:r>
          </a:p>
        </p:txBody>
      </p:sp>
      <p:sp>
        <p:nvSpPr>
          <p:cNvPr id="34" name="TextBox 33"/>
          <p:cNvSpPr txBox="1"/>
          <p:nvPr/>
        </p:nvSpPr>
        <p:spPr>
          <a:xfrm>
            <a:off x="5330952" y="447746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25</a:t>
            </a:r>
          </a:p>
        </p:txBody>
      </p:sp>
      <p:sp>
        <p:nvSpPr>
          <p:cNvPr id="35" name="TextBox 34"/>
          <p:cNvSpPr txBox="1"/>
          <p:nvPr/>
        </p:nvSpPr>
        <p:spPr>
          <a:xfrm>
            <a:off x="8531352" y="447746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30</a:t>
            </a:r>
          </a:p>
        </p:txBody>
      </p:sp>
      <p:sp>
        <p:nvSpPr>
          <p:cNvPr id="36" name="Rectangle 35"/>
          <p:cNvSpPr/>
          <p:nvPr/>
        </p:nvSpPr>
        <p:spPr>
          <a:xfrm>
            <a:off x="594360" y="5056554"/>
            <a:ext cx="10991088" cy="707110"/>
          </a:xfrm>
          <a:prstGeom prst="rect">
            <a:avLst/>
          </a:prstGeom>
          <a:solidFill>
            <a:srgbClr val="FBE9E7"/>
          </a:solidFill>
          <a:ln>
            <a:noFill/>
          </a:ln>
          <a:effectLst/>
        </p:spPr>
        <p:txBody>
          <a:bodyPr rtlCol="0" anchor="ctr"/>
          <a:lstStyle/>
          <a:p>
            <a:pPr algn="ctr"/>
          </a:p>
        </p:txBody>
      </p:sp>
      <p:sp>
        <p:nvSpPr>
          <p:cNvPr id="37" name="TextBox 36"/>
          <p:cNvSpPr txBox="1"/>
          <p:nvPr/>
        </p:nvSpPr>
        <p:spPr>
          <a:xfrm>
            <a:off x="740664" y="5184570"/>
            <a:ext cx="4297679"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CF283B"/>
                </a:solidFill>
                <a:latin typeface="Noto Sans CJK KR"/>
                <a:ea typeface="Noto Sans CJK KR"/>
              </a:defRPr>
            </a:pPr>
            <a:r>
              <a:rPr>
                <a:ea typeface="Noto Sans CJK KR"/>
              </a:rPr>
              <a:t>영업이익</a:t>
            </a:r>
          </a:p>
        </p:txBody>
      </p:sp>
      <p:sp>
        <p:nvSpPr>
          <p:cNvPr id="38" name="TextBox 37"/>
          <p:cNvSpPr txBox="1"/>
          <p:nvPr/>
        </p:nvSpPr>
        <p:spPr>
          <a:xfrm>
            <a:off x="5330952" y="518457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15</a:t>
            </a:r>
          </a:p>
        </p:txBody>
      </p:sp>
      <p:sp>
        <p:nvSpPr>
          <p:cNvPr id="39" name="TextBox 38"/>
          <p:cNvSpPr txBox="1"/>
          <p:nvPr/>
        </p:nvSpPr>
        <p:spPr>
          <a:xfrm>
            <a:off x="8531352" y="5184570"/>
            <a:ext cx="2907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12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READ THE NUMBERS</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매출이 20억 늘어도 이익은 3억 줄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15 + 20 − 18 − 5 = 12억 원. 비용 증가가 매출 증가분을 넘어섰습니다.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26</a:t>
            </a:r>
          </a:p>
        </p:txBody>
      </p:sp>
      <p:cxnSp>
        <p:nvCxnSpPr>
          <p:cNvPr id="19" name="Connector 18"/>
          <p:cNvCxnSpPr/>
          <p:nvPr/>
        </p:nvCxnSpPr>
        <p:spPr>
          <a:xfrm>
            <a:off x="777240" y="5184648"/>
            <a:ext cx="10652760" cy="0"/>
          </a:xfrm>
          <a:prstGeom prst="line">
            <a:avLst/>
          </a:prstGeom>
          <a:ln w="19050">
            <a:solidFill>
              <a:srgbClr val="D8DEDA"/>
            </a:solidFill>
          </a:ln>
          <a:effectLst/>
        </p:spPr>
      </p:cxnSp>
      <p:sp>
        <p:nvSpPr>
          <p:cNvPr id="20" name="Rectangle 19"/>
          <p:cNvSpPr/>
          <p:nvPr/>
        </p:nvSpPr>
        <p:spPr>
          <a:xfrm>
            <a:off x="914400" y="4476239"/>
            <a:ext cx="1235903" cy="708408"/>
          </a:xfrm>
          <a:prstGeom prst="rect">
            <a:avLst/>
          </a:prstGeom>
          <a:solidFill>
            <a:srgbClr val="19282C"/>
          </a:solidFill>
          <a:ln>
            <a:noFill/>
          </a:ln>
          <a:effectLst/>
        </p:spPr>
        <p:txBody>
          <a:bodyPr rtlCol="0" anchor="ctr"/>
          <a:lstStyle/>
          <a:p>
            <a:pPr algn="ctr"/>
          </a:p>
        </p:txBody>
      </p:sp>
      <p:sp>
        <p:nvSpPr>
          <p:cNvPr id="21" name="TextBox 20"/>
          <p:cNvSpPr txBox="1"/>
          <p:nvPr/>
        </p:nvSpPr>
        <p:spPr>
          <a:xfrm>
            <a:off x="822960" y="4028183"/>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15</a:t>
            </a:r>
          </a:p>
        </p:txBody>
      </p:sp>
      <p:sp>
        <p:nvSpPr>
          <p:cNvPr id="22" name="TextBox 21"/>
          <p:cNvSpPr txBox="1"/>
          <p:nvPr/>
        </p:nvSpPr>
        <p:spPr>
          <a:xfrm>
            <a:off x="740664"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전년 영업이익</a:t>
            </a:r>
          </a:p>
        </p:txBody>
      </p:sp>
      <p:cxnSp>
        <p:nvCxnSpPr>
          <p:cNvPr id="23" name="Connector 22"/>
          <p:cNvCxnSpPr/>
          <p:nvPr/>
        </p:nvCxnSpPr>
        <p:spPr>
          <a:xfrm>
            <a:off x="2150303" y="4476239"/>
            <a:ext cx="757489" cy="0"/>
          </a:xfrm>
          <a:prstGeom prst="line">
            <a:avLst/>
          </a:prstGeom>
          <a:ln w="12700">
            <a:solidFill>
              <a:srgbClr val="D8DEDA"/>
            </a:solidFill>
          </a:ln>
          <a:effectLst/>
        </p:spPr>
      </p:cxnSp>
      <p:sp>
        <p:nvSpPr>
          <p:cNvPr id="24" name="Rectangle 23"/>
          <p:cNvSpPr/>
          <p:nvPr/>
        </p:nvSpPr>
        <p:spPr>
          <a:xfrm>
            <a:off x="2907792" y="3531694"/>
            <a:ext cx="1235903" cy="944545"/>
          </a:xfrm>
          <a:prstGeom prst="rect">
            <a:avLst/>
          </a:prstGeom>
          <a:solidFill>
            <a:srgbClr val="167964"/>
          </a:solidFill>
          <a:ln>
            <a:noFill/>
          </a:ln>
          <a:effectLst/>
        </p:spPr>
        <p:txBody>
          <a:bodyPr rtlCol="0" anchor="ctr"/>
          <a:lstStyle/>
          <a:p>
            <a:pPr algn="ctr"/>
          </a:p>
        </p:txBody>
      </p:sp>
      <p:sp>
        <p:nvSpPr>
          <p:cNvPr id="25" name="TextBox 24"/>
          <p:cNvSpPr txBox="1"/>
          <p:nvPr/>
        </p:nvSpPr>
        <p:spPr>
          <a:xfrm>
            <a:off x="2816352" y="3083638"/>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+20</a:t>
            </a:r>
          </a:p>
        </p:txBody>
      </p:sp>
      <p:sp>
        <p:nvSpPr>
          <p:cNvPr id="26" name="TextBox 25"/>
          <p:cNvSpPr txBox="1"/>
          <p:nvPr/>
        </p:nvSpPr>
        <p:spPr>
          <a:xfrm>
            <a:off x="2734056"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매출 증가</a:t>
            </a:r>
          </a:p>
        </p:txBody>
      </p:sp>
      <p:cxnSp>
        <p:nvCxnSpPr>
          <p:cNvPr id="27" name="Connector 26"/>
          <p:cNvCxnSpPr/>
          <p:nvPr/>
        </p:nvCxnSpPr>
        <p:spPr>
          <a:xfrm>
            <a:off x="4143695" y="3531694"/>
            <a:ext cx="757489" cy="0"/>
          </a:xfrm>
          <a:prstGeom prst="line">
            <a:avLst/>
          </a:prstGeom>
          <a:ln w="12700">
            <a:solidFill>
              <a:srgbClr val="D8DEDA"/>
            </a:solidFill>
          </a:ln>
          <a:effectLst/>
        </p:spPr>
      </p:cxnSp>
      <p:sp>
        <p:nvSpPr>
          <p:cNvPr id="28" name="Rectangle 27"/>
          <p:cNvSpPr/>
          <p:nvPr/>
        </p:nvSpPr>
        <p:spPr>
          <a:xfrm>
            <a:off x="4901184" y="3531694"/>
            <a:ext cx="1235903" cy="850090"/>
          </a:xfrm>
          <a:prstGeom prst="rect">
            <a:avLst/>
          </a:prstGeom>
          <a:solidFill>
            <a:srgbClr val="3667A1"/>
          </a:solidFill>
          <a:ln>
            <a:noFill/>
          </a:ln>
          <a:effectLst/>
        </p:spPr>
        <p:txBody>
          <a:bodyPr rtlCol="0" anchor="ctr"/>
          <a:lstStyle/>
          <a:p>
            <a:pPr algn="ctr"/>
          </a:p>
        </p:txBody>
      </p:sp>
      <p:sp>
        <p:nvSpPr>
          <p:cNvPr id="29" name="TextBox 28"/>
          <p:cNvSpPr txBox="1"/>
          <p:nvPr/>
        </p:nvSpPr>
        <p:spPr>
          <a:xfrm>
            <a:off x="4809744" y="3083638"/>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-18</a:t>
            </a:r>
          </a:p>
        </p:txBody>
      </p:sp>
      <p:sp>
        <p:nvSpPr>
          <p:cNvPr id="30" name="TextBox 29"/>
          <p:cNvSpPr txBox="1"/>
          <p:nvPr/>
        </p:nvSpPr>
        <p:spPr>
          <a:xfrm>
            <a:off x="4727448"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원가 증가</a:t>
            </a:r>
          </a:p>
        </p:txBody>
      </p:sp>
      <p:cxnSp>
        <p:nvCxnSpPr>
          <p:cNvPr id="31" name="Connector 30"/>
          <p:cNvCxnSpPr/>
          <p:nvPr/>
        </p:nvCxnSpPr>
        <p:spPr>
          <a:xfrm>
            <a:off x="6137087" y="4381784"/>
            <a:ext cx="757489" cy="0"/>
          </a:xfrm>
          <a:prstGeom prst="line">
            <a:avLst/>
          </a:prstGeom>
          <a:ln w="12700">
            <a:solidFill>
              <a:srgbClr val="D8DEDA"/>
            </a:solidFill>
          </a:ln>
          <a:effectLst/>
        </p:spPr>
      </p:cxnSp>
      <p:sp>
        <p:nvSpPr>
          <p:cNvPr id="32" name="Rectangle 31"/>
          <p:cNvSpPr/>
          <p:nvPr/>
        </p:nvSpPr>
        <p:spPr>
          <a:xfrm>
            <a:off x="6894576" y="4381784"/>
            <a:ext cx="1235903" cy="236136"/>
          </a:xfrm>
          <a:prstGeom prst="rect">
            <a:avLst/>
          </a:prstGeom>
          <a:solidFill>
            <a:srgbClr val="3667A1"/>
          </a:solidFill>
          <a:ln>
            <a:noFill/>
          </a:ln>
          <a:effectLst/>
        </p:spPr>
        <p:txBody>
          <a:bodyPr rtlCol="0" anchor="ctr"/>
          <a:lstStyle/>
          <a:p>
            <a:pPr algn="ctr"/>
          </a:p>
        </p:txBody>
      </p:sp>
      <p:sp>
        <p:nvSpPr>
          <p:cNvPr id="33" name="TextBox 32"/>
          <p:cNvSpPr txBox="1"/>
          <p:nvPr/>
        </p:nvSpPr>
        <p:spPr>
          <a:xfrm>
            <a:off x="6803136" y="3933728"/>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-5</a:t>
            </a:r>
          </a:p>
        </p:txBody>
      </p:sp>
      <p:sp>
        <p:nvSpPr>
          <p:cNvPr id="34" name="TextBox 33"/>
          <p:cNvSpPr txBox="1"/>
          <p:nvPr/>
        </p:nvSpPr>
        <p:spPr>
          <a:xfrm>
            <a:off x="6720840"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판관비 증가</a:t>
            </a:r>
          </a:p>
        </p:txBody>
      </p:sp>
      <p:sp>
        <p:nvSpPr>
          <p:cNvPr id="35" name="Rectangle 34"/>
          <p:cNvSpPr/>
          <p:nvPr/>
        </p:nvSpPr>
        <p:spPr>
          <a:xfrm>
            <a:off x="8887968" y="4617920"/>
            <a:ext cx="1235903" cy="566727"/>
          </a:xfrm>
          <a:prstGeom prst="rect">
            <a:avLst/>
          </a:prstGeom>
          <a:solidFill>
            <a:srgbClr val="19282C"/>
          </a:solidFill>
          <a:ln>
            <a:noFill/>
          </a:ln>
          <a:effectLst/>
        </p:spPr>
        <p:txBody>
          <a:bodyPr rtlCol="0" anchor="ctr"/>
          <a:lstStyle/>
          <a:p>
            <a:pPr algn="ctr"/>
          </a:p>
        </p:txBody>
      </p:sp>
      <p:sp>
        <p:nvSpPr>
          <p:cNvPr id="36" name="TextBox 35"/>
          <p:cNvSpPr txBox="1"/>
          <p:nvPr/>
        </p:nvSpPr>
        <p:spPr>
          <a:xfrm>
            <a:off x="8796528" y="4169864"/>
            <a:ext cx="163458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12</a:t>
            </a:r>
          </a:p>
        </p:txBody>
      </p:sp>
      <p:sp>
        <p:nvSpPr>
          <p:cNvPr id="37" name="TextBox 36"/>
          <p:cNvSpPr txBox="1"/>
          <p:nvPr/>
        </p:nvSpPr>
        <p:spPr>
          <a:xfrm>
            <a:off x="8714232" y="5431536"/>
            <a:ext cx="189372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올해 영업이익</a:t>
            </a:r>
          </a:p>
        </p:txBody>
      </p:sp>
      <p:sp>
        <p:nvSpPr>
          <p:cNvPr id="38" name="TextBox 37"/>
          <p:cNvSpPr txBox="1"/>
          <p:nvPr/>
        </p:nvSpPr>
        <p:spPr>
          <a:xfrm>
            <a:off x="640080" y="2423160"/>
            <a:ext cx="3657600" cy="320040"/>
          </a:xfrm>
          <a:prstGeom prst="rect">
            <a:avLst/>
          </a:prstGeom>
          <a:noFill/>
        </p:spPr>
        <p:txBody>
          <a:bodyPr wrap="none" anchor="t" anchorCtr="0" lIns="0" rIns="0" tIns="0" bIns="0">
            <a:noAutofit/>
          </a:bodyPr>
          <a:lstStyle/>
          <a:p>
            <a:pPr algn="l">
              <a:lnSpc>
                <a:spcPct val="116000"/>
              </a:lnSpc>
              <a:spcBef>
                <a:spcPts val="0"/>
              </a:spcBef>
              <a:spcAft>
                <a:spcPts val="0"/>
              </a:spcAft>
              <a:defRPr sz="1300" b="0">
                <a:solidFill>
                  <a:srgbClr val="5C6B6E"/>
                </a:solidFill>
                <a:latin typeface="Noto Sans CJK KR"/>
                <a:ea typeface="Noto Sans CJK KR"/>
              </a:defRPr>
            </a:pPr>
            <a:r>
              <a:rPr>
                <a:ea typeface="Noto Sans CJK KR"/>
              </a:rPr>
              <a:t>단위: 억 원</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수익성 하락의 위치는 원가율에서 보입니다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판관비율은 25%로 같고, 원가율이 5%포인트 올라 이익률이 낮아졌습니다.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27</a:t>
            </a:r>
          </a:p>
        </p:txBody>
      </p:sp>
      <p:sp>
        <p:nvSpPr>
          <p:cNvPr id="19" name="TextBox 18"/>
          <p:cNvSpPr txBox="1"/>
          <p:nvPr/>
        </p:nvSpPr>
        <p:spPr>
          <a:xfrm>
            <a:off x="658368" y="3035808"/>
            <a:ext cx="1243584" cy="548640"/>
          </a:xfrm>
          <a:prstGeom prst="rect">
            <a:avLst/>
          </a:prstGeom>
          <a:noFill/>
        </p:spPr>
        <p:txBody>
          <a:bodyPr wrap="none" anchor="t" anchorCtr="0" lIns="0" rIns="0" tIns="0" bIns="0">
            <a:noAutofit/>
          </a:bodyPr>
          <a:lstStyle/>
          <a:p>
            <a:pPr algn="l">
              <a:lnSpc>
                <a:spcPct val="116000"/>
              </a:lnSpc>
              <a:spcBef>
                <a:spcPts val="0"/>
              </a:spcBef>
              <a:spcAft>
                <a:spcPts val="0"/>
              </a:spcAft>
              <a:defRPr sz="2300" b="1">
                <a:solidFill>
                  <a:srgbClr val="19282C"/>
                </a:solidFill>
                <a:latin typeface="Noto Sans CJK KR"/>
                <a:ea typeface="Noto Sans CJK KR"/>
              </a:defRPr>
            </a:pPr>
            <a:r>
              <a:rPr>
                <a:ea typeface="Noto Sans CJK KR"/>
              </a:rPr>
              <a:t>2024</a:t>
            </a:r>
          </a:p>
        </p:txBody>
      </p:sp>
      <p:sp>
        <p:nvSpPr>
          <p:cNvPr id="20" name="Rectangle 19"/>
          <p:cNvSpPr/>
          <p:nvPr/>
        </p:nvSpPr>
        <p:spPr>
          <a:xfrm>
            <a:off x="2039112" y="2862072"/>
            <a:ext cx="5431536" cy="758952"/>
          </a:xfrm>
          <a:prstGeom prst="rect">
            <a:avLst/>
          </a:prstGeom>
          <a:solidFill>
            <a:srgbClr val="3667A1"/>
          </a:solidFill>
          <a:ln>
            <a:noFill/>
          </a:ln>
          <a:effectLst/>
        </p:spPr>
        <p:txBody>
          <a:bodyPr rtlCol="0" anchor="ctr"/>
          <a:lstStyle/>
          <a:p>
            <a:pPr algn="ctr"/>
          </a:p>
        </p:txBody>
      </p:sp>
      <p:sp>
        <p:nvSpPr>
          <p:cNvPr id="21" name="TextBox 20"/>
          <p:cNvSpPr txBox="1"/>
          <p:nvPr/>
        </p:nvSpPr>
        <p:spPr>
          <a:xfrm>
            <a:off x="2112264" y="3081528"/>
            <a:ext cx="5285232"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60%</a:t>
            </a:r>
          </a:p>
        </p:txBody>
      </p:sp>
      <p:sp>
        <p:nvSpPr>
          <p:cNvPr id="22" name="Rectangle 21"/>
          <p:cNvSpPr/>
          <p:nvPr/>
        </p:nvSpPr>
        <p:spPr>
          <a:xfrm>
            <a:off x="7470648" y="2862072"/>
            <a:ext cx="2263140" cy="758952"/>
          </a:xfrm>
          <a:prstGeom prst="rect">
            <a:avLst/>
          </a:prstGeom>
          <a:solidFill>
            <a:srgbClr val="5C6B6E"/>
          </a:solidFill>
          <a:ln>
            <a:noFill/>
          </a:ln>
          <a:effectLst/>
        </p:spPr>
        <p:txBody>
          <a:bodyPr rtlCol="0" anchor="ctr"/>
          <a:lstStyle/>
          <a:p>
            <a:pPr algn="ctr"/>
          </a:p>
        </p:txBody>
      </p:sp>
      <p:sp>
        <p:nvSpPr>
          <p:cNvPr id="23" name="TextBox 22"/>
          <p:cNvSpPr txBox="1"/>
          <p:nvPr/>
        </p:nvSpPr>
        <p:spPr>
          <a:xfrm>
            <a:off x="7543800" y="3081528"/>
            <a:ext cx="2116836"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25%</a:t>
            </a:r>
          </a:p>
        </p:txBody>
      </p:sp>
      <p:sp>
        <p:nvSpPr>
          <p:cNvPr id="24" name="Rectangle 23"/>
          <p:cNvSpPr/>
          <p:nvPr/>
        </p:nvSpPr>
        <p:spPr>
          <a:xfrm>
            <a:off x="9733788" y="2862072"/>
            <a:ext cx="1357884" cy="758952"/>
          </a:xfrm>
          <a:prstGeom prst="rect">
            <a:avLst/>
          </a:prstGeom>
          <a:solidFill>
            <a:srgbClr val="CF283B"/>
          </a:solidFill>
          <a:ln>
            <a:noFill/>
          </a:ln>
          <a:effectLst/>
        </p:spPr>
        <p:txBody>
          <a:bodyPr rtlCol="0" anchor="ctr"/>
          <a:lstStyle/>
          <a:p>
            <a:pPr algn="ctr"/>
          </a:p>
        </p:txBody>
      </p:sp>
      <p:sp>
        <p:nvSpPr>
          <p:cNvPr id="25" name="TextBox 24"/>
          <p:cNvSpPr txBox="1"/>
          <p:nvPr/>
        </p:nvSpPr>
        <p:spPr>
          <a:xfrm>
            <a:off x="9806940" y="3081528"/>
            <a:ext cx="1211580"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15%</a:t>
            </a:r>
          </a:p>
        </p:txBody>
      </p:sp>
      <p:sp>
        <p:nvSpPr>
          <p:cNvPr id="26" name="TextBox 25"/>
          <p:cNvSpPr txBox="1"/>
          <p:nvPr/>
        </p:nvSpPr>
        <p:spPr>
          <a:xfrm>
            <a:off x="658368" y="4297680"/>
            <a:ext cx="1243584" cy="548640"/>
          </a:xfrm>
          <a:prstGeom prst="rect">
            <a:avLst/>
          </a:prstGeom>
          <a:noFill/>
        </p:spPr>
        <p:txBody>
          <a:bodyPr wrap="none" anchor="t" anchorCtr="0" lIns="0" rIns="0" tIns="0" bIns="0">
            <a:noAutofit/>
          </a:bodyPr>
          <a:lstStyle/>
          <a:p>
            <a:pPr algn="l">
              <a:lnSpc>
                <a:spcPct val="116000"/>
              </a:lnSpc>
              <a:spcBef>
                <a:spcPts val="0"/>
              </a:spcBef>
              <a:spcAft>
                <a:spcPts val="0"/>
              </a:spcAft>
              <a:defRPr sz="2300" b="1">
                <a:solidFill>
                  <a:srgbClr val="19282C"/>
                </a:solidFill>
                <a:latin typeface="Noto Sans CJK KR"/>
                <a:ea typeface="Noto Sans CJK KR"/>
              </a:defRPr>
            </a:pPr>
            <a:r>
              <a:rPr>
                <a:ea typeface="Noto Sans CJK KR"/>
              </a:rPr>
              <a:t>2025</a:t>
            </a:r>
          </a:p>
        </p:txBody>
      </p:sp>
      <p:sp>
        <p:nvSpPr>
          <p:cNvPr id="27" name="Rectangle 26"/>
          <p:cNvSpPr/>
          <p:nvPr/>
        </p:nvSpPr>
        <p:spPr>
          <a:xfrm>
            <a:off x="2039112" y="4123944"/>
            <a:ext cx="5884164" cy="758952"/>
          </a:xfrm>
          <a:prstGeom prst="rect">
            <a:avLst/>
          </a:prstGeom>
          <a:solidFill>
            <a:srgbClr val="3667A1"/>
          </a:solidFill>
          <a:ln>
            <a:noFill/>
          </a:ln>
          <a:effectLst/>
        </p:spPr>
        <p:txBody>
          <a:bodyPr rtlCol="0" anchor="ctr"/>
          <a:lstStyle/>
          <a:p>
            <a:pPr algn="ctr"/>
          </a:p>
        </p:txBody>
      </p:sp>
      <p:sp>
        <p:nvSpPr>
          <p:cNvPr id="28" name="TextBox 27"/>
          <p:cNvSpPr txBox="1"/>
          <p:nvPr/>
        </p:nvSpPr>
        <p:spPr>
          <a:xfrm>
            <a:off x="2112264" y="4343400"/>
            <a:ext cx="5737859"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65%</a:t>
            </a:r>
          </a:p>
        </p:txBody>
      </p:sp>
      <p:sp>
        <p:nvSpPr>
          <p:cNvPr id="29" name="Rectangle 28"/>
          <p:cNvSpPr/>
          <p:nvPr/>
        </p:nvSpPr>
        <p:spPr>
          <a:xfrm>
            <a:off x="7923275" y="4123944"/>
            <a:ext cx="2263140" cy="758952"/>
          </a:xfrm>
          <a:prstGeom prst="rect">
            <a:avLst/>
          </a:prstGeom>
          <a:solidFill>
            <a:srgbClr val="5C6B6E"/>
          </a:solidFill>
          <a:ln>
            <a:noFill/>
          </a:ln>
          <a:effectLst/>
        </p:spPr>
        <p:txBody>
          <a:bodyPr rtlCol="0" anchor="ctr"/>
          <a:lstStyle/>
          <a:p>
            <a:pPr algn="ctr"/>
          </a:p>
        </p:txBody>
      </p:sp>
      <p:sp>
        <p:nvSpPr>
          <p:cNvPr id="30" name="TextBox 29"/>
          <p:cNvSpPr txBox="1"/>
          <p:nvPr/>
        </p:nvSpPr>
        <p:spPr>
          <a:xfrm>
            <a:off x="7996427" y="4343400"/>
            <a:ext cx="2116836"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25%</a:t>
            </a:r>
          </a:p>
        </p:txBody>
      </p:sp>
      <p:sp>
        <p:nvSpPr>
          <p:cNvPr id="31" name="Rectangle 30"/>
          <p:cNvSpPr/>
          <p:nvPr/>
        </p:nvSpPr>
        <p:spPr>
          <a:xfrm>
            <a:off x="10186415" y="4123944"/>
            <a:ext cx="905256" cy="758952"/>
          </a:xfrm>
          <a:prstGeom prst="rect">
            <a:avLst/>
          </a:prstGeom>
          <a:solidFill>
            <a:srgbClr val="CF283B"/>
          </a:solidFill>
          <a:ln>
            <a:noFill/>
          </a:ln>
          <a:effectLst/>
        </p:spPr>
        <p:txBody>
          <a:bodyPr rtlCol="0" anchor="ctr"/>
          <a:lstStyle/>
          <a:p>
            <a:pPr algn="ctr"/>
          </a:p>
        </p:txBody>
      </p:sp>
      <p:sp>
        <p:nvSpPr>
          <p:cNvPr id="32" name="TextBox 31"/>
          <p:cNvSpPr txBox="1"/>
          <p:nvPr/>
        </p:nvSpPr>
        <p:spPr>
          <a:xfrm>
            <a:off x="10259567" y="4343400"/>
            <a:ext cx="758952" cy="365760"/>
          </a:xfrm>
          <a:prstGeom prst="rect">
            <a:avLst/>
          </a:prstGeom>
          <a:noFill/>
        </p:spPr>
        <p:txBody>
          <a:bodyPr wrap="none" anchor="t" anchorCtr="0" lIns="0" rIns="0" tIns="0" bIns="0">
            <a:noAutofit/>
          </a:bodyPr>
          <a:lstStyle/>
          <a:p>
            <a:pPr algn="ctr">
              <a:lnSpc>
                <a:spcPct val="116000"/>
              </a:lnSpc>
              <a:spcBef>
                <a:spcPts val="0"/>
              </a:spcBef>
              <a:spcAft>
                <a:spcPts val="0"/>
              </a:spcAft>
              <a:defRPr sz="1800" b="1">
                <a:solidFill>
                  <a:srgbClr val="FFFFFF"/>
                </a:solidFill>
                <a:latin typeface="Noto Sans CJK KR"/>
                <a:ea typeface="Noto Sans CJK KR"/>
              </a:defRPr>
            </a:pPr>
            <a:r>
              <a:rPr>
                <a:ea typeface="Noto Sans CJK KR"/>
              </a:rPr>
              <a:t>10%</a:t>
            </a:r>
          </a:p>
        </p:txBody>
      </p:sp>
      <p:sp>
        <p:nvSpPr>
          <p:cNvPr id="33" name="Rectangle 32"/>
          <p:cNvSpPr/>
          <p:nvPr/>
        </p:nvSpPr>
        <p:spPr>
          <a:xfrm>
            <a:off x="2039112" y="5422392"/>
            <a:ext cx="146304" cy="146304"/>
          </a:xfrm>
          <a:prstGeom prst="rect">
            <a:avLst/>
          </a:prstGeom>
          <a:solidFill>
            <a:srgbClr val="3667A1"/>
          </a:solidFill>
          <a:ln>
            <a:noFill/>
          </a:ln>
          <a:effectLst/>
        </p:spPr>
        <p:txBody>
          <a:bodyPr rtlCol="0" anchor="ctr"/>
          <a:lstStyle/>
          <a:p>
            <a:pPr algn="ctr"/>
          </a:p>
        </p:txBody>
      </p:sp>
      <p:sp>
        <p:nvSpPr>
          <p:cNvPr id="34" name="TextBox 33"/>
          <p:cNvSpPr txBox="1"/>
          <p:nvPr/>
        </p:nvSpPr>
        <p:spPr>
          <a:xfrm>
            <a:off x="2286000" y="5367528"/>
            <a:ext cx="2688336" cy="35661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매출원가</a:t>
            </a:r>
          </a:p>
        </p:txBody>
      </p:sp>
      <p:sp>
        <p:nvSpPr>
          <p:cNvPr id="35" name="Rectangle 34"/>
          <p:cNvSpPr/>
          <p:nvPr/>
        </p:nvSpPr>
        <p:spPr>
          <a:xfrm>
            <a:off x="5056631" y="5422392"/>
            <a:ext cx="146304" cy="146304"/>
          </a:xfrm>
          <a:prstGeom prst="rect">
            <a:avLst/>
          </a:prstGeom>
          <a:solidFill>
            <a:srgbClr val="5C6B6E"/>
          </a:solidFill>
          <a:ln>
            <a:noFill/>
          </a:ln>
          <a:effectLst/>
        </p:spPr>
        <p:txBody>
          <a:bodyPr rtlCol="0" anchor="ctr"/>
          <a:lstStyle/>
          <a:p>
            <a:pPr algn="ctr"/>
          </a:p>
        </p:txBody>
      </p:sp>
      <p:sp>
        <p:nvSpPr>
          <p:cNvPr id="36" name="TextBox 35"/>
          <p:cNvSpPr txBox="1"/>
          <p:nvPr/>
        </p:nvSpPr>
        <p:spPr>
          <a:xfrm>
            <a:off x="5303520" y="5367528"/>
            <a:ext cx="2688336" cy="35661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판매비와 관리비</a:t>
            </a:r>
          </a:p>
        </p:txBody>
      </p:sp>
      <p:sp>
        <p:nvSpPr>
          <p:cNvPr id="37" name="Rectangle 36"/>
          <p:cNvSpPr/>
          <p:nvPr/>
        </p:nvSpPr>
        <p:spPr>
          <a:xfrm>
            <a:off x="8074152" y="5422392"/>
            <a:ext cx="146304" cy="146304"/>
          </a:xfrm>
          <a:prstGeom prst="rect">
            <a:avLst/>
          </a:prstGeom>
          <a:solidFill>
            <a:srgbClr val="CF283B"/>
          </a:solidFill>
          <a:ln>
            <a:noFill/>
          </a:ln>
          <a:effectLst/>
        </p:spPr>
        <p:txBody>
          <a:bodyPr rtlCol="0" anchor="ctr"/>
          <a:lstStyle/>
          <a:p>
            <a:pPr algn="ctr"/>
          </a:p>
        </p:txBody>
      </p:sp>
      <p:sp>
        <p:nvSpPr>
          <p:cNvPr id="38" name="TextBox 37"/>
          <p:cNvSpPr txBox="1"/>
          <p:nvPr/>
        </p:nvSpPr>
        <p:spPr>
          <a:xfrm>
            <a:off x="8321040" y="5367528"/>
            <a:ext cx="2688336" cy="35661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영업이익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“원가가 늘었다” 다음에 확인할 자료</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원가율 상승만으로 “밀가루 때문”이라고 확정하지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28</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원재료 매입가격</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가격 변화</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단위와 비교 기간을 맞추기</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제품 판매가격</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전가 여부</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비용 상승을 가격에 반영했는가</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제품별 매출</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구성 변화</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낮은 이익률 제품 비중이</a:t>
            </a:r>
          </a:p>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늘었는가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CASH FLOW</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이익과 현금의 차이를 조정표로 설명합니다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이 다섯 항목만 있는 가정입니다. 실제 현금흐름표에는 다른 조정이 있을 수 있습니다.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29</a:t>
            </a:r>
          </a:p>
        </p:txBody>
      </p:sp>
      <p:cxnSp>
        <p:nvCxnSpPr>
          <p:cNvPr id="19" name="Connector 18"/>
          <p:cNvCxnSpPr/>
          <p:nvPr/>
        </p:nvCxnSpPr>
        <p:spPr>
          <a:xfrm>
            <a:off x="777240" y="4506066"/>
            <a:ext cx="10652760" cy="0"/>
          </a:xfrm>
          <a:prstGeom prst="line">
            <a:avLst/>
          </a:prstGeom>
          <a:ln w="19050">
            <a:solidFill>
              <a:srgbClr val="D8DEDA"/>
            </a:solidFill>
          </a:ln>
          <a:effectLst/>
        </p:spPr>
      </p:cxnSp>
      <p:sp>
        <p:nvSpPr>
          <p:cNvPr id="20" name="Rectangle 19"/>
          <p:cNvSpPr/>
          <p:nvPr/>
        </p:nvSpPr>
        <p:spPr>
          <a:xfrm>
            <a:off x="914400" y="3752087"/>
            <a:ext cx="1029919" cy="753978"/>
          </a:xfrm>
          <a:prstGeom prst="rect">
            <a:avLst/>
          </a:prstGeom>
          <a:solidFill>
            <a:srgbClr val="19282C"/>
          </a:solidFill>
          <a:ln>
            <a:noFill/>
          </a:ln>
          <a:effectLst/>
        </p:spPr>
        <p:txBody>
          <a:bodyPr rtlCol="0" anchor="ctr"/>
          <a:lstStyle/>
          <a:p>
            <a:pPr algn="ctr"/>
          </a:p>
        </p:txBody>
      </p:sp>
      <p:sp>
        <p:nvSpPr>
          <p:cNvPr id="21" name="TextBox 20"/>
          <p:cNvSpPr txBox="1"/>
          <p:nvPr/>
        </p:nvSpPr>
        <p:spPr>
          <a:xfrm>
            <a:off x="822960" y="330403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8</a:t>
            </a:r>
          </a:p>
        </p:txBody>
      </p:sp>
      <p:sp>
        <p:nvSpPr>
          <p:cNvPr id="22" name="TextBox 21"/>
          <p:cNvSpPr txBox="1"/>
          <p:nvPr/>
        </p:nvSpPr>
        <p:spPr>
          <a:xfrm>
            <a:off x="7406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순이익</a:t>
            </a:r>
          </a:p>
        </p:txBody>
      </p:sp>
      <p:cxnSp>
        <p:nvCxnSpPr>
          <p:cNvPr id="23" name="Connector 22"/>
          <p:cNvCxnSpPr/>
          <p:nvPr/>
        </p:nvCxnSpPr>
        <p:spPr>
          <a:xfrm>
            <a:off x="1944319" y="3752087"/>
            <a:ext cx="631241" cy="0"/>
          </a:xfrm>
          <a:prstGeom prst="line">
            <a:avLst/>
          </a:prstGeom>
          <a:ln w="12700">
            <a:solidFill>
              <a:srgbClr val="D8DEDA"/>
            </a:solidFill>
          </a:ln>
          <a:effectLst/>
        </p:spPr>
      </p:cxnSp>
      <p:sp>
        <p:nvSpPr>
          <p:cNvPr id="24" name="Rectangle 23"/>
          <p:cNvSpPr/>
          <p:nvPr/>
        </p:nvSpPr>
        <p:spPr>
          <a:xfrm>
            <a:off x="2575560" y="3375098"/>
            <a:ext cx="1029919" cy="376989"/>
          </a:xfrm>
          <a:prstGeom prst="rect">
            <a:avLst/>
          </a:prstGeom>
          <a:solidFill>
            <a:srgbClr val="167964"/>
          </a:solidFill>
          <a:ln>
            <a:noFill/>
          </a:ln>
          <a:effectLst/>
        </p:spPr>
        <p:txBody>
          <a:bodyPr rtlCol="0" anchor="ctr"/>
          <a:lstStyle/>
          <a:p>
            <a:pPr algn="ctr"/>
          </a:p>
        </p:txBody>
      </p:sp>
      <p:sp>
        <p:nvSpPr>
          <p:cNvPr id="25" name="TextBox 24"/>
          <p:cNvSpPr txBox="1"/>
          <p:nvPr/>
        </p:nvSpPr>
        <p:spPr>
          <a:xfrm>
            <a:off x="2484119" y="2927042"/>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+4</a:t>
            </a:r>
          </a:p>
        </p:txBody>
      </p:sp>
      <p:sp>
        <p:nvSpPr>
          <p:cNvPr id="26" name="TextBox 25"/>
          <p:cNvSpPr txBox="1"/>
          <p:nvPr/>
        </p:nvSpPr>
        <p:spPr>
          <a:xfrm>
            <a:off x="240182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감가상각</a:t>
            </a:r>
          </a:p>
        </p:txBody>
      </p:sp>
      <p:cxnSp>
        <p:nvCxnSpPr>
          <p:cNvPr id="27" name="Connector 26"/>
          <p:cNvCxnSpPr/>
          <p:nvPr/>
        </p:nvCxnSpPr>
        <p:spPr>
          <a:xfrm>
            <a:off x="3605479" y="3375098"/>
            <a:ext cx="631241" cy="0"/>
          </a:xfrm>
          <a:prstGeom prst="line">
            <a:avLst/>
          </a:prstGeom>
          <a:ln w="12700">
            <a:solidFill>
              <a:srgbClr val="D8DEDA"/>
            </a:solidFill>
          </a:ln>
          <a:effectLst/>
        </p:spPr>
      </p:cxnSp>
      <p:sp>
        <p:nvSpPr>
          <p:cNvPr id="28" name="Rectangle 27"/>
          <p:cNvSpPr/>
          <p:nvPr/>
        </p:nvSpPr>
        <p:spPr>
          <a:xfrm>
            <a:off x="4236720" y="3375098"/>
            <a:ext cx="1029919" cy="1130968"/>
          </a:xfrm>
          <a:prstGeom prst="rect">
            <a:avLst/>
          </a:prstGeom>
          <a:solidFill>
            <a:srgbClr val="3667A1"/>
          </a:solidFill>
          <a:ln>
            <a:noFill/>
          </a:ln>
          <a:effectLst/>
        </p:spPr>
        <p:txBody>
          <a:bodyPr rtlCol="0" anchor="ctr"/>
          <a:lstStyle/>
          <a:p>
            <a:pPr algn="ctr"/>
          </a:p>
        </p:txBody>
      </p:sp>
      <p:sp>
        <p:nvSpPr>
          <p:cNvPr id="29" name="TextBox 28"/>
          <p:cNvSpPr txBox="1"/>
          <p:nvPr/>
        </p:nvSpPr>
        <p:spPr>
          <a:xfrm>
            <a:off x="4145280" y="2927042"/>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-12</a:t>
            </a:r>
          </a:p>
        </p:txBody>
      </p:sp>
      <p:sp>
        <p:nvSpPr>
          <p:cNvPr id="30" name="TextBox 29"/>
          <p:cNvSpPr txBox="1"/>
          <p:nvPr/>
        </p:nvSpPr>
        <p:spPr>
          <a:xfrm>
            <a:off x="4062983"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채권 증가</a:t>
            </a:r>
          </a:p>
        </p:txBody>
      </p:sp>
      <p:cxnSp>
        <p:nvCxnSpPr>
          <p:cNvPr id="31" name="Connector 30"/>
          <p:cNvCxnSpPr/>
          <p:nvPr/>
        </p:nvCxnSpPr>
        <p:spPr>
          <a:xfrm>
            <a:off x="5266639" y="4506066"/>
            <a:ext cx="631240" cy="0"/>
          </a:xfrm>
          <a:prstGeom prst="line">
            <a:avLst/>
          </a:prstGeom>
          <a:ln w="12700">
            <a:solidFill>
              <a:srgbClr val="D8DEDA"/>
            </a:solidFill>
          </a:ln>
          <a:effectLst/>
        </p:spPr>
      </p:cxnSp>
      <p:sp>
        <p:nvSpPr>
          <p:cNvPr id="32" name="Rectangle 31"/>
          <p:cNvSpPr/>
          <p:nvPr/>
        </p:nvSpPr>
        <p:spPr>
          <a:xfrm>
            <a:off x="5897880" y="4506066"/>
            <a:ext cx="1029919" cy="565484"/>
          </a:xfrm>
          <a:prstGeom prst="rect">
            <a:avLst/>
          </a:prstGeom>
          <a:solidFill>
            <a:srgbClr val="3667A1"/>
          </a:solidFill>
          <a:ln>
            <a:noFill/>
          </a:ln>
          <a:effectLst/>
        </p:spPr>
        <p:txBody>
          <a:bodyPr rtlCol="0" anchor="ctr"/>
          <a:lstStyle/>
          <a:p>
            <a:pPr algn="ctr"/>
          </a:p>
        </p:txBody>
      </p:sp>
      <p:sp>
        <p:nvSpPr>
          <p:cNvPr id="33" name="TextBox 32"/>
          <p:cNvSpPr txBox="1"/>
          <p:nvPr/>
        </p:nvSpPr>
        <p:spPr>
          <a:xfrm>
            <a:off x="5806440" y="4058010"/>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-6</a:t>
            </a:r>
          </a:p>
        </p:txBody>
      </p:sp>
      <p:sp>
        <p:nvSpPr>
          <p:cNvPr id="34" name="TextBox 33"/>
          <p:cNvSpPr txBox="1"/>
          <p:nvPr/>
        </p:nvSpPr>
        <p:spPr>
          <a:xfrm>
            <a:off x="572414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재고 증가</a:t>
            </a:r>
          </a:p>
        </p:txBody>
      </p:sp>
      <p:cxnSp>
        <p:nvCxnSpPr>
          <p:cNvPr id="35" name="Connector 34"/>
          <p:cNvCxnSpPr/>
          <p:nvPr/>
        </p:nvCxnSpPr>
        <p:spPr>
          <a:xfrm>
            <a:off x="6927799" y="5071551"/>
            <a:ext cx="631241" cy="0"/>
          </a:xfrm>
          <a:prstGeom prst="line">
            <a:avLst/>
          </a:prstGeom>
          <a:ln w="12700">
            <a:solidFill>
              <a:srgbClr val="D8DEDA"/>
            </a:solidFill>
          </a:ln>
          <a:effectLst/>
        </p:spPr>
      </p:cxnSp>
      <p:sp>
        <p:nvSpPr>
          <p:cNvPr id="36" name="Rectangle 35"/>
          <p:cNvSpPr/>
          <p:nvPr/>
        </p:nvSpPr>
        <p:spPr>
          <a:xfrm>
            <a:off x="7559039" y="4129077"/>
            <a:ext cx="1029919" cy="942473"/>
          </a:xfrm>
          <a:prstGeom prst="rect">
            <a:avLst/>
          </a:prstGeom>
          <a:solidFill>
            <a:srgbClr val="167964"/>
          </a:solidFill>
          <a:ln>
            <a:noFill/>
          </a:ln>
          <a:effectLst/>
        </p:spPr>
        <p:txBody>
          <a:bodyPr rtlCol="0" anchor="ctr"/>
          <a:lstStyle/>
          <a:p>
            <a:pPr algn="ctr"/>
          </a:p>
        </p:txBody>
      </p:sp>
      <p:sp>
        <p:nvSpPr>
          <p:cNvPr id="37" name="TextBox 36"/>
          <p:cNvSpPr txBox="1"/>
          <p:nvPr/>
        </p:nvSpPr>
        <p:spPr>
          <a:xfrm>
            <a:off x="7467599" y="368102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+10</a:t>
            </a:r>
          </a:p>
        </p:txBody>
      </p:sp>
      <p:sp>
        <p:nvSpPr>
          <p:cNvPr id="38" name="TextBox 37"/>
          <p:cNvSpPr txBox="1"/>
          <p:nvPr/>
        </p:nvSpPr>
        <p:spPr>
          <a:xfrm>
            <a:off x="738530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채무 증가</a:t>
            </a:r>
          </a:p>
        </p:txBody>
      </p:sp>
      <p:sp>
        <p:nvSpPr>
          <p:cNvPr id="39" name="Rectangle 38"/>
          <p:cNvSpPr/>
          <p:nvPr/>
        </p:nvSpPr>
        <p:spPr>
          <a:xfrm>
            <a:off x="9220200" y="4129077"/>
            <a:ext cx="1029919" cy="376989"/>
          </a:xfrm>
          <a:prstGeom prst="rect">
            <a:avLst/>
          </a:prstGeom>
          <a:solidFill>
            <a:srgbClr val="19282C"/>
          </a:solidFill>
          <a:ln>
            <a:noFill/>
          </a:ln>
          <a:effectLst/>
        </p:spPr>
        <p:txBody>
          <a:bodyPr rtlCol="0" anchor="ctr"/>
          <a:lstStyle/>
          <a:p>
            <a:pPr algn="ctr"/>
          </a:p>
        </p:txBody>
      </p:sp>
      <p:sp>
        <p:nvSpPr>
          <p:cNvPr id="40" name="TextBox 39"/>
          <p:cNvSpPr txBox="1"/>
          <p:nvPr/>
        </p:nvSpPr>
        <p:spPr>
          <a:xfrm>
            <a:off x="9128760" y="368102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4</a:t>
            </a:r>
          </a:p>
        </p:txBody>
      </p:sp>
      <p:sp>
        <p:nvSpPr>
          <p:cNvPr id="41" name="TextBox 40"/>
          <p:cNvSpPr txBox="1"/>
          <p:nvPr/>
        </p:nvSpPr>
        <p:spPr>
          <a:xfrm>
            <a:off x="90464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영업 현금</a:t>
            </a:r>
          </a:p>
        </p:txBody>
      </p:sp>
      <p:sp>
        <p:nvSpPr>
          <p:cNvPr id="42" name="TextBox 41"/>
          <p:cNvSpPr txBox="1"/>
          <p:nvPr/>
        </p:nvSpPr>
        <p:spPr>
          <a:xfrm>
            <a:off x="640080" y="2423160"/>
            <a:ext cx="3657600" cy="320040"/>
          </a:xfrm>
          <a:prstGeom prst="rect">
            <a:avLst/>
          </a:prstGeom>
          <a:noFill/>
        </p:spPr>
        <p:txBody>
          <a:bodyPr wrap="none" anchor="t" anchorCtr="0" lIns="0" rIns="0" tIns="0" bIns="0">
            <a:noAutofit/>
          </a:bodyPr>
          <a:lstStyle/>
          <a:p>
            <a:pPr algn="l">
              <a:lnSpc>
                <a:spcPct val="116000"/>
              </a:lnSpc>
              <a:spcBef>
                <a:spcPts val="0"/>
              </a:spcBef>
              <a:spcAft>
                <a:spcPts val="0"/>
              </a:spcAft>
              <a:defRPr sz="1300" b="0">
                <a:solidFill>
                  <a:srgbClr val="5C6B6E"/>
                </a:solidFill>
                <a:latin typeface="Noto Sans CJK KR"/>
                <a:ea typeface="Noto Sans CJK KR"/>
              </a:defRPr>
            </a:pPr>
            <a:r>
              <a:rPr>
                <a:ea typeface="Noto Sans CJK KR"/>
              </a:rPr>
              <a:t>단위: 억 원</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숫자에서 생긴 질문을 주석에서 확인합니다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증가 자체가 부실의 증거는 아닙니다. 이유를 확인할 질문으로 바꿉니다.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30</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31821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관찰</a:t>
            </a:r>
          </a:p>
        </p:txBody>
      </p:sp>
      <p:sp>
        <p:nvSpPr>
          <p:cNvPr id="21" name="TextBox 20"/>
          <p:cNvSpPr txBox="1"/>
          <p:nvPr/>
        </p:nvSpPr>
        <p:spPr>
          <a:xfrm>
            <a:off x="4215384" y="2532888"/>
            <a:ext cx="345643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아직 모르는 것</a:t>
            </a:r>
          </a:p>
        </p:txBody>
      </p:sp>
      <p:sp>
        <p:nvSpPr>
          <p:cNvPr id="22" name="TextBox 21"/>
          <p:cNvSpPr txBox="1"/>
          <p:nvPr/>
        </p:nvSpPr>
        <p:spPr>
          <a:xfrm>
            <a:off x="7964424" y="2532888"/>
            <a:ext cx="347472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다음에 읽을 항목</a:t>
            </a:r>
          </a:p>
        </p:txBody>
      </p:sp>
      <p:sp>
        <p:nvSpPr>
          <p:cNvPr id="23" name="Rectangle 22"/>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4" name="TextBox 23"/>
          <p:cNvSpPr txBox="1"/>
          <p:nvPr/>
        </p:nvSpPr>
        <p:spPr>
          <a:xfrm>
            <a:off x="740664" y="3063240"/>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매출채권 10 → 22억</a:t>
            </a:r>
          </a:p>
        </p:txBody>
      </p:sp>
      <p:sp>
        <p:nvSpPr>
          <p:cNvPr id="25" name="TextBox 24"/>
          <p:cNvSpPr txBox="1"/>
          <p:nvPr/>
        </p:nvSpPr>
        <p:spPr>
          <a:xfrm>
            <a:off x="4215384" y="3063240"/>
            <a:ext cx="34564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대금 회수가 늦어졌는가</a:t>
            </a:r>
          </a:p>
        </p:txBody>
      </p:sp>
      <p:sp>
        <p:nvSpPr>
          <p:cNvPr id="26" name="TextBox 25"/>
          <p:cNvSpPr txBox="1"/>
          <p:nvPr/>
        </p:nvSpPr>
        <p:spPr>
          <a:xfrm>
            <a:off x="7964424" y="3063240"/>
            <a:ext cx="3474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회수·손상 관련 설명</a:t>
            </a:r>
          </a:p>
        </p:txBody>
      </p:sp>
      <p:sp>
        <p:nvSpPr>
          <p:cNvPr id="27" name="Rectangle 26"/>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8" name="TextBox 27"/>
          <p:cNvSpPr txBox="1"/>
          <p:nvPr/>
        </p:nvSpPr>
        <p:spPr>
          <a:xfrm>
            <a:off x="740664" y="3776472"/>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재고 8 → 14억</a:t>
            </a:r>
          </a:p>
        </p:txBody>
      </p:sp>
      <p:sp>
        <p:nvSpPr>
          <p:cNvPr id="29" name="TextBox 28"/>
          <p:cNvSpPr txBox="1"/>
          <p:nvPr/>
        </p:nvSpPr>
        <p:spPr>
          <a:xfrm>
            <a:off x="4215384" y="3776472"/>
            <a:ext cx="34564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어떤 재고가 늘었는가</a:t>
            </a:r>
          </a:p>
        </p:txBody>
      </p:sp>
      <p:sp>
        <p:nvSpPr>
          <p:cNvPr id="30" name="TextBox 29"/>
          <p:cNvSpPr txBox="1"/>
          <p:nvPr/>
        </p:nvSpPr>
        <p:spPr>
          <a:xfrm>
            <a:off x="7964424" y="3776472"/>
            <a:ext cx="3474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구성·평가 관련 설명</a:t>
            </a:r>
          </a:p>
        </p:txBody>
      </p:sp>
      <p:sp>
        <p:nvSpPr>
          <p:cNvPr id="31" name="Rectangle 30"/>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32" name="TextBox 31"/>
          <p:cNvSpPr txBox="1"/>
          <p:nvPr/>
        </p:nvSpPr>
        <p:spPr>
          <a:xfrm>
            <a:off x="740664" y="4489703"/>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매입채무 증가 10억</a:t>
            </a:r>
          </a:p>
        </p:txBody>
      </p:sp>
      <p:sp>
        <p:nvSpPr>
          <p:cNvPr id="33" name="TextBox 32"/>
          <p:cNvSpPr txBox="1"/>
          <p:nvPr/>
        </p:nvSpPr>
        <p:spPr>
          <a:xfrm>
            <a:off x="4215384" y="4489703"/>
            <a:ext cx="34564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지급 시점과 조건은 무엇인가</a:t>
            </a:r>
          </a:p>
        </p:txBody>
      </p:sp>
      <p:sp>
        <p:nvSpPr>
          <p:cNvPr id="34" name="TextBox 33"/>
          <p:cNvSpPr txBox="1"/>
          <p:nvPr/>
        </p:nvSpPr>
        <p:spPr>
          <a:xfrm>
            <a:off x="7964424" y="4489703"/>
            <a:ext cx="3474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지급 조건·관련 주석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표로 수익성과 현금을 설명해 보세요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관찰한 계산과 아직 확인하지 못한 원인을 두 문장으로 나눕니다.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31</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매출은 +20%, 영업이익은 −20%입니다.</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영업이익률이 얼마나 바뀌었나요?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원가율과 판관비율 중 어디가 변했나요?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“원재료 가격 때문”이라고 말하려면 무엇이 더 필요한가요?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MODEL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완성된 분석은 계산과 미확인을 구분합니다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금액 증가만 나열하지 않고 매출 대비 비율과 다음 확인 자료를 연결합니다.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32</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“원가율이 60%에서 65%로 높아져</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영업이익률이 15%에서 10%로 낮아졌다.”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추가 확인: 원재료 매입가격 · 판매가격 · 제품 구성 중 어떤 항목이 변했는가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실습 결과는 다시 찾고 검산할 수 있게 남깁니다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실제 기업으로 연습할 때에는 한빛식품의 가상 수치를 가져다 쓰지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33</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원문 위치</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출처 기록</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링크 · 표 제목 · 확인일</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비교 표</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기준 통일</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기간 · 단위 · 연결 범위</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분석 문장</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사실 + 질문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계산 결과 · 미확인 원인</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03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CF283B"/>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34</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보고서 정보</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https://dart.fss.or.kr/introduction/content2.do</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https://dart.fss.or.kr/dsab007/main.do</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SEC · 재무제표 입문</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https://www.sec.gov/about/reports-publications/investorpubsbegfinstmtguide</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04</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좋은 실적과</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좋은 가격은 다릅니다</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EPS·PER·PBR·ROE를 계산하고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가격에 들어 있는 가정을 구분합니다.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04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EPS는 기업 이익을 주식 한 주의 단위로 바꿉니다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실제 EPS는 주당이익 주석의 이익·가중평균 주식 수·기본/희석 구분을 확인합니다.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36</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같은 귀속 범위의 순이익</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8억 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가상 2025년 순이익</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일정한 주식 수</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100만 주</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희석·자기주식 등 없는 가정</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주당순이익</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800원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8억 원 ÷ 100만 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주가가 같은데 PER가 높아진 이유</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주가가 오르지 않아도 이익이 줄면 이익 대비 가격은 높아집니다.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37</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2024년 EPS 1,000원</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PER 20배</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주가 20,000원 ÷ EPS 1,000원</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2025년 EPS 800원</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PER 25배</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주가 20,000원 ÷ EPS 800원</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PBR와 ROE는 자본을 다른 방식으로 사용합니다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PBR의 기말 자본과 ROE의 평균 자본을 같은 분모로 처리하지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38</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기말 자본 90억 원</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BPS 9,000원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주가 20,000 ÷ BPS 9,000 ≈ PBR 2.22배</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기초 70억 · 기말 90억</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평균 자본 80억</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순이익 8억 ÷ 평균 자본 80억 = ROE 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가격 시나리오에는 이익과 평가 배수 가정이 들어갑니다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주식 수 100만 주 유지. 현재 가정 주가 20,000원. 배당·비용·확률 미포함.</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같은 이익 회복에도 평가 배수에 따라 계산 가격이 달라집니다.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39</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374903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순이익 / EPS</a:t>
            </a:r>
          </a:p>
        </p:txBody>
      </p:sp>
      <p:sp>
        <p:nvSpPr>
          <p:cNvPr id="22" name="TextBox 21"/>
          <p:cNvSpPr txBox="1"/>
          <p:nvPr/>
        </p:nvSpPr>
        <p:spPr>
          <a:xfrm>
            <a:off x="4782312" y="2532888"/>
            <a:ext cx="31821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PER 20배</a:t>
            </a:r>
          </a:p>
        </p:txBody>
      </p:sp>
      <p:sp>
        <p:nvSpPr>
          <p:cNvPr id="23" name="TextBox 22"/>
          <p:cNvSpPr txBox="1"/>
          <p:nvPr/>
        </p:nvSpPr>
        <p:spPr>
          <a:xfrm>
            <a:off x="8257032" y="2532888"/>
            <a:ext cx="31821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PER 25배</a:t>
            </a:r>
          </a:p>
        </p:txBody>
      </p:sp>
      <p:sp>
        <p:nvSpPr>
          <p:cNvPr id="24" name="Rectangle 23"/>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374903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6억 / 600원</a:t>
            </a:r>
          </a:p>
        </p:txBody>
      </p:sp>
      <p:sp>
        <p:nvSpPr>
          <p:cNvPr id="26" name="TextBox 25"/>
          <p:cNvSpPr txBox="1"/>
          <p:nvPr/>
        </p:nvSpPr>
        <p:spPr>
          <a:xfrm>
            <a:off x="4782312" y="3063240"/>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12,000원</a:t>
            </a:r>
          </a:p>
        </p:txBody>
      </p:sp>
      <p:sp>
        <p:nvSpPr>
          <p:cNvPr id="27" name="TextBox 26"/>
          <p:cNvSpPr txBox="1"/>
          <p:nvPr/>
        </p:nvSpPr>
        <p:spPr>
          <a:xfrm>
            <a:off x="8257032" y="3063240"/>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15,000원</a:t>
            </a:r>
          </a:p>
        </p:txBody>
      </p:sp>
      <p:sp>
        <p:nvSpPr>
          <p:cNvPr id="28" name="Rectangle 27"/>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6472"/>
            <a:ext cx="374903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8억 / 800원</a:t>
            </a:r>
          </a:p>
        </p:txBody>
      </p:sp>
      <p:sp>
        <p:nvSpPr>
          <p:cNvPr id="30" name="TextBox 29"/>
          <p:cNvSpPr txBox="1"/>
          <p:nvPr/>
        </p:nvSpPr>
        <p:spPr>
          <a:xfrm>
            <a:off x="4782312" y="3776472"/>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16,000원</a:t>
            </a:r>
          </a:p>
        </p:txBody>
      </p:sp>
      <p:sp>
        <p:nvSpPr>
          <p:cNvPr id="31" name="TextBox 30"/>
          <p:cNvSpPr txBox="1"/>
          <p:nvPr/>
        </p:nvSpPr>
        <p:spPr>
          <a:xfrm>
            <a:off x="8257032" y="3776472"/>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20,000원</a:t>
            </a:r>
          </a:p>
        </p:txBody>
      </p:sp>
      <p:sp>
        <p:nvSpPr>
          <p:cNvPr id="32" name="Rectangle 31"/>
          <p:cNvSpPr/>
          <p:nvPr/>
        </p:nvSpPr>
        <p:spPr>
          <a:xfrm>
            <a:off x="594360" y="4361688"/>
            <a:ext cx="10991088" cy="713232"/>
          </a:xfrm>
          <a:prstGeom prst="rect">
            <a:avLst/>
          </a:prstGeom>
          <a:solidFill>
            <a:srgbClr val="FBE9E7"/>
          </a:solidFill>
          <a:ln>
            <a:noFill/>
          </a:ln>
          <a:effectLst/>
        </p:spPr>
        <p:txBody>
          <a:bodyPr rtlCol="0" anchor="ctr"/>
          <a:lstStyle/>
          <a:p>
            <a:pPr algn="ctr"/>
          </a:p>
        </p:txBody>
      </p:sp>
      <p:sp>
        <p:nvSpPr>
          <p:cNvPr id="33" name="TextBox 32"/>
          <p:cNvSpPr txBox="1"/>
          <p:nvPr/>
        </p:nvSpPr>
        <p:spPr>
          <a:xfrm>
            <a:off x="740664" y="4489703"/>
            <a:ext cx="374903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CF283B"/>
                </a:solidFill>
                <a:latin typeface="Noto Sans CJK KR"/>
                <a:ea typeface="Noto Sans CJK KR"/>
              </a:defRPr>
            </a:pPr>
            <a:r>
              <a:rPr>
                <a:ea typeface="Noto Sans CJK KR"/>
              </a:rPr>
              <a:t>10억 / 1,000원</a:t>
            </a:r>
          </a:p>
        </p:txBody>
      </p:sp>
      <p:sp>
        <p:nvSpPr>
          <p:cNvPr id="34" name="TextBox 33"/>
          <p:cNvSpPr txBox="1"/>
          <p:nvPr/>
        </p:nvSpPr>
        <p:spPr>
          <a:xfrm>
            <a:off x="4782312" y="4489703"/>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20,000원</a:t>
            </a:r>
          </a:p>
        </p:txBody>
      </p:sp>
      <p:sp>
        <p:nvSpPr>
          <p:cNvPr id="35" name="TextBox 34"/>
          <p:cNvSpPr txBox="1"/>
          <p:nvPr/>
        </p:nvSpPr>
        <p:spPr>
          <a:xfrm>
            <a:off x="8257032" y="4489703"/>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25,000원</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시나리오를 제시하기 전에 답할 두 질문</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높은 이익과 높은 배수를 동시에 썼다면 각각의 근거를 제시해야 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40</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사업 가정</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왜 10억인가?</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원가율·판매가격·물량의 근거</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평가 가정</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왜 25배인가?</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같은 기준의 비교와 위험 검토</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이익은 늘었지만 계산 가격이 낮아질 수 있나요?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EPS와 평가 배수의 변화를 따로 계산합니다.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41</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EPS 1,000 → 1,200원 / PER 20 → 15배</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전후의 EPS × PER를 각각 계산하세요.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가격 변화율을 구하세요.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“이익 증가 = 주가 상승”에서 빠진 조건은 무엇인가요?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EPS +20%와 계산 가격 −10%가 동시에 가능합니다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평가 배수가 낮아지면 이익 증가가 가격 상승으로 이어지지 않을 수 있습니다.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42</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처음</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20,000원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EPS 1,000원 × PER 20배</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변경 가정</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18,000원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EPS 1,200원 × PER 15배</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낮은 배수를 매수 결론으로 바로 바꾸지 않습니다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배수는 비교를 돕는 숫자입니다. 결론의 근거를 대신하지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43</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“이익이 일시적이지 않은지,</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비교 기준과 사업 위험이 같은지 확인한다.”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확인 목록: 실적 기간 · 기본/희석 EPS · 일회성 이익 · 비교 기업의 사업 차이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제출할 분석 메모: 가정과 수정 조건까지</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가상 시나리오를 회사 전망이나 수익 보장으로 표시하지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44</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208483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항목</a:t>
            </a:r>
          </a:p>
        </p:txBody>
      </p:sp>
      <p:sp>
        <p:nvSpPr>
          <p:cNvPr id="21" name="TextBox 20"/>
          <p:cNvSpPr txBox="1"/>
          <p:nvPr/>
        </p:nvSpPr>
        <p:spPr>
          <a:xfrm>
            <a:off x="3118104" y="2532888"/>
            <a:ext cx="832104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완성 예시</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현재 기준</a:t>
            </a:r>
          </a:p>
        </p:txBody>
      </p:sp>
      <p:sp>
        <p:nvSpPr>
          <p:cNvPr id="24" name="TextBox 23"/>
          <p:cNvSpPr txBox="1"/>
          <p:nvPr/>
        </p:nvSpPr>
        <p:spPr>
          <a:xfrm>
            <a:off x="3118104" y="306324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주가 20,000원 / EPS 800원 / PER 25배</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회복 가정</a:t>
            </a:r>
          </a:p>
        </p:txBody>
      </p:sp>
      <p:sp>
        <p:nvSpPr>
          <p:cNvPr id="27" name="TextBox 26"/>
          <p:cNvSpPr txBox="1"/>
          <p:nvPr/>
        </p:nvSpPr>
        <p:spPr>
          <a:xfrm>
            <a:off x="3118104" y="377035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순이익 10억 원 / EPS 1,000원</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가격 민감도</a:t>
            </a:r>
          </a:p>
        </p:txBody>
      </p:sp>
      <p:sp>
        <p:nvSpPr>
          <p:cNvPr id="30" name="TextBox 29"/>
          <p:cNvSpPr txBox="1"/>
          <p:nvPr/>
        </p:nvSpPr>
        <p:spPr>
          <a:xfrm>
            <a:off x="3118104" y="447746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PER 20배면 20,000원, 25배면 25,000원</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수정 조건</a:t>
            </a:r>
          </a:p>
        </p:txBody>
      </p:sp>
      <p:sp>
        <p:nvSpPr>
          <p:cNvPr id="33" name="TextBox 32"/>
          <p:cNvSpPr txBox="1"/>
          <p:nvPr/>
        </p:nvSpPr>
        <p:spPr>
          <a:xfrm>
            <a:off x="3118104" y="518457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원가율이 계속 높으면 이익 회복 가정을 재검토</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45</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보고서 정보</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https://dart.fss.or.kr/introduction/content2.do</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https://dart.fss.or.kr/dsab007/main.do</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SEC · 재무제표 입문</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https://www.sec.gov/about/reports-publications/investorpubsbegfinstmtguide</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05</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뉴스의 제목에서</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판단의 근거로</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기사의 조건과 공개 시각을 읽고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관찰한 사실과 추정을 나눕니다.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05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계약 기사라도 “협의”와 “체결”은 다릅니다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기사의 동사와 조건을 먼저 읽습니다. 실제 기사 인용이 아닌 학습용 문장입니다.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47</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가상 뉴스 A</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공급계약 협의 중</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연간 30억 원 규모 · 성립 미확정</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가상 뉴스 B</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공급계약 체결</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다음 해 공급 · 요청 물량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제목의 숫자를 계약 조건으로 풀어 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계약 금액을 당기 매출이나 순이익으로 바로 더하지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48</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45537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기사에서 확인한 것</a:t>
            </a:r>
          </a:p>
        </p:txBody>
      </p:sp>
      <p:sp>
        <p:nvSpPr>
          <p:cNvPr id="21" name="TextBox 20"/>
          <p:cNvSpPr txBox="1"/>
          <p:nvPr/>
        </p:nvSpPr>
        <p:spPr>
          <a:xfrm>
            <a:off x="5586984" y="2532888"/>
            <a:ext cx="585215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아직 확인하지 못한 것</a:t>
            </a:r>
          </a:p>
        </p:txBody>
      </p:sp>
      <p:sp>
        <p:nvSpPr>
          <p:cNvPr id="22" name="Rectangle 21"/>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4553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계약 금액 30억 원</a:t>
            </a:r>
          </a:p>
        </p:txBody>
      </p:sp>
      <p:sp>
        <p:nvSpPr>
          <p:cNvPr id="24" name="TextBox 23"/>
          <p:cNvSpPr txBox="1"/>
          <p:nvPr/>
        </p:nvSpPr>
        <p:spPr>
          <a:xfrm>
            <a:off x="5586984" y="3063240"/>
            <a:ext cx="585215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최소 구매 의무가 있는가</a:t>
            </a:r>
          </a:p>
        </p:txBody>
      </p:sp>
      <p:sp>
        <p:nvSpPr>
          <p:cNvPr id="25" name="Rectangle 24"/>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6472"/>
            <a:ext cx="4553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다음 해 1~12월 공급</a:t>
            </a:r>
          </a:p>
        </p:txBody>
      </p:sp>
      <p:sp>
        <p:nvSpPr>
          <p:cNvPr id="27" name="TextBox 26"/>
          <p:cNvSpPr txBox="1"/>
          <p:nvPr/>
        </p:nvSpPr>
        <p:spPr>
          <a:xfrm>
            <a:off x="5586984" y="3776472"/>
            <a:ext cx="585215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신규 물량인가, 기존 거래 갱신인가</a:t>
            </a:r>
          </a:p>
        </p:txBody>
      </p:sp>
      <p:sp>
        <p:nvSpPr>
          <p:cNvPr id="28" name="Rectangle 27"/>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89703"/>
            <a:ext cx="4553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요청 물량에 따라 공급</a:t>
            </a:r>
          </a:p>
        </p:txBody>
      </p:sp>
      <p:sp>
        <p:nvSpPr>
          <p:cNvPr id="30" name="TextBox 29"/>
          <p:cNvSpPr txBox="1"/>
          <p:nvPr/>
        </p:nvSpPr>
        <p:spPr>
          <a:xfrm>
            <a:off x="5586984" y="4489703"/>
            <a:ext cx="585215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납품·매출 인식·대금 지급 시점은 언제인가</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25%는 계약의 크기, 확정 성장률이 아닙니다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계약 대금과 매출 인식액, 이익은 각각 다른 개념입니다.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49</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계약 / 직전 연매출</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30억 ÷ 120억</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기존 매출의 25% 규모</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그대로 말할 수 없는 결론</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“매출 +25% 확정”</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물량 · 기간 · 신규 여부가 더 필요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원인을 말하기 전에 사건을 시간순으로 놓습니다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16:10 공개 이후 반응으로 13:00의 상승을 설명할 수는 없습니다.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50</a:t>
            </a:r>
          </a:p>
        </p:txBody>
      </p:sp>
      <p:cxnSp>
        <p:nvCxnSpPr>
          <p:cNvPr id="19" name="Connector 18"/>
          <p:cNvCxnSpPr/>
          <p:nvPr/>
        </p:nvCxnSpPr>
        <p:spPr>
          <a:xfrm>
            <a:off x="932688" y="3300984"/>
            <a:ext cx="10222992" cy="0"/>
          </a:xfrm>
          <a:prstGeom prst="line">
            <a:avLst/>
          </a:prstGeom>
          <a:ln w="38100">
            <a:solidFill>
              <a:srgbClr val="D8DEDA"/>
            </a:solidFill>
          </a:ln>
          <a:effectLst/>
        </p:spPr>
      </p:cxnSp>
      <p:sp>
        <p:nvSpPr>
          <p:cNvPr id="20" name="Rectangle 19"/>
          <p:cNvSpPr/>
          <p:nvPr/>
        </p:nvSpPr>
        <p:spPr>
          <a:xfrm>
            <a:off x="868680" y="3236976"/>
            <a:ext cx="128016" cy="128016"/>
          </a:xfrm>
          <a:prstGeom prst="rect">
            <a:avLst/>
          </a:prstGeom>
          <a:solidFill>
            <a:srgbClr val="19282C"/>
          </a:solidFill>
          <a:ln>
            <a:noFill/>
          </a:ln>
          <a:effectLst/>
        </p:spPr>
        <p:txBody>
          <a:bodyPr rtlCol="0" anchor="ctr"/>
          <a:lstStyle/>
          <a:p>
            <a:pPr algn="ctr"/>
          </a:p>
        </p:txBody>
      </p:sp>
      <p:sp>
        <p:nvSpPr>
          <p:cNvPr id="21" name="TextBox 20"/>
          <p:cNvSpPr txBox="1"/>
          <p:nvPr/>
        </p:nvSpPr>
        <p:spPr>
          <a:xfrm>
            <a:off x="59436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09:10</a:t>
            </a:r>
          </a:p>
        </p:txBody>
      </p:sp>
      <p:sp>
        <p:nvSpPr>
          <p:cNvPr id="22" name="TextBox 21"/>
          <p:cNvSpPr txBox="1"/>
          <p:nvPr/>
        </p:nvSpPr>
        <p:spPr>
          <a:xfrm>
            <a:off x="59436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종목 +1%</a:t>
            </a:r>
          </a:p>
        </p:txBody>
      </p:sp>
      <p:sp>
        <p:nvSpPr>
          <p:cNvPr id="23" name="TextBox 22"/>
          <p:cNvSpPr txBox="1"/>
          <p:nvPr/>
        </p:nvSpPr>
        <p:spPr>
          <a:xfrm>
            <a:off x="59436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가격 관찰</a:t>
            </a:r>
          </a:p>
        </p:txBody>
      </p:sp>
      <p:sp>
        <p:nvSpPr>
          <p:cNvPr id="24" name="Rectangle 23"/>
          <p:cNvSpPr/>
          <p:nvPr/>
        </p:nvSpPr>
        <p:spPr>
          <a:xfrm>
            <a:off x="4276343" y="3236976"/>
            <a:ext cx="128016" cy="128016"/>
          </a:xfrm>
          <a:prstGeom prst="rect">
            <a:avLst/>
          </a:prstGeom>
          <a:solidFill>
            <a:srgbClr val="19282C"/>
          </a:solidFill>
          <a:ln>
            <a:noFill/>
          </a:ln>
          <a:effectLst/>
        </p:spPr>
        <p:txBody>
          <a:bodyPr rtlCol="0" anchor="ctr"/>
          <a:lstStyle/>
          <a:p>
            <a:pPr algn="ctr"/>
          </a:p>
        </p:txBody>
      </p:sp>
      <p:sp>
        <p:nvSpPr>
          <p:cNvPr id="25" name="TextBox 24"/>
          <p:cNvSpPr txBox="1"/>
          <p:nvPr/>
        </p:nvSpPr>
        <p:spPr>
          <a:xfrm>
            <a:off x="3608831"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13:00</a:t>
            </a:r>
          </a:p>
        </p:txBody>
      </p:sp>
      <p:sp>
        <p:nvSpPr>
          <p:cNvPr id="26" name="TextBox 25"/>
          <p:cNvSpPr txBox="1"/>
          <p:nvPr/>
        </p:nvSpPr>
        <p:spPr>
          <a:xfrm>
            <a:off x="3608831"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종목 +6%</a:t>
            </a:r>
          </a:p>
        </p:txBody>
      </p:sp>
      <p:sp>
        <p:nvSpPr>
          <p:cNvPr id="27" name="TextBox 26"/>
          <p:cNvSpPr txBox="1"/>
          <p:nvPr/>
        </p:nvSpPr>
        <p:spPr>
          <a:xfrm>
            <a:off x="3608831"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산업도 상승</a:t>
            </a:r>
          </a:p>
        </p:txBody>
      </p:sp>
      <p:sp>
        <p:nvSpPr>
          <p:cNvPr id="28" name="Rectangle 27"/>
          <p:cNvSpPr/>
          <p:nvPr/>
        </p:nvSpPr>
        <p:spPr>
          <a:xfrm>
            <a:off x="7684007" y="3236976"/>
            <a:ext cx="128016" cy="128016"/>
          </a:xfrm>
          <a:prstGeom prst="rect">
            <a:avLst/>
          </a:prstGeom>
          <a:solidFill>
            <a:srgbClr val="19282C"/>
          </a:solidFill>
          <a:ln>
            <a:noFill/>
          </a:ln>
          <a:effectLst/>
        </p:spPr>
        <p:txBody>
          <a:bodyPr rtlCol="0" anchor="ctr"/>
          <a:lstStyle/>
          <a:p>
            <a:pPr algn="ctr"/>
          </a:p>
        </p:txBody>
      </p:sp>
      <p:sp>
        <p:nvSpPr>
          <p:cNvPr id="29" name="TextBox 28"/>
          <p:cNvSpPr txBox="1"/>
          <p:nvPr/>
        </p:nvSpPr>
        <p:spPr>
          <a:xfrm>
            <a:off x="7016496"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15:30</a:t>
            </a:r>
          </a:p>
        </p:txBody>
      </p:sp>
      <p:sp>
        <p:nvSpPr>
          <p:cNvPr id="30" name="TextBox 29"/>
          <p:cNvSpPr txBox="1"/>
          <p:nvPr/>
        </p:nvSpPr>
        <p:spPr>
          <a:xfrm>
            <a:off x="7016496"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종가 +8%</a:t>
            </a:r>
          </a:p>
        </p:txBody>
      </p:sp>
      <p:sp>
        <p:nvSpPr>
          <p:cNvPr id="31" name="TextBox 30"/>
          <p:cNvSpPr txBox="1"/>
          <p:nvPr/>
        </p:nvSpPr>
        <p:spPr>
          <a:xfrm>
            <a:off x="7016496"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거래일 요약</a:t>
            </a:r>
          </a:p>
        </p:txBody>
      </p:sp>
      <p:sp>
        <p:nvSpPr>
          <p:cNvPr id="32" name="Rectangle 31"/>
          <p:cNvSpPr/>
          <p:nvPr/>
        </p:nvSpPr>
        <p:spPr>
          <a:xfrm>
            <a:off x="11091672" y="3236976"/>
            <a:ext cx="128016" cy="128016"/>
          </a:xfrm>
          <a:prstGeom prst="rect">
            <a:avLst/>
          </a:prstGeom>
          <a:solidFill>
            <a:srgbClr val="CF283B"/>
          </a:solidFill>
          <a:ln>
            <a:noFill/>
          </a:ln>
          <a:effectLst/>
        </p:spPr>
        <p:txBody>
          <a:bodyPr rtlCol="0" anchor="ctr"/>
          <a:lstStyle/>
          <a:p>
            <a:pPr algn="ctr"/>
          </a:p>
        </p:txBody>
      </p:sp>
      <p:sp>
        <p:nvSpPr>
          <p:cNvPr id="33" name="TextBox 32"/>
          <p:cNvSpPr txBox="1"/>
          <p:nvPr/>
        </p:nvSpPr>
        <p:spPr>
          <a:xfrm>
            <a:off x="923544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CF283B"/>
                </a:solidFill>
                <a:latin typeface="Noto Sans CJK KR"/>
                <a:ea typeface="Noto Sans CJK KR"/>
              </a:defRPr>
            </a:pPr>
            <a:r>
              <a:rPr>
                <a:ea typeface="Noto Sans CJK KR"/>
              </a:rPr>
              <a:t>16:10</a:t>
            </a:r>
          </a:p>
        </p:txBody>
      </p:sp>
      <p:sp>
        <p:nvSpPr>
          <p:cNvPr id="34" name="TextBox 33"/>
          <p:cNvSpPr txBox="1"/>
          <p:nvPr/>
        </p:nvSpPr>
        <p:spPr>
          <a:xfrm>
            <a:off x="923544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계약 발표</a:t>
            </a:r>
          </a:p>
        </p:txBody>
      </p:sp>
      <p:sp>
        <p:nvSpPr>
          <p:cNvPr id="35" name="TextBox 34"/>
          <p:cNvSpPr txBox="1"/>
          <p:nvPr/>
        </p:nvSpPr>
        <p:spPr>
          <a:xfrm>
            <a:off x="923544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장 마감 뒤 공개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기사 세 건이 독립 근거 세 개는 아닐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기사 수보다 독립된 원문과 새롭게 확인한 사실을 확인합니다.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51</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원문 사건</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기업 발표 1건</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계약 금액과 조건 확인</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같은 발표 재인용</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언론 보도 3건</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발표 시각 이후 기사 작성</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근거 기록</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원문 1 + 보도 3</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새롭게 확인한 사실을 구분</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포착 목록에서 세 가지를 더 확인합니다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같은 테마라도 실제 사업 비중과 영향은 기업마다 다릅니다.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52</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등락률</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집계 범위</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관찰일 · 기준 가격 · 대상 종목</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거래 규모</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거래대금</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주식 수와 거래 금액을 구분</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테마 분류</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사업 비중</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간편식 72억 / 매출 120억 =</a:t>
            </a:r>
          </a:p>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60%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다음 브리핑에서 검증되지 않은 연결을 찾으세요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확인한 사실을 남기고, 자료가 뒷받침하지 않는 연결을 고칩니다.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53</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“계약 공시 때문에 오늘 8% 올랐고,</a:t>
            </a:r>
          </a:p>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매출도 25% 늘어날 것이다.”</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공개 시각과 가격 움직임이 맞나요?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25%는 어떤 두 숫자의 비율인가요?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계약의 어떤 조건을 더 확인해야 하나요?</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MODEL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확인한 사실과 남은 질문으로 브리핑합니다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“알 수 없다”에서 멈추지 않고 다음에 읽을 자료와 조건을 명시합니다.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54</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“당일 8% 상승했고 계약 발표는 장 마감 후였다.</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상승 원인과 매출 기여는 추가 확인이 필요하다.”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추가 확인: 이전 공개 정보 · 산업 움직임 · 최소 구매 의무 · 신규 물량 · 인식 시점</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오늘의 시장 메모를 한 장으로 완성합니다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하락 포착도 같은 순서로 조사합니다. 이유 미확인을 “악재 없음”으로 바꾸지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55</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관찰한 사실</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가격 · 규모</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기준 시각과 집계 범위</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원문 확인</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동사 · 조건</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발표 시각 · 금액 · 기간</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분석 문장</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사실 + 질문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해석과 미확인을 나눠 작성</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05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CF283B"/>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56</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https://dart.fss.or.kr/dsab007/main.do</a:t>
            </a:r>
          </a:p>
        </p:txBody>
      </p:sp>
      <p:sp>
        <p:nvSpPr>
          <p:cNvPr id="20" name="TextBox 19"/>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06</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종목을 늘리면</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위험도 나뉠까요?</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ETF 안의 중복 보유를 계산하고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계좌 전체의 노출을 확인합니다.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06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보유 목록을 보면 분산되어 있는 것처럼 보입니다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ETF 안에도 한빛식품이 10% 들어 있다면?</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상품 이름의 개수와 실제로 노출된 기업·위험의 개수는 다릅니다.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58</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521207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가상 계좌 100만 원</a:t>
            </a:r>
          </a:p>
        </p:txBody>
      </p:sp>
      <p:sp>
        <p:nvSpPr>
          <p:cNvPr id="22" name="TextBox 21"/>
          <p:cNvSpPr txBox="1"/>
          <p:nvPr/>
        </p:nvSpPr>
        <p:spPr>
          <a:xfrm>
            <a:off x="6245352" y="2532888"/>
            <a:ext cx="24505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금액</a:t>
            </a:r>
          </a:p>
        </p:txBody>
      </p:sp>
      <p:sp>
        <p:nvSpPr>
          <p:cNvPr id="23" name="TextBox 22"/>
          <p:cNvSpPr txBox="1"/>
          <p:nvPr/>
        </p:nvSpPr>
        <p:spPr>
          <a:xfrm>
            <a:off x="8988552" y="2532888"/>
            <a:ext cx="24505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계좌 비중</a:t>
            </a:r>
          </a:p>
        </p:txBody>
      </p:sp>
      <p:sp>
        <p:nvSpPr>
          <p:cNvPr id="24" name="Rectangle 23"/>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52120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한빛식품 직접 보유</a:t>
            </a:r>
          </a:p>
        </p:txBody>
      </p:sp>
      <p:sp>
        <p:nvSpPr>
          <p:cNvPr id="26" name="TextBox 25"/>
          <p:cNvSpPr txBox="1"/>
          <p:nvPr/>
        </p:nvSpPr>
        <p:spPr>
          <a:xfrm>
            <a:off x="6245352" y="3063240"/>
            <a:ext cx="24505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20만 원</a:t>
            </a:r>
          </a:p>
        </p:txBody>
      </p:sp>
      <p:sp>
        <p:nvSpPr>
          <p:cNvPr id="27" name="TextBox 26"/>
          <p:cNvSpPr txBox="1"/>
          <p:nvPr/>
        </p:nvSpPr>
        <p:spPr>
          <a:xfrm>
            <a:off x="8988552" y="3063240"/>
            <a:ext cx="24505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a:t>
            </a:r>
          </a:p>
        </p:txBody>
      </p:sp>
      <p:sp>
        <p:nvSpPr>
          <p:cNvPr id="28" name="Rectangle 27"/>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6472"/>
            <a:ext cx="52120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식품 ETF</a:t>
            </a:r>
          </a:p>
        </p:txBody>
      </p:sp>
      <p:sp>
        <p:nvSpPr>
          <p:cNvPr id="30" name="TextBox 29"/>
          <p:cNvSpPr txBox="1"/>
          <p:nvPr/>
        </p:nvSpPr>
        <p:spPr>
          <a:xfrm>
            <a:off x="6245352" y="3776472"/>
            <a:ext cx="24505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50만 원</a:t>
            </a:r>
          </a:p>
        </p:txBody>
      </p:sp>
      <p:sp>
        <p:nvSpPr>
          <p:cNvPr id="31" name="TextBox 30"/>
          <p:cNvSpPr txBox="1"/>
          <p:nvPr/>
        </p:nvSpPr>
        <p:spPr>
          <a:xfrm>
            <a:off x="8988552" y="3776472"/>
            <a:ext cx="24505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50%</a:t>
            </a:r>
          </a:p>
        </p:txBody>
      </p:sp>
      <p:sp>
        <p:nvSpPr>
          <p:cNvPr id="32" name="Rectangle 31"/>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33" name="TextBox 32"/>
          <p:cNvSpPr txBox="1"/>
          <p:nvPr/>
        </p:nvSpPr>
        <p:spPr>
          <a:xfrm>
            <a:off x="740664" y="4489703"/>
            <a:ext cx="521207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현금</a:t>
            </a:r>
          </a:p>
        </p:txBody>
      </p:sp>
      <p:sp>
        <p:nvSpPr>
          <p:cNvPr id="34" name="TextBox 33"/>
          <p:cNvSpPr txBox="1"/>
          <p:nvPr/>
        </p:nvSpPr>
        <p:spPr>
          <a:xfrm>
            <a:off x="6245352" y="4489703"/>
            <a:ext cx="24505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30만 원</a:t>
            </a:r>
          </a:p>
        </p:txBody>
      </p:sp>
      <p:sp>
        <p:nvSpPr>
          <p:cNvPr id="35" name="TextBox 34"/>
          <p:cNvSpPr txBox="1"/>
          <p:nvPr/>
        </p:nvSpPr>
        <p:spPr>
          <a:xfrm>
            <a:off x="8988552" y="4489703"/>
            <a:ext cx="245059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ETF 안의 같은 기업을 계좌 금액으로 환산합니다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직접 비중 20%와 ETF 내부 비중 10%를 그대로 더하지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59</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직접 보유</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20만 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전체 계좌의 20%</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ETF를 통한 보유</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5만 원</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ETF 50만 원 × 내부 10%</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같은 기업의 총 노출</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25만 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20만 + 5만 = 계좌의 25%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기업을 나누어도 같은 위험이 남을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분산은 손실을 없애는 장치가 아닙니다. 같은 사건에 함께 영향을 받는지 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60</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기업 고유 위험</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개별 사건</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한 회사의 생산 차질·계약 변경</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산업 공통 위험</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원재료 가격</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여러 식품기업이 함께 영향</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계좌 전체 관점</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공통 노출</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고객 · 산업 · 지역 · 통화 확인</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ETF 가격과 순자산가치는 같은 값이 아닐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차이 1%는 관찰값입니다. 그 차이가 사라져 이익이 된다는 보장은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61</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같은 시점 순자산가치</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100주 기준 합계 100만 원</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시장 거래 가격</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10,100원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100주 거래 금액 101만 원</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ETF 비교표에는 이름보다 구조를 적습니다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구성·시점이 다른 상품을 보수 한 숫자로만 비교하지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62</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292608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찾을 항목</a:t>
            </a:r>
          </a:p>
        </p:txBody>
      </p:sp>
      <p:sp>
        <p:nvSpPr>
          <p:cNvPr id="21" name="TextBox 20"/>
          <p:cNvSpPr txBox="1"/>
          <p:nvPr/>
        </p:nvSpPr>
        <p:spPr>
          <a:xfrm>
            <a:off x="3959352" y="2532888"/>
            <a:ext cx="747979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자료에서 확인할 내용</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292608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추종 대상과 구성</a:t>
            </a:r>
          </a:p>
        </p:txBody>
      </p:sp>
      <p:sp>
        <p:nvSpPr>
          <p:cNvPr id="24" name="TextBox 23"/>
          <p:cNvSpPr txBox="1"/>
          <p:nvPr/>
        </p:nvSpPr>
        <p:spPr>
          <a:xfrm>
            <a:off x="3959352" y="3063240"/>
            <a:ext cx="7479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지수 이름 · 상위 종목 · 편입 기준일</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292608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운용과 통화</a:t>
            </a:r>
          </a:p>
        </p:txBody>
      </p:sp>
      <p:sp>
        <p:nvSpPr>
          <p:cNvPr id="27" name="TextBox 26"/>
          <p:cNvSpPr txBox="1"/>
          <p:nvPr/>
        </p:nvSpPr>
        <p:spPr>
          <a:xfrm>
            <a:off x="3959352" y="3770350"/>
            <a:ext cx="7479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운용 방식 · 통화 노출 · 분배금 처리</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292608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가격 기준</a:t>
            </a:r>
          </a:p>
        </p:txBody>
      </p:sp>
      <p:sp>
        <p:nvSpPr>
          <p:cNvPr id="30" name="TextBox 29"/>
          <p:cNvSpPr txBox="1"/>
          <p:nvPr/>
        </p:nvSpPr>
        <p:spPr>
          <a:xfrm>
            <a:off x="3959352" y="4477460"/>
            <a:ext cx="7479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거래 가격과 순자산가치의 시점 · 추정/확정</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292608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비용</a:t>
            </a:r>
          </a:p>
        </p:txBody>
      </p:sp>
      <p:sp>
        <p:nvSpPr>
          <p:cNvPr id="33" name="TextBox 32"/>
          <p:cNvSpPr txBox="1"/>
          <p:nvPr/>
        </p:nvSpPr>
        <p:spPr>
          <a:xfrm>
            <a:off x="3959352" y="5184570"/>
            <a:ext cx="747979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보수 · 기타 비용 · 수수료 · 스프레드</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계좌 수익률이 0%여도 비중은 달라집니다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기간 중 계좌 입출금·매매·배당·비용 없음. 총액 100만 원 유지.</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20% × 10% + 50% × (−4%) = 0%. 현재 구성은 22% · 48% · 30%입니다.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63</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22677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자산</a:t>
            </a:r>
          </a:p>
        </p:txBody>
      </p:sp>
      <p:sp>
        <p:nvSpPr>
          <p:cNvPr id="22" name="TextBox 21"/>
          <p:cNvSpPr txBox="1"/>
          <p:nvPr/>
        </p:nvSpPr>
        <p:spPr>
          <a:xfrm>
            <a:off x="3300984" y="2532888"/>
            <a:ext cx="263347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시작</a:t>
            </a:r>
          </a:p>
        </p:txBody>
      </p:sp>
      <p:sp>
        <p:nvSpPr>
          <p:cNvPr id="23" name="TextBox 22"/>
          <p:cNvSpPr txBox="1"/>
          <p:nvPr/>
        </p:nvSpPr>
        <p:spPr>
          <a:xfrm>
            <a:off x="6227064" y="2532888"/>
            <a:ext cx="208483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수익률</a:t>
            </a:r>
          </a:p>
        </p:txBody>
      </p:sp>
      <p:sp>
        <p:nvSpPr>
          <p:cNvPr id="24" name="TextBox 23"/>
          <p:cNvSpPr txBox="1"/>
          <p:nvPr/>
        </p:nvSpPr>
        <p:spPr>
          <a:xfrm>
            <a:off x="8604504" y="2532888"/>
            <a:ext cx="283464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기말</a:t>
            </a:r>
          </a:p>
        </p:txBody>
      </p:sp>
      <p:sp>
        <p:nvSpPr>
          <p:cNvPr id="25" name="Rectangle 24"/>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6" name="TextBox 25"/>
          <p:cNvSpPr txBox="1"/>
          <p:nvPr/>
        </p:nvSpPr>
        <p:spPr>
          <a:xfrm>
            <a:off x="740664" y="3063240"/>
            <a:ext cx="2267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직접 보유</a:t>
            </a:r>
          </a:p>
        </p:txBody>
      </p:sp>
      <p:sp>
        <p:nvSpPr>
          <p:cNvPr id="27" name="TextBox 26"/>
          <p:cNvSpPr txBox="1"/>
          <p:nvPr/>
        </p:nvSpPr>
        <p:spPr>
          <a:xfrm>
            <a:off x="3300984" y="3063240"/>
            <a:ext cx="26334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20만 / 20%</a:t>
            </a:r>
          </a:p>
        </p:txBody>
      </p:sp>
      <p:sp>
        <p:nvSpPr>
          <p:cNvPr id="28" name="TextBox 27"/>
          <p:cNvSpPr txBox="1"/>
          <p:nvPr/>
        </p:nvSpPr>
        <p:spPr>
          <a:xfrm>
            <a:off x="6227064" y="3063240"/>
            <a:ext cx="20848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a:t>
            </a:r>
          </a:p>
        </p:txBody>
      </p:sp>
      <p:sp>
        <p:nvSpPr>
          <p:cNvPr id="29" name="TextBox 28"/>
          <p:cNvSpPr txBox="1"/>
          <p:nvPr/>
        </p:nvSpPr>
        <p:spPr>
          <a:xfrm>
            <a:off x="8604504" y="3063240"/>
            <a:ext cx="283464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22만 / 22%</a:t>
            </a:r>
          </a:p>
        </p:txBody>
      </p:sp>
      <p:sp>
        <p:nvSpPr>
          <p:cNvPr id="30" name="Rectangle 29"/>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31" name="TextBox 30"/>
          <p:cNvSpPr txBox="1"/>
          <p:nvPr/>
        </p:nvSpPr>
        <p:spPr>
          <a:xfrm>
            <a:off x="740664" y="3776472"/>
            <a:ext cx="2267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ETF</a:t>
            </a:r>
          </a:p>
        </p:txBody>
      </p:sp>
      <p:sp>
        <p:nvSpPr>
          <p:cNvPr id="32" name="TextBox 31"/>
          <p:cNvSpPr txBox="1"/>
          <p:nvPr/>
        </p:nvSpPr>
        <p:spPr>
          <a:xfrm>
            <a:off x="3300984" y="3776472"/>
            <a:ext cx="26334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50만 / 50%</a:t>
            </a:r>
          </a:p>
        </p:txBody>
      </p:sp>
      <p:sp>
        <p:nvSpPr>
          <p:cNvPr id="33" name="TextBox 32"/>
          <p:cNvSpPr txBox="1"/>
          <p:nvPr/>
        </p:nvSpPr>
        <p:spPr>
          <a:xfrm>
            <a:off x="6227064" y="3776472"/>
            <a:ext cx="20848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−4%</a:t>
            </a:r>
          </a:p>
        </p:txBody>
      </p:sp>
      <p:sp>
        <p:nvSpPr>
          <p:cNvPr id="34" name="TextBox 33"/>
          <p:cNvSpPr txBox="1"/>
          <p:nvPr/>
        </p:nvSpPr>
        <p:spPr>
          <a:xfrm>
            <a:off x="8604504" y="3776472"/>
            <a:ext cx="283464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48만 / 48%</a:t>
            </a:r>
          </a:p>
        </p:txBody>
      </p:sp>
      <p:sp>
        <p:nvSpPr>
          <p:cNvPr id="35" name="Rectangle 34"/>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36" name="TextBox 35"/>
          <p:cNvSpPr txBox="1"/>
          <p:nvPr/>
        </p:nvSpPr>
        <p:spPr>
          <a:xfrm>
            <a:off x="740664" y="4489703"/>
            <a:ext cx="22677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현금</a:t>
            </a:r>
          </a:p>
        </p:txBody>
      </p:sp>
      <p:sp>
        <p:nvSpPr>
          <p:cNvPr id="37" name="TextBox 36"/>
          <p:cNvSpPr txBox="1"/>
          <p:nvPr/>
        </p:nvSpPr>
        <p:spPr>
          <a:xfrm>
            <a:off x="3300984" y="4489703"/>
            <a:ext cx="26334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30만 / 30%</a:t>
            </a:r>
          </a:p>
        </p:txBody>
      </p:sp>
      <p:sp>
        <p:nvSpPr>
          <p:cNvPr id="38" name="TextBox 37"/>
          <p:cNvSpPr txBox="1"/>
          <p:nvPr/>
        </p:nvSpPr>
        <p:spPr>
          <a:xfrm>
            <a:off x="6227064" y="4489703"/>
            <a:ext cx="208483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0%</a:t>
            </a:r>
          </a:p>
        </p:txBody>
      </p:sp>
      <p:sp>
        <p:nvSpPr>
          <p:cNvPr id="39" name="TextBox 38"/>
          <p:cNvSpPr txBox="1"/>
          <p:nvPr/>
        </p:nvSpPr>
        <p:spPr>
          <a:xfrm>
            <a:off x="8604504" y="4489703"/>
            <a:ext cx="283464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30만 / 30%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직접·간접 보유를 합쳐 보세요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비율의 분모를 계좌 전체로 맞춘 뒤 더합니다.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64</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직접 보유 15% + ETF 비중 40%</a:t>
            </a:r>
          </a:p>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ETF 안의 동일 기업 비중은 20%</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ETF를 통한 계좌 전체 노출은 얼마인가요?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같은 기업의 총 노출은 얼마인가요?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15%와 20%를 바로 더하면 왜 틀리나요?</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같은 기업의 총 노출은 23%입니다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35%라고 더하면 계좌 비중과 ETF 내부 비중을 혼합한 계산입니다.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65</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ETF를 통한 노출</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8%</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계좌 ETF 40% × 내부 20%</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직접 + 간접 합계</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23%</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직접 15% + 간접 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비중을 조정하기 전에 계획과 현재 구성을 비교합니다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비중 차이의 계산을 곧바로 실제 매매 지시로 바꾸지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66</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시작할 때</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목표 기록</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왜 이 구성이 필요한가</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지금</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노출 계산</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최신 ETF 구성도 확인</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다음 행동</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이유 기록</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비용 · 수량 · 계획의 유효성</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06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CF283B"/>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67</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https://www.investor.gov/introduction-investing/getting-started/asset-allocation</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ETF 이해하기</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https://www.investor.gov/introduction-investing/investing-basics/investment-products/mutual-funds-and-exchange-traded-2</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FINRA · 수수료와 비용</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https://www.finra.org/investors/investing/investing-basics/fees-commissions</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07</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수익률 한 줄로는</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알 수 없는 것들</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승률·손익·낙폭을 함께 읽고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다음 주문에서 바꿀 행동을 찾습니다.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07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수익이 났어도 가설의 빈칸은 남을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거래 후 알게 된 정보를 주문 전 근거에 나중에 끼워 넣지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69</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주문 전 가정</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“매출 증가 → 이익 증가”</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매출만 확인 · 원가와 현금은 미확인</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이후 확인한 결과</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매출 +20% / 이익 −20%</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원가율 60% → 65%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네 번 중 세 번 이겨도 전체는 손실일 수 있습니다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이익 합계 3만 원 − 손실 5만 원 − 비용 2천 원 = −2만2천 원</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70</a:t>
            </a:r>
          </a:p>
        </p:txBody>
      </p:sp>
      <p:cxnSp>
        <p:nvCxnSpPr>
          <p:cNvPr id="19" name="Connector 18"/>
          <p:cNvCxnSpPr/>
          <p:nvPr/>
        </p:nvCxnSpPr>
        <p:spPr>
          <a:xfrm>
            <a:off x="777240" y="4317226"/>
            <a:ext cx="10652760" cy="0"/>
          </a:xfrm>
          <a:prstGeom prst="line">
            <a:avLst/>
          </a:prstGeom>
          <a:ln w="19050">
            <a:solidFill>
              <a:srgbClr val="D8DEDA"/>
            </a:solidFill>
          </a:ln>
          <a:effectLst/>
        </p:spPr>
      </p:cxnSp>
      <p:sp>
        <p:nvSpPr>
          <p:cNvPr id="20" name="Rectangle 19"/>
          <p:cNvSpPr/>
          <p:nvPr/>
        </p:nvSpPr>
        <p:spPr>
          <a:xfrm>
            <a:off x="914400" y="3988657"/>
            <a:ext cx="1029919" cy="328568"/>
          </a:xfrm>
          <a:prstGeom prst="rect">
            <a:avLst/>
          </a:prstGeom>
          <a:solidFill>
            <a:srgbClr val="19282C"/>
          </a:solidFill>
          <a:ln>
            <a:noFill/>
          </a:ln>
          <a:effectLst/>
        </p:spPr>
        <p:txBody>
          <a:bodyPr rtlCol="0" anchor="ctr"/>
          <a:lstStyle/>
          <a:p>
            <a:pPr algn="ctr"/>
          </a:p>
        </p:txBody>
      </p:sp>
      <p:sp>
        <p:nvSpPr>
          <p:cNvPr id="21" name="TextBox 20"/>
          <p:cNvSpPr txBox="1"/>
          <p:nvPr/>
        </p:nvSpPr>
        <p:spPr>
          <a:xfrm>
            <a:off x="822960" y="3540601"/>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10</a:t>
            </a:r>
          </a:p>
        </p:txBody>
      </p:sp>
      <p:sp>
        <p:nvSpPr>
          <p:cNvPr id="22" name="TextBox 21"/>
          <p:cNvSpPr txBox="1"/>
          <p:nvPr/>
        </p:nvSpPr>
        <p:spPr>
          <a:xfrm>
            <a:off x="7406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1</a:t>
            </a:r>
          </a:p>
        </p:txBody>
      </p:sp>
      <p:cxnSp>
        <p:nvCxnSpPr>
          <p:cNvPr id="23" name="Connector 22"/>
          <p:cNvCxnSpPr/>
          <p:nvPr/>
        </p:nvCxnSpPr>
        <p:spPr>
          <a:xfrm>
            <a:off x="1944319" y="3988657"/>
            <a:ext cx="631241" cy="0"/>
          </a:xfrm>
          <a:prstGeom prst="line">
            <a:avLst/>
          </a:prstGeom>
          <a:ln w="12700">
            <a:solidFill>
              <a:srgbClr val="D8DEDA"/>
            </a:solidFill>
          </a:ln>
          <a:effectLst/>
        </p:spPr>
      </p:cxnSp>
      <p:sp>
        <p:nvSpPr>
          <p:cNvPr id="24" name="Rectangle 23"/>
          <p:cNvSpPr/>
          <p:nvPr/>
        </p:nvSpPr>
        <p:spPr>
          <a:xfrm>
            <a:off x="2575560" y="3594374"/>
            <a:ext cx="1029919" cy="394282"/>
          </a:xfrm>
          <a:prstGeom prst="rect">
            <a:avLst/>
          </a:prstGeom>
          <a:solidFill>
            <a:srgbClr val="167964"/>
          </a:solidFill>
          <a:ln>
            <a:noFill/>
          </a:ln>
          <a:effectLst/>
        </p:spPr>
        <p:txBody>
          <a:bodyPr rtlCol="0" anchor="ctr"/>
          <a:lstStyle/>
          <a:p>
            <a:pPr algn="ctr"/>
          </a:p>
        </p:txBody>
      </p:sp>
      <p:sp>
        <p:nvSpPr>
          <p:cNvPr id="25" name="TextBox 24"/>
          <p:cNvSpPr txBox="1"/>
          <p:nvPr/>
        </p:nvSpPr>
        <p:spPr>
          <a:xfrm>
            <a:off x="2484119" y="3146318"/>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+12</a:t>
            </a:r>
          </a:p>
        </p:txBody>
      </p:sp>
      <p:sp>
        <p:nvSpPr>
          <p:cNvPr id="26" name="TextBox 25"/>
          <p:cNvSpPr txBox="1"/>
          <p:nvPr/>
        </p:nvSpPr>
        <p:spPr>
          <a:xfrm>
            <a:off x="240182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2</a:t>
            </a:r>
          </a:p>
        </p:txBody>
      </p:sp>
      <p:cxnSp>
        <p:nvCxnSpPr>
          <p:cNvPr id="27" name="Connector 26"/>
          <p:cNvCxnSpPr/>
          <p:nvPr/>
        </p:nvCxnSpPr>
        <p:spPr>
          <a:xfrm>
            <a:off x="3605479" y="3594374"/>
            <a:ext cx="631241" cy="0"/>
          </a:xfrm>
          <a:prstGeom prst="line">
            <a:avLst/>
          </a:prstGeom>
          <a:ln w="12700">
            <a:solidFill>
              <a:srgbClr val="D8DEDA"/>
            </a:solidFill>
          </a:ln>
          <a:effectLst/>
        </p:spPr>
      </p:cxnSp>
      <p:sp>
        <p:nvSpPr>
          <p:cNvPr id="28" name="Rectangle 27"/>
          <p:cNvSpPr/>
          <p:nvPr/>
        </p:nvSpPr>
        <p:spPr>
          <a:xfrm>
            <a:off x="4236720" y="3331519"/>
            <a:ext cx="1029919" cy="262855"/>
          </a:xfrm>
          <a:prstGeom prst="rect">
            <a:avLst/>
          </a:prstGeom>
          <a:solidFill>
            <a:srgbClr val="167964"/>
          </a:solidFill>
          <a:ln>
            <a:noFill/>
          </a:ln>
          <a:effectLst/>
        </p:spPr>
        <p:txBody>
          <a:bodyPr rtlCol="0" anchor="ctr"/>
          <a:lstStyle/>
          <a:p>
            <a:pPr algn="ctr"/>
          </a:p>
        </p:txBody>
      </p:sp>
      <p:sp>
        <p:nvSpPr>
          <p:cNvPr id="29" name="TextBox 28"/>
          <p:cNvSpPr txBox="1"/>
          <p:nvPr/>
        </p:nvSpPr>
        <p:spPr>
          <a:xfrm>
            <a:off x="4145280" y="2883463"/>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67964"/>
                </a:solidFill>
                <a:latin typeface="Noto Sans CJK KR"/>
                <a:ea typeface="Noto Sans CJK KR"/>
              </a:defRPr>
            </a:pPr>
            <a:r>
              <a:rPr>
                <a:ea typeface="Noto Sans CJK KR"/>
              </a:rPr>
              <a:t>+8</a:t>
            </a:r>
          </a:p>
        </p:txBody>
      </p:sp>
      <p:sp>
        <p:nvSpPr>
          <p:cNvPr id="30" name="TextBox 29"/>
          <p:cNvSpPr txBox="1"/>
          <p:nvPr/>
        </p:nvSpPr>
        <p:spPr>
          <a:xfrm>
            <a:off x="4062983"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3</a:t>
            </a:r>
          </a:p>
        </p:txBody>
      </p:sp>
      <p:cxnSp>
        <p:nvCxnSpPr>
          <p:cNvPr id="31" name="Connector 30"/>
          <p:cNvCxnSpPr/>
          <p:nvPr/>
        </p:nvCxnSpPr>
        <p:spPr>
          <a:xfrm>
            <a:off x="5266639" y="3331519"/>
            <a:ext cx="631240" cy="0"/>
          </a:xfrm>
          <a:prstGeom prst="line">
            <a:avLst/>
          </a:prstGeom>
          <a:ln w="12700">
            <a:solidFill>
              <a:srgbClr val="D8DEDA"/>
            </a:solidFill>
          </a:ln>
          <a:effectLst/>
        </p:spPr>
      </p:cxnSp>
      <p:sp>
        <p:nvSpPr>
          <p:cNvPr id="32" name="Rectangle 31"/>
          <p:cNvSpPr/>
          <p:nvPr/>
        </p:nvSpPr>
        <p:spPr>
          <a:xfrm>
            <a:off x="5897880" y="3331519"/>
            <a:ext cx="1029919" cy="1642844"/>
          </a:xfrm>
          <a:prstGeom prst="rect">
            <a:avLst/>
          </a:prstGeom>
          <a:solidFill>
            <a:srgbClr val="3667A1"/>
          </a:solidFill>
          <a:ln>
            <a:noFill/>
          </a:ln>
          <a:effectLst/>
        </p:spPr>
        <p:txBody>
          <a:bodyPr rtlCol="0" anchor="ctr"/>
          <a:lstStyle/>
          <a:p>
            <a:pPr algn="ctr"/>
          </a:p>
        </p:txBody>
      </p:sp>
      <p:sp>
        <p:nvSpPr>
          <p:cNvPr id="33" name="TextBox 32"/>
          <p:cNvSpPr txBox="1"/>
          <p:nvPr/>
        </p:nvSpPr>
        <p:spPr>
          <a:xfrm>
            <a:off x="5806440" y="2883463"/>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-50</a:t>
            </a:r>
          </a:p>
        </p:txBody>
      </p:sp>
      <p:sp>
        <p:nvSpPr>
          <p:cNvPr id="34" name="TextBox 33"/>
          <p:cNvSpPr txBox="1"/>
          <p:nvPr/>
        </p:nvSpPr>
        <p:spPr>
          <a:xfrm>
            <a:off x="572414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거래 4</a:t>
            </a:r>
          </a:p>
        </p:txBody>
      </p:sp>
      <p:cxnSp>
        <p:nvCxnSpPr>
          <p:cNvPr id="35" name="Connector 34"/>
          <p:cNvCxnSpPr/>
          <p:nvPr/>
        </p:nvCxnSpPr>
        <p:spPr>
          <a:xfrm>
            <a:off x="6927799" y="4974363"/>
            <a:ext cx="631241" cy="0"/>
          </a:xfrm>
          <a:prstGeom prst="line">
            <a:avLst/>
          </a:prstGeom>
          <a:ln w="12700">
            <a:solidFill>
              <a:srgbClr val="D8DEDA"/>
            </a:solidFill>
          </a:ln>
          <a:effectLst/>
        </p:spPr>
      </p:cxnSp>
      <p:sp>
        <p:nvSpPr>
          <p:cNvPr id="36" name="Rectangle 35"/>
          <p:cNvSpPr/>
          <p:nvPr/>
        </p:nvSpPr>
        <p:spPr>
          <a:xfrm>
            <a:off x="7559039" y="4974363"/>
            <a:ext cx="1029919" cy="65713"/>
          </a:xfrm>
          <a:prstGeom prst="rect">
            <a:avLst/>
          </a:prstGeom>
          <a:solidFill>
            <a:srgbClr val="3667A1"/>
          </a:solidFill>
          <a:ln>
            <a:noFill/>
          </a:ln>
          <a:effectLst/>
        </p:spPr>
        <p:txBody>
          <a:bodyPr rtlCol="0" anchor="ctr"/>
          <a:lstStyle/>
          <a:p>
            <a:pPr algn="ctr"/>
          </a:p>
        </p:txBody>
      </p:sp>
      <p:sp>
        <p:nvSpPr>
          <p:cNvPr id="37" name="TextBox 36"/>
          <p:cNvSpPr txBox="1"/>
          <p:nvPr/>
        </p:nvSpPr>
        <p:spPr>
          <a:xfrm>
            <a:off x="7467599" y="4526307"/>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3667A1"/>
                </a:solidFill>
                <a:latin typeface="Noto Sans CJK KR"/>
                <a:ea typeface="Noto Sans CJK KR"/>
              </a:defRPr>
            </a:pPr>
            <a:r>
              <a:rPr>
                <a:ea typeface="Noto Sans CJK KR"/>
              </a:rPr>
              <a:t>-2</a:t>
            </a:r>
          </a:p>
        </p:txBody>
      </p:sp>
      <p:sp>
        <p:nvSpPr>
          <p:cNvPr id="38" name="TextBox 37"/>
          <p:cNvSpPr txBox="1"/>
          <p:nvPr/>
        </p:nvSpPr>
        <p:spPr>
          <a:xfrm>
            <a:off x="738530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비용</a:t>
            </a:r>
          </a:p>
        </p:txBody>
      </p:sp>
      <p:sp>
        <p:nvSpPr>
          <p:cNvPr id="39" name="Rectangle 38"/>
          <p:cNvSpPr/>
          <p:nvPr/>
        </p:nvSpPr>
        <p:spPr>
          <a:xfrm>
            <a:off x="9220200" y="4317226"/>
            <a:ext cx="1029919" cy="722851"/>
          </a:xfrm>
          <a:prstGeom prst="rect">
            <a:avLst/>
          </a:prstGeom>
          <a:solidFill>
            <a:srgbClr val="19282C"/>
          </a:solidFill>
          <a:ln>
            <a:noFill/>
          </a:ln>
          <a:effectLst/>
        </p:spPr>
        <p:txBody>
          <a:bodyPr rtlCol="0" anchor="ctr"/>
          <a:lstStyle/>
          <a:p>
            <a:pPr algn="ctr"/>
          </a:p>
        </p:txBody>
      </p:sp>
      <p:sp>
        <p:nvSpPr>
          <p:cNvPr id="40" name="TextBox 39"/>
          <p:cNvSpPr txBox="1"/>
          <p:nvPr/>
        </p:nvSpPr>
        <p:spPr>
          <a:xfrm>
            <a:off x="9128760" y="3869170"/>
            <a:ext cx="1362151" cy="411480"/>
          </a:xfrm>
          <a:prstGeom prst="rect">
            <a:avLst/>
          </a:prstGeom>
          <a:noFill/>
        </p:spPr>
        <p:txBody>
          <a:bodyPr wrap="none" anchor="t" anchorCtr="0" lIns="0" rIns="0" tIns="0" bIns="0">
            <a:noAutofit/>
          </a:bodyPr>
          <a:lstStyle/>
          <a:p>
            <a:pPr algn="ctr">
              <a:lnSpc>
                <a:spcPct val="116000"/>
              </a:lnSpc>
              <a:spcBef>
                <a:spcPts val="0"/>
              </a:spcBef>
              <a:spcAft>
                <a:spcPts val="0"/>
              </a:spcAft>
              <a:defRPr sz="2400" b="1">
                <a:solidFill>
                  <a:srgbClr val="19282C"/>
                </a:solidFill>
                <a:latin typeface="Noto Sans CJK KR"/>
                <a:ea typeface="Noto Sans CJK KR"/>
              </a:defRPr>
            </a:pPr>
            <a:r>
              <a:rPr>
                <a:ea typeface="Noto Sans CJK KR"/>
              </a:rPr>
              <a:t>-22</a:t>
            </a:r>
          </a:p>
        </p:txBody>
      </p:sp>
      <p:sp>
        <p:nvSpPr>
          <p:cNvPr id="41" name="TextBox 40"/>
          <p:cNvSpPr txBox="1"/>
          <p:nvPr/>
        </p:nvSpPr>
        <p:spPr>
          <a:xfrm>
            <a:off x="9046464" y="5431536"/>
            <a:ext cx="1578102" cy="448056"/>
          </a:xfrm>
          <a:prstGeom prst="rect">
            <a:avLst/>
          </a:prstGeom>
          <a:noFill/>
        </p:spPr>
        <p:txBody>
          <a:bodyPr wrap="none" anchor="t" anchorCtr="0" lIns="0" rIns="0" tIns="0" bIns="0">
            <a:noAutofit/>
          </a:bodyPr>
          <a:lstStyle/>
          <a:p>
            <a:pPr algn="ctr">
              <a:lnSpc>
                <a:spcPct val="116000"/>
              </a:lnSpc>
              <a:spcBef>
                <a:spcPts val="0"/>
              </a:spcBef>
              <a:spcAft>
                <a:spcPts val="0"/>
              </a:spcAft>
              <a:defRPr sz="1500" b="1">
                <a:solidFill>
                  <a:srgbClr val="19282C"/>
                </a:solidFill>
                <a:latin typeface="Noto Sans CJK KR"/>
                <a:ea typeface="Noto Sans CJK KR"/>
              </a:defRPr>
            </a:pPr>
            <a:r>
              <a:rPr>
                <a:ea typeface="Noto Sans CJK KR"/>
              </a:rPr>
              <a:t>순손익</a:t>
            </a:r>
          </a:p>
        </p:txBody>
      </p:sp>
      <p:sp>
        <p:nvSpPr>
          <p:cNvPr id="42" name="TextBox 41"/>
          <p:cNvSpPr txBox="1"/>
          <p:nvPr/>
        </p:nvSpPr>
        <p:spPr>
          <a:xfrm>
            <a:off x="640080" y="2423160"/>
            <a:ext cx="3657600" cy="320040"/>
          </a:xfrm>
          <a:prstGeom prst="rect">
            <a:avLst/>
          </a:prstGeom>
          <a:noFill/>
        </p:spPr>
        <p:txBody>
          <a:bodyPr wrap="none" anchor="t" anchorCtr="0" lIns="0" rIns="0" tIns="0" bIns="0">
            <a:noAutofit/>
          </a:bodyPr>
          <a:lstStyle/>
          <a:p>
            <a:pPr algn="l">
              <a:lnSpc>
                <a:spcPct val="116000"/>
              </a:lnSpc>
              <a:spcBef>
                <a:spcPts val="0"/>
              </a:spcBef>
              <a:spcAft>
                <a:spcPts val="0"/>
              </a:spcAft>
              <a:defRPr sz="1300" b="0">
                <a:solidFill>
                  <a:srgbClr val="5C6B6E"/>
                </a:solidFill>
                <a:latin typeface="Noto Sans CJK KR"/>
                <a:ea typeface="Noto Sans CJK KR"/>
              </a:defRPr>
            </a:pPr>
            <a:r>
              <a:rPr>
                <a:ea typeface="Noto Sans CJK KR"/>
              </a:rPr>
              <a:t>단위: 천 원</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승률과 손익 규모는 서로 다른 정보를 줍니다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한 번의 손실 규모가 평균 이익 다섯 번과 같습니다.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71</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이익 거래 비중</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75%</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3건 ÷ 전체 4건</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이익 거래 평균</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1만 원</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총이익 3만 원 ÷ 3건</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손실 거래 평균</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3667A1"/>
                </a:solidFill>
                <a:latin typeface="Noto Sans CJK KR"/>
                <a:ea typeface="Noto Sans CJK KR"/>
              </a:defRPr>
            </a:pPr>
            <a:r>
              <a:rPr>
                <a:ea typeface="Noto Sans CJK KR"/>
              </a:rPr>
              <a:t>5만 원</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총손실 절댓값 5만 원 ÷ 1건</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거래당 평균도 비용을 구분해서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이 기록의 평균입니다. 미래에도 같은 승률과 손익 규모가 반복된다는 뜻은 아닙니다.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72</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비용 전 평균</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−5,000원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75% × 1만 − 25% × 5만</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비용 후 평균</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−5,500원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순손익 −22,000원 ÷ 4건</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마지막 수익률은 중간에 겪은 하락을 보여 주지 않습니다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입출금 없는 별도 평가 경로: 100 → 120 → 90 → 110</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최대 낙폭은 (120−90) ÷ 120 = 25%. 시작점 대비 −10%와 다릅니다.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73</a:t>
            </a:r>
          </a:p>
        </p:txBody>
      </p:sp>
      <p:cxnSp>
        <p:nvCxnSpPr>
          <p:cNvPr id="20" name="Connector 19"/>
          <p:cNvCxnSpPr/>
          <p:nvPr/>
        </p:nvCxnSpPr>
        <p:spPr>
          <a:xfrm>
            <a:off x="1051560" y="5184648"/>
            <a:ext cx="10058400" cy="0"/>
          </a:xfrm>
          <a:prstGeom prst="line">
            <a:avLst/>
          </a:prstGeom>
          <a:ln w="19050">
            <a:solidFill>
              <a:srgbClr val="D8DEDA"/>
            </a:solidFill>
          </a:ln>
          <a:effectLst/>
        </p:spPr>
      </p:cxnSp>
      <p:sp>
        <p:nvSpPr>
          <p:cNvPr id="21" name="TextBox 20"/>
          <p:cNvSpPr txBox="1"/>
          <p:nvPr/>
        </p:nvSpPr>
        <p:spPr>
          <a:xfrm>
            <a:off x="603504" y="5056632"/>
            <a:ext cx="429768" cy="292608"/>
          </a:xfrm>
          <a:prstGeom prst="rect">
            <a:avLst/>
          </a:prstGeom>
          <a:noFill/>
        </p:spPr>
        <p:txBody>
          <a:bodyPr wrap="none" anchor="t" anchorCtr="0" lIns="0" rIns="0" tIns="0" bIns="0">
            <a:noAutofit/>
          </a:bodyPr>
          <a:lstStyle/>
          <a:p>
            <a:pPr algn="l">
              <a:lnSpc>
                <a:spcPct val="116000"/>
              </a:lnSpc>
              <a:spcBef>
                <a:spcPts val="0"/>
              </a:spcBef>
              <a:spcAft>
                <a:spcPts val="0"/>
              </a:spcAft>
              <a:defRPr sz="1200" b="0">
                <a:solidFill>
                  <a:srgbClr val="5C6B6E"/>
                </a:solidFill>
                <a:latin typeface="Noto Sans CJK KR"/>
                <a:ea typeface="Noto Sans CJK KR"/>
              </a:defRPr>
            </a:pPr>
            <a:r>
              <a:rPr>
                <a:ea typeface="Noto Sans CJK KR"/>
              </a:rPr>
              <a:t>80</a:t>
            </a:r>
          </a:p>
        </p:txBody>
      </p:sp>
      <p:cxnSp>
        <p:nvCxnSpPr>
          <p:cNvPr id="22" name="Connector 21"/>
          <p:cNvCxnSpPr/>
          <p:nvPr/>
        </p:nvCxnSpPr>
        <p:spPr>
          <a:xfrm>
            <a:off x="1051560" y="4197096"/>
            <a:ext cx="10058400" cy="0"/>
          </a:xfrm>
          <a:prstGeom prst="line">
            <a:avLst/>
          </a:prstGeom>
          <a:ln w="19050">
            <a:solidFill>
              <a:srgbClr val="D8DEDA"/>
            </a:solidFill>
          </a:ln>
          <a:effectLst/>
        </p:spPr>
      </p:cxnSp>
      <p:sp>
        <p:nvSpPr>
          <p:cNvPr id="23" name="TextBox 22"/>
          <p:cNvSpPr txBox="1"/>
          <p:nvPr/>
        </p:nvSpPr>
        <p:spPr>
          <a:xfrm>
            <a:off x="603504" y="4069080"/>
            <a:ext cx="429768" cy="292608"/>
          </a:xfrm>
          <a:prstGeom prst="rect">
            <a:avLst/>
          </a:prstGeom>
          <a:noFill/>
        </p:spPr>
        <p:txBody>
          <a:bodyPr wrap="none" anchor="t" anchorCtr="0" lIns="0" rIns="0" tIns="0" bIns="0">
            <a:noAutofit/>
          </a:bodyPr>
          <a:lstStyle/>
          <a:p>
            <a:pPr algn="l">
              <a:lnSpc>
                <a:spcPct val="116000"/>
              </a:lnSpc>
              <a:spcBef>
                <a:spcPts val="0"/>
              </a:spcBef>
              <a:spcAft>
                <a:spcPts val="0"/>
              </a:spcAft>
              <a:defRPr sz="1200" b="0">
                <a:solidFill>
                  <a:srgbClr val="5C6B6E"/>
                </a:solidFill>
                <a:latin typeface="Noto Sans CJK KR"/>
                <a:ea typeface="Noto Sans CJK KR"/>
              </a:defRPr>
            </a:pPr>
            <a:r>
              <a:rPr>
                <a:ea typeface="Noto Sans CJK KR"/>
              </a:rPr>
              <a:t>100</a:t>
            </a:r>
          </a:p>
        </p:txBody>
      </p:sp>
      <p:cxnSp>
        <p:nvCxnSpPr>
          <p:cNvPr id="24" name="Connector 23"/>
          <p:cNvCxnSpPr/>
          <p:nvPr/>
        </p:nvCxnSpPr>
        <p:spPr>
          <a:xfrm>
            <a:off x="1051560" y="3209544"/>
            <a:ext cx="10058400" cy="0"/>
          </a:xfrm>
          <a:prstGeom prst="line">
            <a:avLst/>
          </a:prstGeom>
          <a:ln w="19050">
            <a:solidFill>
              <a:srgbClr val="D8DEDA"/>
            </a:solidFill>
          </a:ln>
          <a:effectLst/>
        </p:spPr>
      </p:cxnSp>
      <p:sp>
        <p:nvSpPr>
          <p:cNvPr id="25" name="TextBox 24"/>
          <p:cNvSpPr txBox="1"/>
          <p:nvPr/>
        </p:nvSpPr>
        <p:spPr>
          <a:xfrm>
            <a:off x="603504" y="3081527"/>
            <a:ext cx="429768" cy="292608"/>
          </a:xfrm>
          <a:prstGeom prst="rect">
            <a:avLst/>
          </a:prstGeom>
          <a:noFill/>
        </p:spPr>
        <p:txBody>
          <a:bodyPr wrap="none" anchor="t" anchorCtr="0" lIns="0" rIns="0" tIns="0" bIns="0">
            <a:noAutofit/>
          </a:bodyPr>
          <a:lstStyle/>
          <a:p>
            <a:pPr algn="l">
              <a:lnSpc>
                <a:spcPct val="116000"/>
              </a:lnSpc>
              <a:spcBef>
                <a:spcPts val="0"/>
              </a:spcBef>
              <a:spcAft>
                <a:spcPts val="0"/>
              </a:spcAft>
              <a:defRPr sz="1200" b="0">
                <a:solidFill>
                  <a:srgbClr val="5C6B6E"/>
                </a:solidFill>
                <a:latin typeface="Noto Sans CJK KR"/>
                <a:ea typeface="Noto Sans CJK KR"/>
              </a:defRPr>
            </a:pPr>
            <a:r>
              <a:rPr>
                <a:ea typeface="Noto Sans CJK KR"/>
              </a:rPr>
              <a:t>120</a:t>
            </a:r>
          </a:p>
        </p:txBody>
      </p:sp>
      <p:cxnSp>
        <p:nvCxnSpPr>
          <p:cNvPr id="26" name="Connector 25"/>
          <p:cNvCxnSpPr/>
          <p:nvPr/>
        </p:nvCxnSpPr>
        <p:spPr>
          <a:xfrm flipV="1">
            <a:off x="1417320" y="3209544"/>
            <a:ext cx="2834640" cy="987552"/>
          </a:xfrm>
          <a:prstGeom prst="line">
            <a:avLst/>
          </a:prstGeom>
          <a:ln w="50800">
            <a:solidFill>
              <a:srgbClr val="CF283B"/>
            </a:solidFill>
          </a:ln>
          <a:effectLst/>
        </p:spPr>
      </p:cxnSp>
      <p:cxnSp>
        <p:nvCxnSpPr>
          <p:cNvPr id="27" name="Connector 26"/>
          <p:cNvCxnSpPr/>
          <p:nvPr/>
        </p:nvCxnSpPr>
        <p:spPr>
          <a:xfrm>
            <a:off x="4251960" y="3209544"/>
            <a:ext cx="2834640" cy="1481328"/>
          </a:xfrm>
          <a:prstGeom prst="line">
            <a:avLst/>
          </a:prstGeom>
          <a:ln w="50800">
            <a:solidFill>
              <a:srgbClr val="3667A1"/>
            </a:solidFill>
          </a:ln>
          <a:effectLst/>
        </p:spPr>
      </p:cxnSp>
      <p:cxnSp>
        <p:nvCxnSpPr>
          <p:cNvPr id="28" name="Connector 27"/>
          <p:cNvCxnSpPr/>
          <p:nvPr/>
        </p:nvCxnSpPr>
        <p:spPr>
          <a:xfrm flipV="1">
            <a:off x="7086600" y="3703320"/>
            <a:ext cx="2834640" cy="987552"/>
          </a:xfrm>
          <a:prstGeom prst="line">
            <a:avLst/>
          </a:prstGeom>
          <a:ln w="50800">
            <a:solidFill>
              <a:srgbClr val="CF283B"/>
            </a:solidFill>
          </a:ln>
          <a:effectLst/>
        </p:spPr>
      </p:cxnSp>
      <p:sp>
        <p:nvSpPr>
          <p:cNvPr id="29" name="Rectangle 28"/>
          <p:cNvSpPr/>
          <p:nvPr/>
        </p:nvSpPr>
        <p:spPr>
          <a:xfrm>
            <a:off x="1367028" y="4146804"/>
            <a:ext cx="100584" cy="100584"/>
          </a:xfrm>
          <a:prstGeom prst="rect">
            <a:avLst/>
          </a:prstGeom>
          <a:solidFill>
            <a:srgbClr val="19282C"/>
          </a:solidFill>
          <a:ln>
            <a:noFill/>
          </a:ln>
          <a:effectLst/>
        </p:spPr>
        <p:txBody>
          <a:bodyPr rtlCol="0" anchor="ctr"/>
          <a:lstStyle/>
          <a:p>
            <a:pPr algn="ctr"/>
          </a:p>
        </p:txBody>
      </p:sp>
      <p:sp>
        <p:nvSpPr>
          <p:cNvPr id="30" name="TextBox 29"/>
          <p:cNvSpPr txBox="1"/>
          <p:nvPr/>
        </p:nvSpPr>
        <p:spPr>
          <a:xfrm>
            <a:off x="1106424" y="3739896"/>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100</a:t>
            </a:r>
          </a:p>
        </p:txBody>
      </p:sp>
      <p:sp>
        <p:nvSpPr>
          <p:cNvPr id="31" name="Rectangle 30"/>
          <p:cNvSpPr/>
          <p:nvPr/>
        </p:nvSpPr>
        <p:spPr>
          <a:xfrm>
            <a:off x="4201668" y="3159251"/>
            <a:ext cx="100584" cy="100584"/>
          </a:xfrm>
          <a:prstGeom prst="rect">
            <a:avLst/>
          </a:prstGeom>
          <a:solidFill>
            <a:srgbClr val="19282C"/>
          </a:solidFill>
          <a:ln>
            <a:noFill/>
          </a:ln>
          <a:effectLst/>
        </p:spPr>
        <p:txBody>
          <a:bodyPr rtlCol="0" anchor="ctr"/>
          <a:lstStyle/>
          <a:p>
            <a:pPr algn="ctr"/>
          </a:p>
        </p:txBody>
      </p:sp>
      <p:sp>
        <p:nvSpPr>
          <p:cNvPr id="32" name="TextBox 31"/>
          <p:cNvSpPr txBox="1"/>
          <p:nvPr/>
        </p:nvSpPr>
        <p:spPr>
          <a:xfrm>
            <a:off x="3941064" y="2752344"/>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120</a:t>
            </a:r>
          </a:p>
        </p:txBody>
      </p:sp>
      <p:sp>
        <p:nvSpPr>
          <p:cNvPr id="33" name="Rectangle 32"/>
          <p:cNvSpPr/>
          <p:nvPr/>
        </p:nvSpPr>
        <p:spPr>
          <a:xfrm>
            <a:off x="7036308" y="4640580"/>
            <a:ext cx="100584" cy="100584"/>
          </a:xfrm>
          <a:prstGeom prst="rect">
            <a:avLst/>
          </a:prstGeom>
          <a:solidFill>
            <a:srgbClr val="19282C"/>
          </a:solidFill>
          <a:ln>
            <a:noFill/>
          </a:ln>
          <a:effectLst/>
        </p:spPr>
        <p:txBody>
          <a:bodyPr rtlCol="0" anchor="ctr"/>
          <a:lstStyle/>
          <a:p>
            <a:pPr algn="ctr"/>
          </a:p>
        </p:txBody>
      </p:sp>
      <p:sp>
        <p:nvSpPr>
          <p:cNvPr id="34" name="TextBox 33"/>
          <p:cNvSpPr txBox="1"/>
          <p:nvPr/>
        </p:nvSpPr>
        <p:spPr>
          <a:xfrm>
            <a:off x="6775704" y="4233672"/>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90</a:t>
            </a:r>
          </a:p>
        </p:txBody>
      </p:sp>
      <p:sp>
        <p:nvSpPr>
          <p:cNvPr id="35" name="Rectangle 34"/>
          <p:cNvSpPr/>
          <p:nvPr/>
        </p:nvSpPr>
        <p:spPr>
          <a:xfrm>
            <a:off x="9870948" y="3653027"/>
            <a:ext cx="100584" cy="100584"/>
          </a:xfrm>
          <a:prstGeom prst="rect">
            <a:avLst/>
          </a:prstGeom>
          <a:solidFill>
            <a:srgbClr val="19282C"/>
          </a:solidFill>
          <a:ln>
            <a:noFill/>
          </a:ln>
          <a:effectLst/>
        </p:spPr>
        <p:txBody>
          <a:bodyPr rtlCol="0" anchor="ctr"/>
          <a:lstStyle/>
          <a:p>
            <a:pPr algn="ctr"/>
          </a:p>
        </p:txBody>
      </p:sp>
      <p:sp>
        <p:nvSpPr>
          <p:cNvPr id="36" name="TextBox 35"/>
          <p:cNvSpPr txBox="1"/>
          <p:nvPr/>
        </p:nvSpPr>
        <p:spPr>
          <a:xfrm>
            <a:off x="9610344" y="3246120"/>
            <a:ext cx="658368" cy="365760"/>
          </a:xfrm>
          <a:prstGeom prst="rect">
            <a:avLst/>
          </a:prstGeom>
          <a:noFill/>
        </p:spPr>
        <p:txBody>
          <a:bodyPr wrap="none" anchor="t" anchorCtr="0" lIns="0" rIns="0" tIns="0" bIns="0">
            <a:noAutofit/>
          </a:bodyPr>
          <a:lstStyle/>
          <a:p>
            <a:pPr algn="ctr">
              <a:lnSpc>
                <a:spcPct val="116000"/>
              </a:lnSpc>
              <a:spcBef>
                <a:spcPts val="0"/>
              </a:spcBef>
              <a:spcAft>
                <a:spcPts val="0"/>
              </a:spcAft>
              <a:defRPr sz="2200" b="1">
                <a:solidFill>
                  <a:srgbClr val="19282C"/>
                </a:solidFill>
                <a:latin typeface="Noto Sans CJK KR"/>
                <a:ea typeface="Noto Sans CJK KR"/>
              </a:defRPr>
            </a:pPr>
            <a:r>
              <a:rPr>
                <a:ea typeface="Noto Sans CJK KR"/>
              </a:rPr>
              <a:t>110</a:t>
            </a:r>
          </a:p>
        </p:txBody>
      </p:sp>
      <p:sp>
        <p:nvSpPr>
          <p:cNvPr id="37" name="TextBox 36"/>
          <p:cNvSpPr txBox="1"/>
          <p:nvPr/>
        </p:nvSpPr>
        <p:spPr>
          <a:xfrm>
            <a:off x="5486400" y="2478024"/>
            <a:ext cx="2926080" cy="493776"/>
          </a:xfrm>
          <a:prstGeom prst="rect">
            <a:avLst/>
          </a:prstGeom>
          <a:noFill/>
        </p:spPr>
        <p:txBody>
          <a:bodyPr wrap="none" anchor="t" anchorCtr="0" lIns="0" rIns="0" tIns="0" bIns="0">
            <a:noAutofit/>
          </a:bodyPr>
          <a:lstStyle/>
          <a:p>
            <a:pPr algn="l">
              <a:lnSpc>
                <a:spcPct val="116000"/>
              </a:lnSpc>
              <a:spcBef>
                <a:spcPts val="0"/>
              </a:spcBef>
              <a:spcAft>
                <a:spcPts val="0"/>
              </a:spcAft>
              <a:defRPr sz="2500" b="1">
                <a:solidFill>
                  <a:srgbClr val="3667A1"/>
                </a:solidFill>
                <a:latin typeface="Noto Sans CJK KR"/>
                <a:ea typeface="Noto Sans CJK KR"/>
              </a:defRPr>
            </a:pPr>
            <a:r>
              <a:rPr>
                <a:ea typeface="Noto Sans CJK KR"/>
              </a:rPr>
              <a:t>고점 대비 −25%</a:t>
            </a:r>
          </a:p>
        </p:txBody>
      </p:sp>
      <p:sp>
        <p:nvSpPr>
          <p:cNvPr id="38" name="TextBox 37"/>
          <p:cNvSpPr txBox="1"/>
          <p:nvPr/>
        </p:nvSpPr>
        <p:spPr>
          <a:xfrm>
            <a:off x="8247888" y="5458968"/>
            <a:ext cx="3017520" cy="338328"/>
          </a:xfrm>
          <a:prstGeom prst="rect">
            <a:avLst/>
          </a:prstGeom>
          <a:noFill/>
        </p:spPr>
        <p:txBody>
          <a:bodyPr wrap="none" anchor="t" anchorCtr="0" lIns="0" rIns="0" tIns="0" bIns="0">
            <a:noAutofit/>
          </a:bodyPr>
          <a:lstStyle/>
          <a:p>
            <a:pPr algn="l">
              <a:lnSpc>
                <a:spcPct val="116000"/>
              </a:lnSpc>
              <a:spcBef>
                <a:spcPts val="0"/>
              </a:spcBef>
              <a:spcAft>
                <a:spcPts val="0"/>
              </a:spcAft>
              <a:defRPr sz="1700" b="1">
                <a:solidFill>
                  <a:srgbClr val="CF283B"/>
                </a:solidFill>
                <a:latin typeface="Noto Sans CJK KR"/>
                <a:ea typeface="Noto Sans CJK KR"/>
              </a:defRPr>
            </a:pPr>
            <a:r>
              <a:rPr>
                <a:ea typeface="Noto Sans CJK KR"/>
              </a:rPr>
              <a:t>시작 대비 +10%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중간 입금이 있으면 구간을 나누어 계산합니다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입금 직전·직후 평가가 정확히 주어진 가상 사례입니다.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74</a:t>
            </a:r>
          </a:p>
        </p:txBody>
      </p:sp>
      <p:cxnSp>
        <p:nvCxnSpPr>
          <p:cNvPr id="19" name="Connector 18"/>
          <p:cNvCxnSpPr/>
          <p:nvPr/>
        </p:nvCxnSpPr>
        <p:spPr>
          <a:xfrm>
            <a:off x="932688" y="3300984"/>
            <a:ext cx="10222992" cy="0"/>
          </a:xfrm>
          <a:prstGeom prst="line">
            <a:avLst/>
          </a:prstGeom>
          <a:ln w="38100">
            <a:solidFill>
              <a:srgbClr val="D8DEDA"/>
            </a:solidFill>
          </a:ln>
          <a:effectLst/>
        </p:spPr>
      </p:cxnSp>
      <p:sp>
        <p:nvSpPr>
          <p:cNvPr id="20" name="Rectangle 19"/>
          <p:cNvSpPr/>
          <p:nvPr/>
        </p:nvSpPr>
        <p:spPr>
          <a:xfrm>
            <a:off x="868680" y="3236976"/>
            <a:ext cx="128016" cy="128016"/>
          </a:xfrm>
          <a:prstGeom prst="rect">
            <a:avLst/>
          </a:prstGeom>
          <a:solidFill>
            <a:srgbClr val="19282C"/>
          </a:solidFill>
          <a:ln>
            <a:noFill/>
          </a:ln>
          <a:effectLst/>
        </p:spPr>
        <p:txBody>
          <a:bodyPr rtlCol="0" anchor="ctr"/>
          <a:lstStyle/>
          <a:p>
            <a:pPr algn="ctr"/>
          </a:p>
        </p:txBody>
      </p:sp>
      <p:sp>
        <p:nvSpPr>
          <p:cNvPr id="21" name="TextBox 20"/>
          <p:cNvSpPr txBox="1"/>
          <p:nvPr/>
        </p:nvSpPr>
        <p:spPr>
          <a:xfrm>
            <a:off x="59436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시작</a:t>
            </a:r>
          </a:p>
        </p:txBody>
      </p:sp>
      <p:sp>
        <p:nvSpPr>
          <p:cNvPr id="22" name="TextBox 21"/>
          <p:cNvSpPr txBox="1"/>
          <p:nvPr/>
        </p:nvSpPr>
        <p:spPr>
          <a:xfrm>
            <a:off x="59436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100만 원</a:t>
            </a:r>
          </a:p>
        </p:txBody>
      </p:sp>
      <p:sp>
        <p:nvSpPr>
          <p:cNvPr id="23" name="TextBox 22"/>
          <p:cNvSpPr txBox="1"/>
          <p:nvPr/>
        </p:nvSpPr>
        <p:spPr>
          <a:xfrm>
            <a:off x="59436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첫 구간의 기준</a:t>
            </a:r>
          </a:p>
        </p:txBody>
      </p:sp>
      <p:sp>
        <p:nvSpPr>
          <p:cNvPr id="24" name="Rectangle 23"/>
          <p:cNvSpPr/>
          <p:nvPr/>
        </p:nvSpPr>
        <p:spPr>
          <a:xfrm>
            <a:off x="4276343" y="3236976"/>
            <a:ext cx="128016" cy="128016"/>
          </a:xfrm>
          <a:prstGeom prst="rect">
            <a:avLst/>
          </a:prstGeom>
          <a:solidFill>
            <a:srgbClr val="19282C"/>
          </a:solidFill>
          <a:ln>
            <a:noFill/>
          </a:ln>
          <a:effectLst/>
        </p:spPr>
        <p:txBody>
          <a:bodyPr rtlCol="0" anchor="ctr"/>
          <a:lstStyle/>
          <a:p>
            <a:pPr algn="ctr"/>
          </a:p>
        </p:txBody>
      </p:sp>
      <p:sp>
        <p:nvSpPr>
          <p:cNvPr id="25" name="TextBox 24"/>
          <p:cNvSpPr txBox="1"/>
          <p:nvPr/>
        </p:nvSpPr>
        <p:spPr>
          <a:xfrm>
            <a:off x="3608831"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입금 직전</a:t>
            </a:r>
          </a:p>
        </p:txBody>
      </p:sp>
      <p:sp>
        <p:nvSpPr>
          <p:cNvPr id="26" name="TextBox 25"/>
          <p:cNvSpPr txBox="1"/>
          <p:nvPr/>
        </p:nvSpPr>
        <p:spPr>
          <a:xfrm>
            <a:off x="3608831"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120만 원</a:t>
            </a:r>
          </a:p>
        </p:txBody>
      </p:sp>
      <p:sp>
        <p:nvSpPr>
          <p:cNvPr id="27" name="TextBox 26"/>
          <p:cNvSpPr txBox="1"/>
          <p:nvPr/>
        </p:nvSpPr>
        <p:spPr>
          <a:xfrm>
            <a:off x="3608831"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구간 수익률 +20%</a:t>
            </a:r>
          </a:p>
        </p:txBody>
      </p:sp>
      <p:sp>
        <p:nvSpPr>
          <p:cNvPr id="28" name="Rectangle 27"/>
          <p:cNvSpPr/>
          <p:nvPr/>
        </p:nvSpPr>
        <p:spPr>
          <a:xfrm>
            <a:off x="7684007" y="3236976"/>
            <a:ext cx="128016" cy="128016"/>
          </a:xfrm>
          <a:prstGeom prst="rect">
            <a:avLst/>
          </a:prstGeom>
          <a:solidFill>
            <a:srgbClr val="19282C"/>
          </a:solidFill>
          <a:ln>
            <a:noFill/>
          </a:ln>
          <a:effectLst/>
        </p:spPr>
        <p:txBody>
          <a:bodyPr rtlCol="0" anchor="ctr"/>
          <a:lstStyle/>
          <a:p>
            <a:pPr algn="ctr"/>
          </a:p>
        </p:txBody>
      </p:sp>
      <p:sp>
        <p:nvSpPr>
          <p:cNvPr id="29" name="TextBox 28"/>
          <p:cNvSpPr txBox="1"/>
          <p:nvPr/>
        </p:nvSpPr>
        <p:spPr>
          <a:xfrm>
            <a:off x="7016496"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19282C"/>
                </a:solidFill>
                <a:latin typeface="Noto Sans CJK KR"/>
                <a:ea typeface="Noto Sans CJK KR"/>
              </a:defRPr>
            </a:pPr>
            <a:r>
              <a:rPr>
                <a:ea typeface="Noto Sans CJK KR"/>
              </a:rPr>
              <a:t>80만 입금</a:t>
            </a:r>
          </a:p>
        </p:txBody>
      </p:sp>
      <p:sp>
        <p:nvSpPr>
          <p:cNvPr id="30" name="TextBox 29"/>
          <p:cNvSpPr txBox="1"/>
          <p:nvPr/>
        </p:nvSpPr>
        <p:spPr>
          <a:xfrm>
            <a:off x="7016496"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200만 원</a:t>
            </a:r>
          </a:p>
        </p:txBody>
      </p:sp>
      <p:sp>
        <p:nvSpPr>
          <p:cNvPr id="31" name="TextBox 30"/>
          <p:cNvSpPr txBox="1"/>
          <p:nvPr/>
        </p:nvSpPr>
        <p:spPr>
          <a:xfrm>
            <a:off x="7016496"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둘째 구간의 기준</a:t>
            </a:r>
          </a:p>
        </p:txBody>
      </p:sp>
      <p:sp>
        <p:nvSpPr>
          <p:cNvPr id="32" name="Rectangle 31"/>
          <p:cNvSpPr/>
          <p:nvPr/>
        </p:nvSpPr>
        <p:spPr>
          <a:xfrm>
            <a:off x="11091672" y="3236976"/>
            <a:ext cx="128016" cy="128016"/>
          </a:xfrm>
          <a:prstGeom prst="rect">
            <a:avLst/>
          </a:prstGeom>
          <a:solidFill>
            <a:srgbClr val="CF283B"/>
          </a:solidFill>
          <a:ln>
            <a:noFill/>
          </a:ln>
          <a:effectLst/>
        </p:spPr>
        <p:txBody>
          <a:bodyPr rtlCol="0" anchor="ctr"/>
          <a:lstStyle/>
          <a:p>
            <a:pPr algn="ctr"/>
          </a:p>
        </p:txBody>
      </p:sp>
      <p:sp>
        <p:nvSpPr>
          <p:cNvPr id="33" name="TextBox 32"/>
          <p:cNvSpPr txBox="1"/>
          <p:nvPr/>
        </p:nvSpPr>
        <p:spPr>
          <a:xfrm>
            <a:off x="9235440" y="2532888"/>
            <a:ext cx="2103120" cy="548640"/>
          </a:xfrm>
          <a:prstGeom prst="rect">
            <a:avLst/>
          </a:prstGeom>
          <a:noFill/>
        </p:spPr>
        <p:txBody>
          <a:bodyPr wrap="none" anchor="t" anchorCtr="0" lIns="0" rIns="0" tIns="0" bIns="0">
            <a:noAutofit/>
          </a:bodyPr>
          <a:lstStyle/>
          <a:p>
            <a:pPr algn="l">
              <a:lnSpc>
                <a:spcPct val="116000"/>
              </a:lnSpc>
              <a:spcBef>
                <a:spcPts val="0"/>
              </a:spcBef>
              <a:spcAft>
                <a:spcPts val="0"/>
              </a:spcAft>
              <a:defRPr sz="2600" b="1">
                <a:solidFill>
                  <a:srgbClr val="CF283B"/>
                </a:solidFill>
                <a:latin typeface="Noto Sans CJK KR"/>
                <a:ea typeface="Noto Sans CJK KR"/>
              </a:defRPr>
            </a:pPr>
            <a:r>
              <a:rPr>
                <a:ea typeface="Noto Sans CJK KR"/>
              </a:rPr>
              <a:t>기말</a:t>
            </a:r>
          </a:p>
        </p:txBody>
      </p:sp>
      <p:sp>
        <p:nvSpPr>
          <p:cNvPr id="34" name="TextBox 33"/>
          <p:cNvSpPr txBox="1"/>
          <p:nvPr/>
        </p:nvSpPr>
        <p:spPr>
          <a:xfrm>
            <a:off x="9235440" y="3657600"/>
            <a:ext cx="2103120" cy="832104"/>
          </a:xfrm>
          <a:prstGeom prst="rect">
            <a:avLst/>
          </a:prstGeom>
          <a:noFill/>
        </p:spPr>
        <p:txBody>
          <a:bodyPr wrap="none" anchor="t" anchorCtr="0" lIns="0" rIns="0" tIns="0" bIns="0">
            <a:noAutofit/>
          </a:bodyPr>
          <a:lstStyle/>
          <a:p>
            <a:pPr algn="l">
              <a:lnSpc>
                <a:spcPct val="116000"/>
              </a:lnSpc>
              <a:spcBef>
                <a:spcPts val="0"/>
              </a:spcBef>
              <a:spcAft>
                <a:spcPts val="0"/>
              </a:spcAft>
              <a:defRPr sz="2100" b="1">
                <a:solidFill>
                  <a:srgbClr val="19282C"/>
                </a:solidFill>
                <a:latin typeface="Noto Sans CJK KR"/>
                <a:ea typeface="Noto Sans CJK KR"/>
              </a:defRPr>
            </a:pPr>
            <a:r>
              <a:rPr>
                <a:ea typeface="Noto Sans CJK KR"/>
              </a:rPr>
              <a:t>180만 원</a:t>
            </a:r>
          </a:p>
        </p:txBody>
      </p:sp>
      <p:sp>
        <p:nvSpPr>
          <p:cNvPr id="35" name="TextBox 34"/>
          <p:cNvSpPr txBox="1"/>
          <p:nvPr/>
        </p:nvSpPr>
        <p:spPr>
          <a:xfrm>
            <a:off x="9235440" y="4709160"/>
            <a:ext cx="2103120" cy="722376"/>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구간 수익률 −10%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연결 수익률과 금전적 손익은 다른 질문입니다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손실 구간에 더 많은 돈이 들어 있었습니다. 잔액 증가 80%를 성과로 쓰지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75</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구간을 연결한 운용 수익률</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1.20 × 0.90 − 1</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실제 금전적 손익</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180만 − 처음 100만 − 입금 80만</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복기 메모를 다음 주문에서 확인할 행동으로 바꾸세요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사람을 평가하기보다 수정 가능한 기록과 행동을 찾습니다.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76</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“이번에는 운이 나빴다.</a:t>
            </a:r>
          </a:p>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다음에는 더 신중하게 하겠다.”</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당시 확인한 자료와 미확인 항목을 구분하세요.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처음의 가정과 실제 결과가 달랐던 지점을 쓰세요.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다음 주문에서 동료가 확인할 행동을 한 문장으로 쓰세요.</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MODEL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결과를 숨기지 않고 조사 과정을 구체적으로 고칩니다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과정 평가는 손실을 지우는 설명이 아니라 다음 판단을 개선하는 기록입니다.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77</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“다음 주문부터 매출과 영업이익률을</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같은 비교표에 적고, 원가 변화를 조사한다.”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보존할 것: 당시의 원문과 시각 · 주문 전 가정 · 실제 체결·비용 · 이후 확인한 사실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계좌 지표를 비교할 때 같이 적을 기준</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같은 이름의 지표라도 집계 기준이 다르면 같은 값으로 비교할 수 없습니다.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78</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309067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지표</a:t>
            </a:r>
          </a:p>
        </p:txBody>
      </p:sp>
      <p:sp>
        <p:nvSpPr>
          <p:cNvPr id="21" name="TextBox 20"/>
          <p:cNvSpPr txBox="1"/>
          <p:nvPr/>
        </p:nvSpPr>
        <p:spPr>
          <a:xfrm>
            <a:off x="4123944" y="2532888"/>
            <a:ext cx="731520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함께 남길 기준</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승률·평균 손익</a:t>
            </a:r>
          </a:p>
        </p:txBody>
      </p:sp>
      <p:sp>
        <p:nvSpPr>
          <p:cNvPr id="24" name="TextBox 23"/>
          <p:cNvSpPr txBox="1"/>
          <p:nvPr/>
        </p:nvSpPr>
        <p:spPr>
          <a:xfrm>
            <a:off x="4123944" y="306324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거래 포함 범위 · 비용 · 손익분기 처리</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계좌 수익률</a:t>
            </a:r>
          </a:p>
        </p:txBody>
      </p:sp>
      <p:sp>
        <p:nvSpPr>
          <p:cNvPr id="27" name="TextBox 26"/>
          <p:cNvSpPr txBox="1"/>
          <p:nvPr/>
        </p:nvSpPr>
        <p:spPr>
          <a:xfrm>
            <a:off x="4123944" y="377035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시작/종료 · 입출금 · 배당 · 평가 시점</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최대 낙폭</a:t>
            </a:r>
          </a:p>
        </p:txBody>
      </p:sp>
      <p:sp>
        <p:nvSpPr>
          <p:cNvPr id="30" name="TextBox 29"/>
          <p:cNvSpPr txBox="1"/>
          <p:nvPr/>
        </p:nvSpPr>
        <p:spPr>
          <a:xfrm>
            <a:off x="4123944" y="447746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관측 간격 · 앞선 고점 · 평가 경로</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309067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과정 평가</a:t>
            </a:r>
          </a:p>
        </p:txBody>
      </p:sp>
      <p:sp>
        <p:nvSpPr>
          <p:cNvPr id="33" name="TextBox 32"/>
          <p:cNvSpPr txBox="1"/>
          <p:nvPr/>
        </p:nvSpPr>
        <p:spPr>
          <a:xfrm>
            <a:off x="4123944" y="5184570"/>
            <a:ext cx="731520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당시 근거 · 가정 · 수정 조건 · 실제 행동</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07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CF283B"/>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79</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FINRA · 수수료와 비용</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https://www.finra.org/investors/investing/investing-basics/fees-commissions</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https://www.investor.gov/introduction-investing/getting-started/asset-allocation</a:t>
            </a:r>
          </a:p>
        </p:txBody>
      </p:sp>
      <p:sp>
        <p:nvSpPr>
          <p:cNvPr id="22" name="TextBox 21"/>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08</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내 판단을</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근거로 설명하기</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하나의 질문, 검산 가능한 숫자,</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반대 조건이 있는 최종 발표를 만듭니다.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08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발표는 하나의 질문에서 시작합니다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각 표와 사례가 이 질문에 어떤 답을 주는지 설명합니다.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81</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“매출 증가만으로</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투자 판단을 뒷받침할 수 있는가?”</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오늘의 잠정 결론: 이익률·현금·평가 기준·계약 조건을 함께 확인해야 한다.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발표의 흐름을 먼저 설계합니다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자료를 많이 나열하기보다 질문 → 근거 → 해석 → 다음 행동으로 연결합니다.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82</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무엇을 봤는가</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사업과 자료</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같은 기준의 수치 제시</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어떻게 해석했는가</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계산과 가정</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반대 설명도 함께 검토</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무엇을 바꿀 것인가</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판단과 다음 확인</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미확인 항목 · 수정할 원칙</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사업과 실적: 함께 보여 줘야 할 세 숫자</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매출 증가와 수익성 개선을 같은 의미로 사용하지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83</a:t>
            </a:r>
          </a:p>
        </p:txBody>
      </p:sp>
      <p:sp>
        <p:nvSpPr>
          <p:cNvPr id="19" name="Rounded Rectangle 18"/>
          <p:cNvSpPr/>
          <p:nvPr/>
        </p:nvSpPr>
        <p:spPr>
          <a:xfrm>
            <a:off x="594360"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매출 성장률</a:t>
            </a:r>
          </a:p>
        </p:txBody>
      </p:sp>
      <p:sp>
        <p:nvSpPr>
          <p:cNvPr id="21" name="TextBox 20"/>
          <p:cNvSpPr txBox="1"/>
          <p:nvPr/>
        </p:nvSpPr>
        <p:spPr>
          <a:xfrm>
            <a:off x="813816"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CF283B"/>
                </a:solidFill>
                <a:latin typeface="Noto Sans CJK KR"/>
                <a:ea typeface="Noto Sans CJK KR"/>
              </a:defRPr>
            </a:pPr>
            <a:r>
              <a:rPr>
                <a:ea typeface="Noto Sans CJK KR"/>
              </a:rPr>
              <a:t>+20%</a:t>
            </a:r>
          </a:p>
        </p:txBody>
      </p:sp>
      <p:sp>
        <p:nvSpPr>
          <p:cNvPr id="22" name="TextBox 21"/>
          <p:cNvSpPr txBox="1"/>
          <p:nvPr/>
        </p:nvSpPr>
        <p:spPr>
          <a:xfrm>
            <a:off x="813816"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100억 → 120억</a:t>
            </a:r>
          </a:p>
        </p:txBody>
      </p:sp>
      <p:sp>
        <p:nvSpPr>
          <p:cNvPr id="23" name="Rounded Rectangle 22"/>
          <p:cNvSpPr/>
          <p:nvPr/>
        </p:nvSpPr>
        <p:spPr>
          <a:xfrm>
            <a:off x="4325112"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4544568"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영업이익 성장률</a:t>
            </a:r>
          </a:p>
        </p:txBody>
      </p:sp>
      <p:sp>
        <p:nvSpPr>
          <p:cNvPr id="25" name="TextBox 24"/>
          <p:cNvSpPr txBox="1"/>
          <p:nvPr/>
        </p:nvSpPr>
        <p:spPr>
          <a:xfrm>
            <a:off x="4544568"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3667A1"/>
                </a:solidFill>
                <a:latin typeface="Noto Sans CJK KR"/>
                <a:ea typeface="Noto Sans CJK KR"/>
              </a:defRPr>
            </a:pPr>
            <a:r>
              <a:rPr>
                <a:ea typeface="Noto Sans CJK KR"/>
              </a:rPr>
              <a:t>−20%</a:t>
            </a:r>
          </a:p>
        </p:txBody>
      </p:sp>
      <p:sp>
        <p:nvSpPr>
          <p:cNvPr id="26" name="TextBox 25"/>
          <p:cNvSpPr txBox="1"/>
          <p:nvPr/>
        </p:nvSpPr>
        <p:spPr>
          <a:xfrm>
            <a:off x="4544568"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15억 → 12억</a:t>
            </a:r>
          </a:p>
        </p:txBody>
      </p:sp>
      <p:sp>
        <p:nvSpPr>
          <p:cNvPr id="27" name="Rounded Rectangle 26"/>
          <p:cNvSpPr/>
          <p:nvPr/>
        </p:nvSpPr>
        <p:spPr>
          <a:xfrm>
            <a:off x="8055864" y="2487168"/>
            <a:ext cx="3529584" cy="2990088"/>
          </a:xfrm>
          <a:prstGeom prst="roundRect">
            <a:avLst>
              <a:gd name="adj" fmla="val 12000"/>
            </a:avLst>
          </a:prstGeom>
          <a:solidFill>
            <a:srgbClr val="FFFFFF"/>
          </a:solidFill>
          <a:ln>
            <a:noFill/>
          </a:ln>
          <a:effectLst/>
        </p:spPr>
        <p:txBody>
          <a:bodyPr rtlCol="0" anchor="ctr"/>
          <a:lstStyle/>
          <a:p>
            <a:pPr algn="ctr"/>
          </a:p>
        </p:txBody>
      </p:sp>
      <p:sp>
        <p:nvSpPr>
          <p:cNvPr id="28" name="TextBox 27"/>
          <p:cNvSpPr txBox="1"/>
          <p:nvPr/>
        </p:nvSpPr>
        <p:spPr>
          <a:xfrm>
            <a:off x="8275320" y="2697480"/>
            <a:ext cx="3090672"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영업이익률</a:t>
            </a:r>
          </a:p>
        </p:txBody>
      </p:sp>
      <p:sp>
        <p:nvSpPr>
          <p:cNvPr id="29" name="TextBox 28"/>
          <p:cNvSpPr txBox="1"/>
          <p:nvPr/>
        </p:nvSpPr>
        <p:spPr>
          <a:xfrm>
            <a:off x="8275320" y="3319272"/>
            <a:ext cx="3090672"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15% → 10%</a:t>
            </a:r>
          </a:p>
        </p:txBody>
      </p:sp>
      <p:sp>
        <p:nvSpPr>
          <p:cNvPr id="30" name="TextBox 29"/>
          <p:cNvSpPr txBox="1"/>
          <p:nvPr/>
        </p:nvSpPr>
        <p:spPr>
          <a:xfrm>
            <a:off x="8275320" y="4443984"/>
            <a:ext cx="3090672"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원가율은 60% → 65%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가격과 뉴스: 빠진 조건을 표시합니다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기간·계산 기준·계약 조건을 숫자와 같은 화면에 표시합니다.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84</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464515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확인한 사실</a:t>
            </a:r>
          </a:p>
        </p:txBody>
      </p:sp>
      <p:sp>
        <p:nvSpPr>
          <p:cNvPr id="21" name="TextBox 20"/>
          <p:cNvSpPr txBox="1"/>
          <p:nvPr/>
        </p:nvSpPr>
        <p:spPr>
          <a:xfrm>
            <a:off x="5678424" y="2532888"/>
            <a:ext cx="576072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그대로 결론 낼 수 없는 것</a:t>
            </a:r>
          </a:p>
        </p:txBody>
      </p:sp>
      <p:sp>
        <p:nvSpPr>
          <p:cNvPr id="22" name="Rectangle 21"/>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464515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주가 2만 원 · EPS 800원</a:t>
            </a:r>
          </a:p>
        </p:txBody>
      </p:sp>
      <p:sp>
        <p:nvSpPr>
          <p:cNvPr id="24" name="TextBox 23"/>
          <p:cNvSpPr txBox="1"/>
          <p:nvPr/>
        </p:nvSpPr>
        <p:spPr>
          <a:xfrm>
            <a:off x="5678424" y="3063240"/>
            <a:ext cx="5760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과거 EPS의 PER 20배를 현재 기준처럼 표시</a:t>
            </a:r>
          </a:p>
        </p:txBody>
      </p:sp>
      <p:sp>
        <p:nvSpPr>
          <p:cNvPr id="25" name="Rectangle 24"/>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6472"/>
            <a:ext cx="464515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회복 EPS 1,000원 가정</a:t>
            </a:r>
          </a:p>
        </p:txBody>
      </p:sp>
      <p:sp>
        <p:nvSpPr>
          <p:cNvPr id="27" name="TextBox 26"/>
          <p:cNvSpPr txBox="1"/>
          <p:nvPr/>
        </p:nvSpPr>
        <p:spPr>
          <a:xfrm>
            <a:off x="5678424" y="3776472"/>
            <a:ext cx="5760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평가 배수 없이 가격 상승을 확정</a:t>
            </a:r>
          </a:p>
        </p:txBody>
      </p:sp>
      <p:sp>
        <p:nvSpPr>
          <p:cNvPr id="28" name="Rectangle 27"/>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89703"/>
            <a:ext cx="464515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계약 30억 · 다음 해 공급</a:t>
            </a:r>
          </a:p>
        </p:txBody>
      </p:sp>
      <p:sp>
        <p:nvSpPr>
          <p:cNvPr id="30" name="TextBox 29"/>
          <p:cNvSpPr txBox="1"/>
          <p:nvPr/>
        </p:nvSpPr>
        <p:spPr>
          <a:xfrm>
            <a:off x="5678424" y="4489703"/>
            <a:ext cx="576072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당기 매출·이익에 계약 금액을 전액 합산</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분석의 결론은 확인 범위와 다음 행동을 포함합니다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판단 유보도 근거와 다음 확인 항목이 있으면 설명 가능한 결론입니다.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85</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“원가율 변화의 이유, 대금 회수,</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계약의 신규 물량과 인식 시점을 확인하겠다.”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제시하지 않은 것: 확정된 미래 주가, 계산 근거가 없는 추가 이익</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질의응답은 숫자와 조건으로 답합니다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모르는 숫자를 즉석에서 만들어 답하지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86</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446227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받은 질문</a:t>
            </a:r>
          </a:p>
        </p:txBody>
      </p:sp>
      <p:sp>
        <p:nvSpPr>
          <p:cNvPr id="21" name="TextBox 20"/>
          <p:cNvSpPr txBox="1"/>
          <p:nvPr/>
        </p:nvSpPr>
        <p:spPr>
          <a:xfrm>
            <a:off x="5495544" y="2532888"/>
            <a:ext cx="594360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답변의 핵심</a:t>
            </a:r>
          </a:p>
        </p:txBody>
      </p:sp>
      <p:sp>
        <p:nvSpPr>
          <p:cNvPr id="22" name="Rectangle 21"/>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44622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“매출이 늘었는데 왜 조심스럽죠?”</a:t>
            </a:r>
          </a:p>
        </p:txBody>
      </p:sp>
      <p:sp>
        <p:nvSpPr>
          <p:cNvPr id="24" name="TextBox 23"/>
          <p:cNvSpPr txBox="1"/>
          <p:nvPr/>
        </p:nvSpPr>
        <p:spPr>
          <a:xfrm>
            <a:off x="5495544" y="3063240"/>
            <a:ext cx="594360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영업이익 −20%, 원가율 +5%포인트도 함께 확인</a:t>
            </a:r>
          </a:p>
        </p:txBody>
      </p:sp>
      <p:sp>
        <p:nvSpPr>
          <p:cNvPr id="25" name="Rectangle 24"/>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6472"/>
            <a:ext cx="44622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“계약 30억이면 이익도 30억 아닌가요?”</a:t>
            </a:r>
          </a:p>
        </p:txBody>
      </p:sp>
      <p:sp>
        <p:nvSpPr>
          <p:cNvPr id="27" name="TextBox 26"/>
          <p:cNvSpPr txBox="1"/>
          <p:nvPr/>
        </p:nvSpPr>
        <p:spPr>
          <a:xfrm>
            <a:off x="5495544" y="3776472"/>
            <a:ext cx="594360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공급 시점·신규 물량·원가를 알아야 이익 계산 가능</a:t>
            </a:r>
          </a:p>
        </p:txBody>
      </p:sp>
      <p:sp>
        <p:nvSpPr>
          <p:cNvPr id="28" name="Rectangle 27"/>
          <p:cNvSpPr/>
          <p:nvPr/>
        </p:nvSpPr>
        <p:spPr>
          <a:xfrm>
            <a:off x="594360" y="4361688"/>
            <a:ext cx="10991088" cy="713232"/>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89703"/>
            <a:ext cx="446227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“그래서 내일 오릅니까?”</a:t>
            </a:r>
          </a:p>
        </p:txBody>
      </p:sp>
      <p:sp>
        <p:nvSpPr>
          <p:cNvPr id="30" name="TextBox 29"/>
          <p:cNvSpPr txBox="1"/>
          <p:nvPr/>
        </p:nvSpPr>
        <p:spPr>
          <a:xfrm>
            <a:off x="5495544" y="4489703"/>
            <a:ext cx="5943600"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지금 자료로 확정할 수 없음 · 검토한 가정 설명</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PEER REVIEW</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동료 피드백은 고칠 수 있는 항목으로 남깁니다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수익률 순위를 발표 품질의 점수로 사용하지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87</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27249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평가할 것</a:t>
            </a:r>
          </a:p>
        </p:txBody>
      </p:sp>
      <p:sp>
        <p:nvSpPr>
          <p:cNvPr id="21" name="TextBox 20"/>
          <p:cNvSpPr txBox="1"/>
          <p:nvPr/>
        </p:nvSpPr>
        <p:spPr>
          <a:xfrm>
            <a:off x="3758183" y="2532888"/>
            <a:ext cx="768096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확인 질문</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자료 추적</a:t>
            </a:r>
          </a:p>
        </p:txBody>
      </p:sp>
      <p:sp>
        <p:nvSpPr>
          <p:cNvPr id="24" name="TextBox 23"/>
          <p:cNvSpPr txBox="1"/>
          <p:nvPr/>
        </p:nvSpPr>
        <p:spPr>
          <a:xfrm>
            <a:off x="3758183" y="306324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원문·기간·단위·범위를 다시 찾을 수 있는가</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계산 일관성</a:t>
            </a:r>
          </a:p>
        </p:txBody>
      </p:sp>
      <p:sp>
        <p:nvSpPr>
          <p:cNvPr id="27" name="TextBox 26"/>
          <p:cNvSpPr txBox="1"/>
          <p:nvPr/>
        </p:nvSpPr>
        <p:spPr>
          <a:xfrm>
            <a:off x="3758183" y="377035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같은 기준의 숫자로 식을 검산할 수 있는가</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판단의 한계</a:t>
            </a:r>
          </a:p>
        </p:txBody>
      </p:sp>
      <p:sp>
        <p:nvSpPr>
          <p:cNvPr id="30" name="TextBox 29"/>
          <p:cNvSpPr txBox="1"/>
          <p:nvPr/>
        </p:nvSpPr>
        <p:spPr>
          <a:xfrm>
            <a:off x="3758183" y="447746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반대 근거와 미확인을 구분했는가</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272491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개선 행동</a:t>
            </a:r>
          </a:p>
        </p:txBody>
      </p:sp>
      <p:sp>
        <p:nvSpPr>
          <p:cNvPr id="33" name="TextBox 32"/>
          <p:cNvSpPr txBox="1"/>
          <p:nvPr/>
        </p:nvSpPr>
        <p:spPr>
          <a:xfrm>
            <a:off x="3758183" y="5184570"/>
            <a:ext cx="768096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다음 주문에서 무엇을 바꿀지 구체적인가</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REHEARSAL</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5분 발표를 실제로 리허설합니다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발표자 노트의 완성 원고를 참고하고 자신의 조사 자료로 바꾸어 설명합니다.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88</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질문 → 근거 → 해석 → 다음 확인</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1분: 질문과 자료의 범위 / 2분: 실적·가격·뉴스 근거</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1분: 반대 조건과 남은 질문 / 1분: 수정한 투자 원칙</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동료는 이해되지 않은 숫자 한 개와 수정할 문장 한 개를 기록</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CLOSING</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다음 판단에 남길 한 문장</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8주 동안 배운 내용을 다음 의사결정에서 확인 가능한 행동으로 연결합니다.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89</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“내 판단을 설명할 수 있는 자료를 남기고,</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틀린 가정을 확인하면 원칙을 수정한다.”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최종 제출: 분석 발표 · 원문 목록 · 계산표 · 유지할 원칙 · 바꿀 행동</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08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D8DEDA"/>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CF283B"/>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90</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https://dart.fss.or.kr/dsab007/main.do</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Investor.gov · 자산배분과 분산투자</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https://www.investor.gov/introduction-investing/getting-started/asset-allocation</a:t>
            </a:r>
          </a:p>
        </p:txBody>
      </p:sp>
      <p:sp>
        <p:nvSpPr>
          <p:cNvPr id="22" name="TextBox 21"/>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 8주 강의</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
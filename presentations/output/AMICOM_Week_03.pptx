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재무제표의 숫자를 연결해</a:t>
            </a:r>
          </a:p>
          <a:p>
            <a:r>
              <a:t>확인 가능한 분석 문장을 만듭니다.</a:t>
            </a:r>
          </a:p>
          <a:p/>
          <a:p>
            <a:r>
              <a:t>[권장 진행]</a:t>
            </a:r>
          </a:p>
          <a:p>
            <a:r>
              <a:t>도입 5분</a:t>
            </a:r>
          </a:p>
          <a:p/>
          <a:p>
            <a:r>
              <a:t>[설명 원고]</a:t>
            </a:r>
          </a:p>
          <a:p>
            <a:r>
              <a:t>실제 기업을 조사할 때는 DART 공시통합검색에서 회사명 또는 종목코드와 조회 기간을 정하고 사업보고서를 찾습니다. 보고서 제목만 보지 말고 대상 사업연도, 정정 여부와 첨부 자료를 확인합니다. 같은 기업의 연간 자료 두 기간을 비교하고, 연결 재무제표를 사용했다면 두 기간 모두 같은 범위인지 기록합니다. 연결 자료가 없는 기업에는 별도 기준임을 적습니다.</a:t>
            </a:r>
          </a:p>
          <a:p/>
          <a:p>
            <a:r>
              <a:t>보고서 목차에서 ‘사업의 내용’의 제품·서비스 설명과 매출·수주 관련 항목을 먼저 읽습니다. 그다음 ‘재무에 관한 사항’에서 손익계산서, 재무상태표, 현금흐름표와 주석을 찾습니다. 목차 명칭과 배치는 보고서마다 다를 수 있으므로 본문에서 ‘매출’, ‘매출원가’, ‘매출채권’을 검색하는 방법도 씁니다. 원문 URL, 표 제목, 단위, 연도, 연결 여부를 숫자 옆에 함께 적습니다.</a:t>
            </a:r>
          </a:p>
          <a:p/>
          <a:p>
            <a:r>
              <a:t>여기서부터는 실제 공시가 아닌 한빛식품의 가상 자료를 읽습니다. 2024년→2025년, 연간·연결, 단위 억 원으로 매출 100→120, 매출원가 60→78, 판매비와 관리비 25→30, 영업이익 15→12입니다. 이익 수치는 다른 영업 항목이 없다는 가정과 맞아야 합니다. 원문에 백만 원 단위로 12,000이 적혀 있다면 120억 원입니다. 숫자를 12,000억 원으로 옮기면 단위가 틀립니다.</a:t>
            </a:r>
          </a:p>
          <a:p/>
          <a:p>
            <a:r>
              <a:t>완성 메모 첫 줄은 ‘한빛식품 가상 자료 / 2024·2025년 연간 연결 / 단위 억 원’입니다. 실제 조사에서는 가상 자료라는 표기 대신 원문 링크와 확인일을 적습니다. 고객 설명은 ‘편의점에 간편식을 납품하고 제품 판매대금을 받는 회사’처럼 쓰며, 자료에 없는 고객 수나 시장점유율을 추측해서 채우지 않습니다. 이 정도를 적어야 다른 사람이 같은 표를 다시 찾고 검산할 수 있습니다.</a:t>
            </a:r>
          </a:p>
          <a:p/>
          <a:p>
            <a:r>
              <a:t>[진행자 안내]</a:t>
            </a:r>
          </a:p>
          <a:p>
            <a:r>
              <a:t>이 주차의 핵심 질문을 먼저 읽고 참가자의 예상 답을 두 개 받아 기록합니다. 수익률 순위를 학습 평가 기준으로 쓰지 않습니다.</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원문 링크 · 표 제목 · 기간 · 단위 · 연결 여부를 숫자 옆에 기록합니다.</a:t>
            </a:r>
          </a:p>
          <a:p/>
          <a:p>
            <a:r>
              <a:t>[권장 진행]</a:t>
            </a:r>
          </a:p>
          <a:p>
            <a:r>
              <a:t>설명 4분 · 질문 2분</a:t>
            </a:r>
          </a:p>
          <a:p/>
          <a:p>
            <a:r>
              <a:t>[설명 원고]</a:t>
            </a:r>
          </a:p>
          <a:p>
            <a:r>
              <a:t>실제 기업을 조사할 때는 DART 공시통합검색에서 회사명 또는 종목코드와 조회 기간을 정하고 사업보고서를 찾습니다. 보고서 제목만 보지 말고 대상 사업연도, 정정 여부와 첨부 자료를 확인합니다. 같은 기업의 연간 자료 두 기간을 비교하고, 연결 재무제표를 사용했다면 두 기간 모두 같은 범위인지 기록합니다. 연결 자료가 없는 기업에는 별도 기준임을 적습니다.</a:t>
            </a:r>
          </a:p>
          <a:p/>
          <a:p>
            <a:r>
              <a:t>보고서 목차에서 ‘사업의 내용’의 제품·서비스 설명과 매출·수주 관련 항목을 먼저 읽습니다. 그다음 ‘재무에 관한 사항’에서 손익계산서, 재무상태표, 현금흐름표와 주석을 찾습니다. 목차 명칭과 배치는 보고서마다 다를 수 있으므로 본문에서 ‘매출’, ‘매출원가’, ‘매출채권’을 검색하는 방법도 씁니다. 원문 URL, 표 제목, 단위, 연도, 연결 여부를 숫자 옆에 함께 적습니다.</a:t>
            </a:r>
          </a:p>
          <a:p/>
          <a:p>
            <a:r>
              <a:t>여기서부터는 실제 공시가 아닌 한빛식품의 가상 자료를 읽습니다. 2024년→2025년, 연간·연결, 단위 억 원으로 매출 100→120, 매출원가 60→78, 판매비와 관리비 25→30, 영업이익 15→12입니다. 이익 수치는 다른 영업 항목이 없다는 가정과 맞아야 합니다. 원문에 백만 원 단위로 12,000이 적혀 있다면 120억 원입니다. 숫자를 12,000억 원으로 옮기면 단위가 틀립니다.</a:t>
            </a:r>
          </a:p>
          <a:p/>
          <a:p>
            <a:r>
              <a:t>완성 메모 첫 줄은 ‘한빛식품 가상 자료 / 2024·2025년 연간 연결 / 단위 억 원’입니다. 실제 조사에서는 가상 자료라는 표기 대신 원문 링크와 확인일을 적습니다. 고객 설명은 ‘편의점에 간편식을 납품하고 제품 판매대금을 받는 회사’처럼 쓰며, 자료에 없는 고객 수나 시장점유율을 추측해서 채우지 않습니다. 이 정도를 적어야 다른 사람이 같은 표를 다시 찾고 검산할 수 있습니다.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백만 원 단위 12,000은 120억 원입니다. 단위부터 검산합니다.</a:t>
            </a:r>
          </a:p>
          <a:p/>
          <a:p>
            <a:r>
              <a:t>[권장 진행]</a:t>
            </a:r>
          </a:p>
          <a:p>
            <a:r>
              <a:t>설명 4분 · 질문 2분</a:t>
            </a:r>
          </a:p>
          <a:p/>
          <a:p>
            <a:r>
              <a:t>[설명 원고]</a:t>
            </a:r>
          </a:p>
          <a:p>
            <a:r>
              <a:t>실제 기업을 조사할 때는 DART 공시통합검색에서 회사명 또는 종목코드와 조회 기간을 정하고 사업보고서를 찾습니다. 보고서 제목만 보지 말고 대상 사업연도, 정정 여부와 첨부 자료를 확인합니다. 같은 기업의 연간 자료 두 기간을 비교하고, 연결 재무제표를 사용했다면 두 기간 모두 같은 범위인지 기록합니다. 연결 자료가 없는 기업에는 별도 기준임을 적습니다.</a:t>
            </a:r>
          </a:p>
          <a:p/>
          <a:p>
            <a:r>
              <a:t>보고서 목차에서 ‘사업의 내용’의 제품·서비스 설명과 매출·수주 관련 항목을 먼저 읽습니다. 그다음 ‘재무에 관한 사항’에서 손익계산서, 재무상태표, 현금흐름표와 주석을 찾습니다. 목차 명칭과 배치는 보고서마다 다를 수 있으므로 본문에서 ‘매출’, ‘매출원가’, ‘매출채권’을 검색하는 방법도 씁니다. 원문 URL, 표 제목, 단위, 연도, 연결 여부를 숫자 옆에 함께 적습니다.</a:t>
            </a:r>
          </a:p>
          <a:p/>
          <a:p>
            <a:r>
              <a:t>여기서부터는 실제 공시가 아닌 한빛식품의 가상 자료를 읽습니다. 2024년→2025년, 연간·연결, 단위 억 원으로 매출 100→120, 매출원가 60→78, 판매비와 관리비 25→30, 영업이익 15→12입니다. 이익 수치는 다른 영업 항목이 없다는 가정과 맞아야 합니다. 원문에 백만 원 단위로 12,000이 적혀 있다면 120억 원입니다. 숫자를 12,000억 원으로 옮기면 단위가 틀립니다.</a:t>
            </a:r>
          </a:p>
          <a:p/>
          <a:p>
            <a:r>
              <a:t>완성 메모 첫 줄은 ‘한빛식품 가상 자료 / 2024·2025년 연간 연결 / 단위 억 원’입니다. 실제 조사에서는 가상 자료라는 표기 대신 원문 링크와 확인일을 적습니다. 고객 설명은 ‘편의점에 간편식을 납품하고 제품 판매대금을 받는 회사’처럼 쓰며, 자료에 없는 고객 수나 시장점유율을 추측해서 채우지 않습니다. 이 정도를 적어야 다른 사람이 같은 표를 다시 찾고 검산할 수 있습니다.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15 + 20 − 18 − 5 = 12억 원. 비용 증가가 매출 증가분을 넘어섰습니다.</a:t>
            </a:r>
          </a:p>
          <a:p/>
          <a:p>
            <a:r>
              <a:t>[권장 진행]</a:t>
            </a:r>
          </a:p>
          <a:p>
            <a:r>
              <a:t>설명 4분 · 질문 2분</a:t>
            </a:r>
          </a:p>
          <a:p/>
          <a:p>
            <a:r>
              <a:t>[설명 원고]</a:t>
            </a:r>
          </a:p>
          <a:p>
            <a:r>
              <a:t>앞의 표를 식으로 바꿉니다. 2024년 영업이익은 매출 100−원가 60−판관비 25=15억 원입니다. 2025년은 120−78−30=12억 원입니다. 매출은 (120−100)÷100=20% 늘었지만 영업이익은 (12−15)÷15=−20%입니다. 매출 성장이라는 한 문장만으로 이익 성장까지 설명할 수 없다는 것을 같은 표에서 확인할 수 있습니다.</a:t>
            </a:r>
          </a:p>
          <a:p/>
          <a:p>
            <a:r>
              <a:t>원가율은 60÷100=60%에서 78÷120=65%로 5%포인트 높아졌습니다. 판관비율은 25÷100=25%와 30÷120=25%로 같습니다. 그래서 영업이익률은 15%에서 10%로 낮아졌습니다. ‘판관비가 5억 원 늘어 수익성이 악화됐다’만 쓰면 판관비 비중은 그대로라는 사실을 놓칩니다. 이 표에서는 매출 대비 원가 비중의 증가가 이익률 하락을 설명합니다.</a:t>
            </a:r>
          </a:p>
          <a:p/>
          <a:p>
            <a:r>
              <a:t>원가가 왜 높아졌는지는 아직 모릅니다. 다음 조사 항목은 원재료 매입가격 변화, 제품 판매가격 변화, 저마진 제품 비중, 생산량과 가동 관련 설명입니다. 원재료 가격 표가 있다면 비교 기간과 단위를 맞추고, 판매가격 인상으로 비용을 상쇄했는지도 살핍니다. 원가율 상승만 보고 ‘밀가루 가격 때문에’라고 특정 원인을 확정하면 표가 제공하지 않은 사실을 덧붙인 것입니다.</a:t>
            </a:r>
          </a:p>
          <a:p/>
          <a:p>
            <a:r>
              <a:t>완성 분석 문장: ‘한빛식품의 매출은 20% 증가했지만 영업이익은 20% 감소했다. 판관비율은 25%로 같고 원가율이 60%에서 65%로 상승해 영업이익률이 15%에서 10%로 낮아졌다. 원재료 가격, 판매가격, 제품 구성 중 원가율 변화를 설명하는 항목을 추가 확인한다.’ 이 문장은 확인한 계산과 아직 확인하지 못한 원인을 구분합니다.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판관비율은 25%로 같고, 원가율이 5%포인트 올라 이익률이 낮아졌습니다.</a:t>
            </a:r>
          </a:p>
          <a:p/>
          <a:p>
            <a:r>
              <a:t>[권장 진행]</a:t>
            </a:r>
          </a:p>
          <a:p>
            <a:r>
              <a:t>설명 4분 · 질문 2분</a:t>
            </a:r>
          </a:p>
          <a:p/>
          <a:p>
            <a:r>
              <a:t>[설명 원고]</a:t>
            </a:r>
          </a:p>
          <a:p>
            <a:r>
              <a:t>앞의 표를 식으로 바꿉니다. 2024년 영업이익은 매출 100−원가 60−판관비 25=15억 원입니다. 2025년은 120−78−30=12억 원입니다. 매출은 (120−100)÷100=20% 늘었지만 영업이익은 (12−15)÷15=−20%입니다. 매출 성장이라는 한 문장만으로 이익 성장까지 설명할 수 없다는 것을 같은 표에서 확인할 수 있습니다.</a:t>
            </a:r>
          </a:p>
          <a:p/>
          <a:p>
            <a:r>
              <a:t>원가율은 60÷100=60%에서 78÷120=65%로 5%포인트 높아졌습니다. 판관비율은 25÷100=25%와 30÷120=25%로 같습니다. 그래서 영업이익률은 15%에서 10%로 낮아졌습니다. ‘판관비가 5억 원 늘어 수익성이 악화됐다’만 쓰면 판관비 비중은 그대로라는 사실을 놓칩니다. 이 표에서는 매출 대비 원가 비중의 증가가 이익률 하락을 설명합니다.</a:t>
            </a:r>
          </a:p>
          <a:p/>
          <a:p>
            <a:r>
              <a:t>원가가 왜 높아졌는지는 아직 모릅니다. 다음 조사 항목은 원재료 매입가격 변화, 제품 판매가격 변화, 저마진 제품 비중, 생산량과 가동 관련 설명입니다. 원재료 가격 표가 있다면 비교 기간과 단위를 맞추고, 판매가격 인상으로 비용을 상쇄했는지도 살핍니다. 원가율 상승만 보고 ‘밀가루 가격 때문에’라고 특정 원인을 확정하면 표가 제공하지 않은 사실을 덧붙인 것입니다.</a:t>
            </a:r>
          </a:p>
          <a:p/>
          <a:p>
            <a:r>
              <a:t>완성 분석 문장: ‘한빛식품의 매출은 20% 증가했지만 영업이익은 20% 감소했다. 판관비율은 25%로 같고 원가율이 60%에서 65%로 상승해 영업이익률이 15%에서 10%로 낮아졌다. 원재료 가격, 판매가격, 제품 구성 중 원가율 변화를 설명하는 항목을 추가 확인한다.’ 이 문장은 확인한 계산과 아직 확인하지 못한 원인을 구분합니다.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원가율 상승만으로 “밀가루 때문”이라고 확정하지 않습니다.</a:t>
            </a:r>
          </a:p>
          <a:p/>
          <a:p>
            <a:r>
              <a:t>[권장 진행]</a:t>
            </a:r>
          </a:p>
          <a:p>
            <a:r>
              <a:t>설명 4분 · 질문 2분</a:t>
            </a:r>
          </a:p>
          <a:p/>
          <a:p>
            <a:r>
              <a:t>[설명 원고]</a:t>
            </a:r>
          </a:p>
          <a:p>
            <a:r>
              <a:t>원가가 왜 높아졌는지는 아직 모릅니다. 다음 조사 항목은 원재료 매입가격 변화, 제품 판매가격 변화, 저마진 제품 비중, 생산량과 가동 관련 설명입니다. 원재료 가격 표가 있다면 비교 기간과 단위를 맞추고, 판매가격 인상으로 비용을 상쇄했는지도 살핍니다. 원가율 상승만 보고 ‘밀가루 가격 때문에’라고 특정 원인을 확정하면 표가 제공하지 않은 사실을 덧붙인 것입니다.</a:t>
            </a:r>
          </a:p>
          <a:p/>
          <a:p>
            <a:r>
              <a:t>완성 분석 문장: ‘한빛식품의 매출은 20% 증가했지만 영업이익은 20% 감소했다. 판관비율은 25%로 같고 원가율이 60%에서 65%로 상승해 영업이익률이 15%에서 10%로 낮아졌다. 원재료 가격, 판매가격, 제품 구성 중 원가율 변화를 설명하는 항목을 추가 확인한다.’ 이 문장은 확인한 계산과 아직 확인하지 못한 원인을 구분합니다.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이 다섯 항목만 있는 가정입니다. 실제 현금흐름표에는 다른 조정이 있을 수 있습니다.</a:t>
            </a:r>
          </a:p>
          <a:p/>
          <a:p>
            <a:r>
              <a:t>[권장 진행]</a:t>
            </a:r>
          </a:p>
          <a:p>
            <a:r>
              <a:t>설명 4분 · 질문 2분</a:t>
            </a:r>
          </a:p>
          <a:p/>
          <a:p>
            <a:r>
              <a:t>[설명 원고]</a:t>
            </a:r>
          </a:p>
          <a:p>
            <a:r>
              <a:t>가상 2025년 순이익은 8억 원입니다. 현금흐름을 이해하기 위해 다음 항목만 있다고 단순화합니다. 감가상각비 4억 원, 매출채권 증가 12억 원, 재고 증가 6억 원, 매입채무 증가 10억 원이며 다른 조정은 없습니다. 매출채권은 외상 판매 뒤 아직 받지 않은 대금, 재고는 아직 판매·사용되지 않은 물품, 매입채무는 매입 뒤 아직 지급하지 않은 대금으로 이해합니다.</a:t>
            </a:r>
          </a:p>
          <a:p/>
          <a:p>
            <a:r>
              <a:t>순이익 8에서 현금 유출이 수반되지 않은 해당 기간의 감가상각비 4를 더합니다. 아직 회수하지 않은 외상대금 증가 12와 재고에 묶인 금액 증가 6을 빼고, 아직 지급하지 않은 매입채무 증가 10을 더하면 8+4−12−6+10=4억 원입니다. 감가상각비를 더하는 것은 설비가 공짜라는 뜻이 아니라 이번 순이익에서 차감한 비현금 비용을 조정하는 뜻입니다.</a:t>
            </a:r>
          </a:p>
          <a:p/>
          <a:p>
            <a:r>
              <a:t>매출채권은 전년 10억에서 22억으로, 재고는 8억에서 14억으로 늘었다고 가정했습니다. 매출 증가보다 외상대금과 재고의 증가가 빠른 이유를 확인할 필요가 있습니다. 매출채권 주석에서 회수 지연·손상 관련 설명을, 재고 주석에서 구성·평가 관련 설명을 찾습니다. 이번에 채무 지급을 미뤄 현금 유출이 적었던 부분도 있으므로 영업 현금 4억 원을 전부 현금 창출 능력의 개선이라고 읽지 않습니다.</a:t>
            </a:r>
          </a:p>
          <a:p/>
          <a:p>
            <a:r>
              <a:t>완성 문장: ‘순이익 8억 원과 영업 현금 4억 원의 차이는 가상 조정표에서 재현된다. 매출채권과 재고 증가가 현금을 묶었고 매입채무 증가가 일부 상쇄했다. 이것만으로 부실을 확정하지 않으며 회수와 재고 평가, 지급 조건을 확인한다.’ 실제 현금흐름표에는 세금·이자·환율 등 다른 조정이 있을 수 있으므로 이 다섯 숫자를 모든 회사의 공식으로 대체하지 않습니다.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증가 자체가 부실의 증거는 아닙니다. 이유를 확인할 질문으로 바꿉니다.</a:t>
            </a:r>
          </a:p>
          <a:p/>
          <a:p>
            <a:r>
              <a:t>[권장 진행]</a:t>
            </a:r>
          </a:p>
          <a:p>
            <a:r>
              <a:t>설명 4분 · 질문 2분</a:t>
            </a:r>
          </a:p>
          <a:p/>
          <a:p>
            <a:r>
              <a:t>[설명 원고]</a:t>
            </a:r>
          </a:p>
          <a:p>
            <a:r>
              <a:t>가상 2025년 순이익은 8억 원입니다. 현금흐름을 이해하기 위해 다음 항목만 있다고 단순화합니다. 감가상각비 4억 원, 매출채권 증가 12억 원, 재고 증가 6억 원, 매입채무 증가 10억 원이며 다른 조정은 없습니다. 매출채권은 외상 판매 뒤 아직 받지 않은 대금, 재고는 아직 판매·사용되지 않은 물품, 매입채무는 매입 뒤 아직 지급하지 않은 대금으로 이해합니다.</a:t>
            </a:r>
          </a:p>
          <a:p/>
          <a:p>
            <a:r>
              <a:t>순이익 8에서 현금 유출이 수반되지 않은 해당 기간의 감가상각비 4를 더합니다. 아직 회수하지 않은 외상대금 증가 12와 재고에 묶인 금액 증가 6을 빼고, 아직 지급하지 않은 매입채무 증가 10을 더하면 8+4−12−6+10=4억 원입니다. 감가상각비를 더하는 것은 설비가 공짜라는 뜻이 아니라 이번 순이익에서 차감한 비현금 비용을 조정하는 뜻입니다.</a:t>
            </a:r>
          </a:p>
          <a:p/>
          <a:p>
            <a:r>
              <a:t>매출채권은 전년 10억에서 22억으로, 재고는 8억에서 14억으로 늘었다고 가정했습니다. 매출 증가보다 외상대금과 재고의 증가가 빠른 이유를 확인할 필요가 있습니다. 매출채권 주석에서 회수 지연·손상 관련 설명을, 재고 주석에서 구성·평가 관련 설명을 찾습니다. 이번에 채무 지급을 미뤄 현금 유출이 적었던 부분도 있으므로 영업 현금 4억 원을 전부 현금 창출 능력의 개선이라고 읽지 않습니다.</a:t>
            </a:r>
          </a:p>
          <a:p/>
          <a:p>
            <a:r>
              <a:t>완성 문장: ‘순이익 8억 원과 영업 현금 4억 원의 차이는 가상 조정표에서 재현된다. 매출채권과 재고 증가가 현금을 묶었고 매입채무 증가가 일부 상쇄했다. 이것만으로 부실을 확정하지 않으며 회수와 재고 평가, 지급 조건을 확인한다.’ 실제 현금흐름표에는 세금·이자·환율 등 다른 조정이 있을 수 있으므로 이 다섯 숫자를 모든 회사의 공식으로 대체하지 않습니다.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관찰한 계산과 아직 확인하지 못한 원인을 두 문장으로 나눕니다.</a:t>
            </a:r>
          </a:p>
          <a:p/>
          <a:p>
            <a:r>
              <a:t>[권장 진행]</a:t>
            </a:r>
          </a:p>
          <a:p>
            <a:r>
              <a:t>개별 작성 5분 · 조별 설명 8분</a:t>
            </a:r>
          </a:p>
          <a:p/>
          <a:p>
            <a:r>
              <a:t>[설명 원고]</a:t>
            </a:r>
          </a:p>
          <a:p>
            <a:r>
              <a:t>앞의 표를 식으로 바꿉니다. 2024년 영업이익은 매출 100−원가 60−판관비 25=15억 원입니다. 2025년은 120−78−30=12억 원입니다. 매출은 (120−100)÷100=20% 늘었지만 영업이익은 (12−15)÷15=−20%입니다. 매출 성장이라는 한 문장만으로 이익 성장까지 설명할 수 없다는 것을 같은 표에서 확인할 수 있습니다.</a:t>
            </a:r>
          </a:p>
          <a:p/>
          <a:p>
            <a:r>
              <a:t>원가율은 60÷100=60%에서 78÷120=65%로 5%포인트 높아졌습니다. 판관비율은 25÷100=25%와 30÷120=25%로 같습니다. 그래서 영업이익률은 15%에서 10%로 낮아졌습니다. ‘판관비가 5억 원 늘어 수익성이 악화됐다’만 쓰면 판관비 비중은 그대로라는 사실을 놓칩니다. 이 표에서는 매출 대비 원가 비중의 증가가 이익률 하락을 설명합니다.</a:t>
            </a:r>
          </a:p>
          <a:p/>
          <a:p>
            <a:r>
              <a:t>원가가 왜 높아졌는지는 아직 모릅니다. 다음 조사 항목은 원재료 매입가격 변화, 제품 판매가격 변화, 저마진 제품 비중, 생산량과 가동 관련 설명입니다. 원재료 가격 표가 있다면 비교 기간과 단위를 맞추고, 판매가격 인상으로 비용을 상쇄했는지도 살핍니다. 원가율 상승만 보고 ‘밀가루 가격 때문에’라고 특정 원인을 확정하면 표가 제공하지 않은 사실을 덧붙인 것입니다.</a:t>
            </a:r>
          </a:p>
          <a:p/>
          <a:p>
            <a:r>
              <a:t>완성 분석 문장: ‘한빛식품의 매출은 20% 증가했지만 영업이익은 20% 감소했다. 판관비율은 25%로 같고 원가율이 60%에서 65%로 상승해 영업이익률이 15%에서 10%로 낮아졌다. 원재료 가격, 판매가격, 제품 구성 중 원가율 변화를 설명하는 항목을 추가 확인한다.’ 이 문장은 확인한 계산과 아직 확인하지 못한 원인을 구분합니다.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금액 증가만 나열하지 않고 매출 대비 비율과 다음 확인 자료를 연결합니다.</a:t>
            </a:r>
          </a:p>
          <a:p/>
          <a:p>
            <a:r>
              <a:t>[권장 진행]</a:t>
            </a:r>
          </a:p>
          <a:p>
            <a:r>
              <a:t>설명 4분 · 질문 2분</a:t>
            </a:r>
          </a:p>
          <a:p/>
          <a:p>
            <a:r>
              <a:t>[설명 원고]</a:t>
            </a:r>
          </a:p>
          <a:p>
            <a:r>
              <a:t>앞의 표를 식으로 바꿉니다. 2024년 영업이익은 매출 100−원가 60−판관비 25=15억 원입니다. 2025년은 120−78−30=12억 원입니다. 매출은 (120−100)÷100=20% 늘었지만 영업이익은 (12−15)÷15=−20%입니다. 매출 성장이라는 한 문장만으로 이익 성장까지 설명할 수 없다는 것을 같은 표에서 확인할 수 있습니다.</a:t>
            </a:r>
          </a:p>
          <a:p/>
          <a:p>
            <a:r>
              <a:t>원가율은 60÷100=60%에서 78÷120=65%로 5%포인트 높아졌습니다. 판관비율은 25÷100=25%와 30÷120=25%로 같습니다. 그래서 영업이익률은 15%에서 10%로 낮아졌습니다. ‘판관비가 5억 원 늘어 수익성이 악화됐다’만 쓰면 판관비 비중은 그대로라는 사실을 놓칩니다. 이 표에서는 매출 대비 원가 비중의 증가가 이익률 하락을 설명합니다.</a:t>
            </a:r>
          </a:p>
          <a:p/>
          <a:p>
            <a:r>
              <a:t>원가가 왜 높아졌는지는 아직 모릅니다. 다음 조사 항목은 원재료 매입가격 변화, 제품 판매가격 변화, 저마진 제품 비중, 생산량과 가동 관련 설명입니다. 원재료 가격 표가 있다면 비교 기간과 단위를 맞추고, 판매가격 인상으로 비용을 상쇄했는지도 살핍니다. 원가율 상승만 보고 ‘밀가루 가격 때문에’라고 특정 원인을 확정하면 표가 제공하지 않은 사실을 덧붙인 것입니다.</a:t>
            </a:r>
          </a:p>
          <a:p/>
          <a:p>
            <a:r>
              <a:t>완성 분석 문장: ‘한빛식품의 매출은 20% 증가했지만 영업이익은 20% 감소했다. 판관비율은 25%로 같고 원가율이 60%에서 65%로 상승해 영업이익률이 15%에서 10%로 낮아졌다. 원재료 가격, 판매가격, 제품 구성 중 원가율 변화를 설명하는 항목을 추가 확인한다.’ 이 문장은 확인한 계산과 아직 확인하지 못한 원인을 구분합니다.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실제 기업으로 연습할 때에는 한빛식품의 가상 수치를 가져다 쓰지 않습니다.</a:t>
            </a:r>
          </a:p>
          <a:p/>
          <a:p>
            <a:r>
              <a:t>[권장 진행]</a:t>
            </a:r>
          </a:p>
          <a:p>
            <a:r>
              <a:t>원문 찾기·비교표 작성 15분 · 발표 5분</a:t>
            </a:r>
          </a:p>
          <a:p/>
          <a:p>
            <a:r>
              <a:t>[설명 원고]</a:t>
            </a:r>
          </a:p>
          <a:p>
            <a:r>
              <a:t>실제 기업을 조사할 때는 DART 공시통합검색에서 회사명 또는 종목코드와 조회 기간을 정하고 사업보고서를 찾습니다. 보고서 제목만 보지 말고 대상 사업연도, 정정 여부와 첨부 자료를 확인합니다. 같은 기업의 연간 자료 두 기간을 비교하고, 연결 재무제표를 사용했다면 두 기간 모두 같은 범위인지 기록합니다. 연결 자료가 없는 기업에는 별도 기준임을 적습니다.</a:t>
            </a:r>
          </a:p>
          <a:p/>
          <a:p>
            <a:r>
              <a:t>보고서 목차에서 ‘사업의 내용’의 제품·서비스 설명과 매출·수주 관련 항목을 먼저 읽습니다. 그다음 ‘재무에 관한 사항’에서 손익계산서, 재무상태표, 현금흐름표와 주석을 찾습니다. 목차 명칭과 배치는 보고서마다 다를 수 있으므로 본문에서 ‘매출’, ‘매출원가’, ‘매출채권’을 검색하는 방법도 씁니다. 원문 URL, 표 제목, 단위, 연도, 연결 여부를 숫자 옆에 함께 적습니다.</a:t>
            </a:r>
          </a:p>
          <a:p/>
          <a:p>
            <a:r>
              <a:t>여기서부터는 실제 공시가 아닌 한빛식품의 가상 자료를 읽습니다. 2024년→2025년, 연간·연결, 단위 억 원으로 매출 100→120, 매출원가 60→78, 판매비와 관리비 25→30, 영업이익 15→12입니다. 이익 수치는 다른 영업 항목이 없다는 가정과 맞아야 합니다. 원문에 백만 원 단위로 12,000이 적혀 있다면 120억 원입니다. 숫자를 12,000억 원으로 옮기면 단위가 틀립니다.</a:t>
            </a:r>
          </a:p>
          <a:p/>
          <a:p>
            <a:r>
              <a:t>완성 메모 첫 줄은 ‘한빛식품 가상 자료 / 2024·2025년 연간 연결 / 단위 억 원’입니다. 실제 조사에서는 가상 자료라는 표기 대신 원문 링크와 확인일을 적습니다. 고객 설명은 ‘편의점에 간편식을 납품하고 제품 판매대금을 받는 회사’처럼 쓰며, 자료에 없는 고객 수나 시장점유율을 추측해서 채우지 않습니다. 이 정도를 적어야 다른 사람이 같은 표를 다시 찾고 검산할 수 있습니다.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가상 회사의 수치를 실제 기업의 자료로 인용하지 않습니다. 실제 조사는 원문 링크, 대상 기간, 단위, 연결 범위, 확인 날짜를 기록합니다.</a:t>
            </a:r>
          </a:p>
          <a:p/>
          <a:p>
            <a:r>
              <a:t>기업 소개 3문장과 재무 숫자 3개, 원문 링크를 포함한 한 장짜리 기업 메모를 만듭니다.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rt.fss.or.kr/introduction/content2.do" TargetMode="External"/><Relationship Id="rId3" Type="http://schemas.openxmlformats.org/officeDocument/2006/relationships/hyperlink" Target="https://dart.fss.or.kr/dsab007/main.do" TargetMode="External"/><Relationship Id="rId4" Type="http://schemas.openxmlformats.org/officeDocument/2006/relationships/hyperlink" Target="https://www.sec.gov/about/reports-publications/investorpubsbegfinstmtguide" TargetMode="External"/><Relationship Id="rId5"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92D"/>
        </a:solidFill>
        <a:effectLst/>
      </p:bgPr>
    </p:bg>
    <p:spTree>
      <p:nvGrpSpPr>
        <p:cNvPr id="1" name=""/>
        <p:cNvGrpSpPr/>
        <p:nvPr/>
      </p:nvGrpSpPr>
      <p:grpSpPr/>
      <p:sp>
        <p:nvSpPr>
          <p:cNvPr id="2" name="TextBox 1"/>
          <p:cNvSpPr txBox="1"/>
          <p:nvPr/>
        </p:nvSpPr>
        <p:spPr>
          <a:xfrm>
            <a:off x="667512" y="530352"/>
            <a:ext cx="91440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400" b="1">
                <a:solidFill>
                  <a:srgbClr val="FFFFFF"/>
                </a:solidFill>
                <a:latin typeface="Noto Sans CJK KR"/>
                <a:ea typeface="Noto Sans CJK KR"/>
              </a:defRPr>
            </a:pPr>
            <a:r>
              <a:rPr>
                <a:ea typeface="Noto Sans CJK KR"/>
              </a:rPr>
              <a:t>AMICOM / INVESTMENT STUDIO</a:t>
            </a:r>
          </a:p>
        </p:txBody>
      </p:sp>
      <p:sp>
        <p:nvSpPr>
          <p:cNvPr id="3" name="Rectangle 2"/>
          <p:cNvSpPr/>
          <p:nvPr/>
        </p:nvSpPr>
        <p:spPr>
          <a:xfrm>
            <a:off x="685800" y="1298448"/>
            <a:ext cx="548640" cy="59436"/>
          </a:xfrm>
          <a:prstGeom prst="rect">
            <a:avLst/>
          </a:prstGeom>
          <a:solidFill>
            <a:srgbClr val="CF283B"/>
          </a:solidFill>
          <a:ln>
            <a:noFill/>
          </a:ln>
          <a:effectLst/>
        </p:spPr>
        <p:txBody>
          <a:bodyPr rtlCol="0" anchor="ctr"/>
          <a:lstStyle/>
          <a:p>
            <a:pPr algn="ctr"/>
          </a:p>
        </p:txBody>
      </p:sp>
      <p:sp>
        <p:nvSpPr>
          <p:cNvPr id="4" name="TextBox 3"/>
          <p:cNvSpPr txBox="1"/>
          <p:nvPr/>
        </p:nvSpPr>
        <p:spPr>
          <a:xfrm>
            <a:off x="8476488" y="1536192"/>
            <a:ext cx="3291840" cy="2560320"/>
          </a:xfrm>
          <a:prstGeom prst="rect">
            <a:avLst/>
          </a:prstGeom>
          <a:noFill/>
        </p:spPr>
        <p:txBody>
          <a:bodyPr wrap="none" anchor="t" anchorCtr="0" lIns="0" rIns="0" tIns="0" bIns="0">
            <a:noAutofit/>
          </a:bodyPr>
          <a:lstStyle/>
          <a:p>
            <a:pPr algn="l">
              <a:lnSpc>
                <a:spcPct val="116000"/>
              </a:lnSpc>
              <a:spcBef>
                <a:spcPts val="0"/>
              </a:spcBef>
              <a:spcAft>
                <a:spcPts val="0"/>
              </a:spcAft>
              <a:defRPr sz="15400" b="1">
                <a:solidFill>
                  <a:srgbClr val="31474A"/>
                </a:solidFill>
                <a:latin typeface="Noto Sans CJK KR"/>
                <a:ea typeface="Noto Sans CJK KR"/>
              </a:defRPr>
            </a:pPr>
            <a:r>
              <a:rPr>
                <a:ea typeface="Noto Sans CJK KR"/>
              </a:rPr>
              <a:t>03</a:t>
            </a:r>
          </a:p>
        </p:txBody>
      </p:sp>
      <p:sp>
        <p:nvSpPr>
          <p:cNvPr id="5" name="TextBox 4"/>
          <p:cNvSpPr txBox="1"/>
          <p:nvPr/>
        </p:nvSpPr>
        <p:spPr>
          <a:xfrm>
            <a:off x="667512" y="1847088"/>
            <a:ext cx="8183879" cy="1783080"/>
          </a:xfrm>
          <a:prstGeom prst="rect">
            <a:avLst/>
          </a:prstGeom>
          <a:noFill/>
        </p:spPr>
        <p:txBody>
          <a:bodyPr wrap="none" anchor="t" anchorCtr="0" lIns="0" rIns="0" tIns="0" bIns="0">
            <a:noAutofit/>
          </a:bodyPr>
          <a:lstStyle/>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매출은 늘었는데,</a:t>
            </a:r>
          </a:p>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이익은 왜 줄었을까요?</a:t>
            </a:r>
          </a:p>
        </p:txBody>
      </p:sp>
      <p:sp>
        <p:nvSpPr>
          <p:cNvPr id="6" name="TextBox 5"/>
          <p:cNvSpPr txBox="1"/>
          <p:nvPr/>
        </p:nvSpPr>
        <p:spPr>
          <a:xfrm>
            <a:off x="713232" y="3995928"/>
            <a:ext cx="8183879" cy="1014984"/>
          </a:xfrm>
          <a:prstGeom prst="rect">
            <a:avLst/>
          </a:prstGeom>
          <a:noFill/>
        </p:spPr>
        <p:txBody>
          <a:bodyPr wrap="none" anchor="t" anchorCtr="0" lIns="0" rIns="0" tIns="0" bIns="0">
            <a:noAutofit/>
          </a:bodyPr>
          <a:lstStyle/>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재무제표의 숫자를 연결해</a:t>
            </a:r>
          </a:p>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확인 가능한 분석 문장을 만듭니다.</a:t>
            </a:r>
          </a:p>
        </p:txBody>
      </p:sp>
      <p:sp>
        <p:nvSpPr>
          <p:cNvPr id="7" name="Rectangle 6"/>
          <p:cNvSpPr/>
          <p:nvPr/>
        </p:nvSpPr>
        <p:spPr>
          <a:xfrm>
            <a:off x="9198864" y="4206240"/>
            <a:ext cx="265176" cy="402336"/>
          </a:xfrm>
          <a:prstGeom prst="rect">
            <a:avLst/>
          </a:prstGeom>
          <a:solidFill>
            <a:srgbClr val="687F7D"/>
          </a:solidFill>
          <a:ln>
            <a:noFill/>
          </a:ln>
          <a:effectLst/>
        </p:spPr>
        <p:txBody>
          <a:bodyPr rtlCol="0" anchor="ctr"/>
          <a:lstStyle/>
          <a:p>
            <a:pPr algn="ctr"/>
          </a:p>
        </p:txBody>
      </p:sp>
      <p:sp>
        <p:nvSpPr>
          <p:cNvPr id="8" name="Rectangle 7"/>
          <p:cNvSpPr/>
          <p:nvPr/>
        </p:nvSpPr>
        <p:spPr>
          <a:xfrm>
            <a:off x="9774936" y="3730752"/>
            <a:ext cx="265176" cy="877824"/>
          </a:xfrm>
          <a:prstGeom prst="rect">
            <a:avLst/>
          </a:prstGeom>
          <a:solidFill>
            <a:srgbClr val="687F7D"/>
          </a:solidFill>
          <a:ln>
            <a:noFill/>
          </a:ln>
          <a:effectLst/>
        </p:spPr>
        <p:txBody>
          <a:bodyPr rtlCol="0" anchor="ctr"/>
          <a:lstStyle/>
          <a:p>
            <a:pPr algn="ctr"/>
          </a:p>
        </p:txBody>
      </p:sp>
      <p:sp>
        <p:nvSpPr>
          <p:cNvPr id="9" name="Rectangle 8"/>
          <p:cNvSpPr/>
          <p:nvPr/>
        </p:nvSpPr>
        <p:spPr>
          <a:xfrm>
            <a:off x="10351008" y="3182112"/>
            <a:ext cx="265176" cy="1426464"/>
          </a:xfrm>
          <a:prstGeom prst="rect">
            <a:avLst/>
          </a:prstGeom>
          <a:solidFill>
            <a:srgbClr val="CF283B"/>
          </a:solidFill>
          <a:ln>
            <a:noFill/>
          </a:ln>
          <a:effectLst/>
        </p:spPr>
        <p:txBody>
          <a:bodyPr rtlCol="0" anchor="ctr"/>
          <a:lstStyle/>
          <a:p>
            <a:pPr algn="ctr"/>
          </a:p>
        </p:txBody>
      </p:sp>
      <p:cxnSp>
        <p:nvCxnSpPr>
          <p:cNvPr id="10" name="Connector 9"/>
          <p:cNvCxnSpPr/>
          <p:nvPr/>
        </p:nvCxnSpPr>
        <p:spPr>
          <a:xfrm>
            <a:off x="704088" y="5870448"/>
            <a:ext cx="10762488" cy="0"/>
          </a:xfrm>
          <a:prstGeom prst="line">
            <a:avLst/>
          </a:prstGeom>
          <a:ln w="19050">
            <a:solidFill>
              <a:srgbClr val="687F7D"/>
            </a:solidFill>
          </a:ln>
          <a:effectLst/>
        </p:spPr>
      </p:cxnSp>
      <p:sp>
        <p:nvSpPr>
          <p:cNvPr id="11" name="TextBox 10"/>
          <p:cNvSpPr txBox="1"/>
          <p:nvPr/>
        </p:nvSpPr>
        <p:spPr>
          <a:xfrm>
            <a:off x="713232" y="6135624"/>
            <a:ext cx="6400800" cy="39319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FFFFFF"/>
                </a:solidFill>
                <a:latin typeface="Noto Sans CJK KR"/>
                <a:ea typeface="Noto Sans CJK KR"/>
              </a:defRPr>
            </a:pPr>
            <a:r>
              <a:rPr>
                <a:ea typeface="Noto Sans CJK KR"/>
              </a:rPr>
              <a:t>WEEK 03 · 투자 입문 스터디</a:t>
            </a:r>
          </a:p>
        </p:txBody>
      </p:sp>
      <p:sp>
        <p:nvSpPr>
          <p:cNvPr id="12" name="TextBox 11"/>
          <p:cNvSpPr txBox="1"/>
          <p:nvPr/>
        </p:nvSpPr>
        <p:spPr>
          <a:xfrm>
            <a:off x="7726679" y="6144768"/>
            <a:ext cx="3749039" cy="393192"/>
          </a:xfrm>
          <a:prstGeom prst="rect">
            <a:avLst/>
          </a:prstGeom>
          <a:noFill/>
        </p:spPr>
        <p:txBody>
          <a:bodyPr wrap="none" anchor="t" anchorCtr="0" lIns="0" rIns="0" tIns="0" bIns="0">
            <a:noAutofit/>
          </a:bodyPr>
          <a:lstStyle/>
          <a:p>
            <a:pPr algn="r">
              <a:lnSpc>
                <a:spcPct val="116000"/>
              </a:lnSpc>
              <a:spcBef>
                <a:spcPts val="0"/>
              </a:spcBef>
              <a:spcAft>
                <a:spcPts val="0"/>
              </a:spcAft>
              <a:defRPr sz="1500" b="0">
                <a:solidFill>
                  <a:srgbClr val="D4DEDA"/>
                </a:solidFill>
                <a:latin typeface="Noto Sans CJK KR"/>
                <a:ea typeface="Noto Sans CJK KR"/>
              </a:defRPr>
            </a:pPr>
            <a:r>
              <a:rPr>
                <a:ea typeface="Noto Sans CJK KR"/>
              </a:rPr>
              <a:t>개념 → 자료 → 계산 → 해석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03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CF283B"/>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공시의 숫자를 옮기기 전에 비교 기준을 맞춥니다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원문 링크 · 표 제목 · 기간 · 단위 · 연결 여부를 숫자 옆에 기록합니다.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02</a:t>
            </a:r>
          </a:p>
        </p:txBody>
      </p:sp>
      <p:sp>
        <p:nvSpPr>
          <p:cNvPr id="19" name="TextBox 18"/>
          <p:cNvSpPr txBox="1"/>
          <p:nvPr/>
        </p:nvSpPr>
        <p:spPr>
          <a:xfrm>
            <a:off x="594360"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01</a:t>
            </a:r>
          </a:p>
        </p:txBody>
      </p:sp>
      <p:cxnSp>
        <p:nvCxnSpPr>
          <p:cNvPr id="20" name="Connector 19"/>
          <p:cNvCxnSpPr/>
          <p:nvPr/>
        </p:nvCxnSpPr>
        <p:spPr>
          <a:xfrm>
            <a:off x="594360" y="2926080"/>
            <a:ext cx="3407664" cy="0"/>
          </a:xfrm>
          <a:prstGeom prst="line">
            <a:avLst/>
          </a:prstGeom>
          <a:ln w="25400">
            <a:solidFill>
              <a:srgbClr val="D8DEDA"/>
            </a:solidFill>
          </a:ln>
          <a:effectLst/>
        </p:spPr>
      </p:cxnSp>
      <p:sp>
        <p:nvSpPr>
          <p:cNvPr id="21" name="TextBox 20"/>
          <p:cNvSpPr txBox="1"/>
          <p:nvPr/>
        </p:nvSpPr>
        <p:spPr>
          <a:xfrm>
            <a:off x="594360"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DART 검색</a:t>
            </a:r>
          </a:p>
        </p:txBody>
      </p:sp>
      <p:sp>
        <p:nvSpPr>
          <p:cNvPr id="22" name="TextBox 21"/>
          <p:cNvSpPr txBox="1"/>
          <p:nvPr/>
        </p:nvSpPr>
        <p:spPr>
          <a:xfrm>
            <a:off x="594360"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사업보고서</a:t>
            </a:r>
          </a:p>
        </p:txBody>
      </p:sp>
      <p:sp>
        <p:nvSpPr>
          <p:cNvPr id="23" name="TextBox 22"/>
          <p:cNvSpPr txBox="1"/>
          <p:nvPr/>
        </p:nvSpPr>
        <p:spPr>
          <a:xfrm>
            <a:off x="594360"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기업 · 사업연도 · 정정 여부</a:t>
            </a:r>
          </a:p>
        </p:txBody>
      </p:sp>
      <p:sp>
        <p:nvSpPr>
          <p:cNvPr id="24" name="TextBox 23"/>
          <p:cNvSpPr txBox="1"/>
          <p:nvPr/>
        </p:nvSpPr>
        <p:spPr>
          <a:xfrm>
            <a:off x="4002024"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25" name="TextBox 24"/>
          <p:cNvSpPr txBox="1"/>
          <p:nvPr/>
        </p:nvSpPr>
        <p:spPr>
          <a:xfrm>
            <a:off x="4386072"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02</a:t>
            </a:r>
          </a:p>
        </p:txBody>
      </p:sp>
      <p:cxnSp>
        <p:nvCxnSpPr>
          <p:cNvPr id="26" name="Connector 25"/>
          <p:cNvCxnSpPr/>
          <p:nvPr/>
        </p:nvCxnSpPr>
        <p:spPr>
          <a:xfrm>
            <a:off x="4386072" y="2926080"/>
            <a:ext cx="3407664" cy="0"/>
          </a:xfrm>
          <a:prstGeom prst="line">
            <a:avLst/>
          </a:prstGeom>
          <a:ln w="25400">
            <a:solidFill>
              <a:srgbClr val="D8DEDA"/>
            </a:solidFill>
          </a:ln>
          <a:effectLst/>
        </p:spPr>
      </p:cxnSp>
      <p:sp>
        <p:nvSpPr>
          <p:cNvPr id="27" name="TextBox 26"/>
          <p:cNvSpPr txBox="1"/>
          <p:nvPr/>
        </p:nvSpPr>
        <p:spPr>
          <a:xfrm>
            <a:off x="4386072"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사업의 내용</a:t>
            </a:r>
          </a:p>
        </p:txBody>
      </p:sp>
      <p:sp>
        <p:nvSpPr>
          <p:cNvPr id="28" name="TextBox 27"/>
          <p:cNvSpPr txBox="1"/>
          <p:nvPr/>
        </p:nvSpPr>
        <p:spPr>
          <a:xfrm>
            <a:off x="4386072"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무엇을 파는가</a:t>
            </a:r>
          </a:p>
        </p:txBody>
      </p:sp>
      <p:sp>
        <p:nvSpPr>
          <p:cNvPr id="29" name="TextBox 28"/>
          <p:cNvSpPr txBox="1"/>
          <p:nvPr/>
        </p:nvSpPr>
        <p:spPr>
          <a:xfrm>
            <a:off x="4386072"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제품 · 매출 · 수주 설명</a:t>
            </a:r>
          </a:p>
        </p:txBody>
      </p:sp>
      <p:sp>
        <p:nvSpPr>
          <p:cNvPr id="30" name="TextBox 29"/>
          <p:cNvSpPr txBox="1"/>
          <p:nvPr/>
        </p:nvSpPr>
        <p:spPr>
          <a:xfrm>
            <a:off x="7793736"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31" name="TextBox 30"/>
          <p:cNvSpPr txBox="1"/>
          <p:nvPr/>
        </p:nvSpPr>
        <p:spPr>
          <a:xfrm>
            <a:off x="8177784"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03</a:t>
            </a:r>
          </a:p>
        </p:txBody>
      </p:sp>
      <p:cxnSp>
        <p:nvCxnSpPr>
          <p:cNvPr id="32" name="Connector 31"/>
          <p:cNvCxnSpPr/>
          <p:nvPr/>
        </p:nvCxnSpPr>
        <p:spPr>
          <a:xfrm>
            <a:off x="8177784" y="2926080"/>
            <a:ext cx="3407664" cy="0"/>
          </a:xfrm>
          <a:prstGeom prst="line">
            <a:avLst/>
          </a:prstGeom>
          <a:ln w="25400">
            <a:solidFill>
              <a:srgbClr val="D8DEDA"/>
            </a:solidFill>
          </a:ln>
          <a:effectLst/>
        </p:spPr>
      </p:cxnSp>
      <p:sp>
        <p:nvSpPr>
          <p:cNvPr id="33" name="TextBox 32"/>
          <p:cNvSpPr txBox="1"/>
          <p:nvPr/>
        </p:nvSpPr>
        <p:spPr>
          <a:xfrm>
            <a:off x="8177784"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재무에 관한 사항</a:t>
            </a:r>
          </a:p>
        </p:txBody>
      </p:sp>
      <p:sp>
        <p:nvSpPr>
          <p:cNvPr id="34" name="TextBox 33"/>
          <p:cNvSpPr txBox="1"/>
          <p:nvPr/>
        </p:nvSpPr>
        <p:spPr>
          <a:xfrm>
            <a:off x="8177784"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얼마를 남기는가</a:t>
            </a:r>
          </a:p>
        </p:txBody>
      </p:sp>
      <p:sp>
        <p:nvSpPr>
          <p:cNvPr id="35" name="TextBox 34"/>
          <p:cNvSpPr txBox="1"/>
          <p:nvPr/>
        </p:nvSpPr>
        <p:spPr>
          <a:xfrm>
            <a:off x="8177784"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재무제표 · 관련 주석</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03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CF283B"/>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한빛식품의 같은 기준 자료를 나란히 놓습니다</a:t>
            </a:r>
          </a:p>
        </p:txBody>
      </p:sp>
      <p:sp>
        <p:nvSpPr>
          <p:cNvPr id="13" name="TextBox 12"/>
          <p:cNvSpPr txBox="1"/>
          <p:nvPr/>
        </p:nvSpPr>
        <p:spPr>
          <a:xfrm>
            <a:off x="612648" y="1810512"/>
            <a:ext cx="109728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연간·연결 기준의 가상 자료. 다른 영업 비용은 없습니다.</a:t>
            </a:r>
          </a:p>
        </p:txBody>
      </p:sp>
      <p:sp>
        <p:nvSpPr>
          <p:cNvPr id="14" name="Rectangle 13"/>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5" name="TextBox 14"/>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백만 원 단위 12,000은 120억 원입니다. 단위부터 검산합니다.</a:t>
            </a:r>
          </a:p>
        </p:txBody>
      </p:sp>
      <p:cxnSp>
        <p:nvCxnSpPr>
          <p:cNvPr id="16" name="Connector 15"/>
          <p:cNvCxnSpPr/>
          <p:nvPr/>
        </p:nvCxnSpPr>
        <p:spPr>
          <a:xfrm>
            <a:off x="594360" y="6455664"/>
            <a:ext cx="11000232" cy="0"/>
          </a:xfrm>
          <a:prstGeom prst="line">
            <a:avLst/>
          </a:prstGeom>
          <a:ln w="19050">
            <a:solidFill>
              <a:srgbClr val="D8DEDA"/>
            </a:solidFill>
          </a:ln>
          <a:effectLst/>
        </p:spPr>
      </p:cxnSp>
      <p:sp>
        <p:nvSpPr>
          <p:cNvPr id="17" name="TextBox 16"/>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8" name="TextBox 17"/>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9" name="TextBox 18"/>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03</a:t>
            </a:r>
          </a:p>
        </p:txBody>
      </p:sp>
      <p:sp>
        <p:nvSpPr>
          <p:cNvPr id="20" name="Rectangle 19"/>
          <p:cNvSpPr/>
          <p:nvPr/>
        </p:nvSpPr>
        <p:spPr>
          <a:xfrm>
            <a:off x="594360" y="2423160"/>
            <a:ext cx="10991088" cy="512064"/>
          </a:xfrm>
          <a:prstGeom prst="rect">
            <a:avLst/>
          </a:prstGeom>
          <a:solidFill>
            <a:srgbClr val="19282C"/>
          </a:solidFill>
          <a:ln>
            <a:noFill/>
          </a:ln>
          <a:effectLst/>
        </p:spPr>
        <p:txBody>
          <a:bodyPr rtlCol="0" anchor="ctr"/>
          <a:lstStyle/>
          <a:p>
            <a:pPr algn="ctr"/>
          </a:p>
        </p:txBody>
      </p:sp>
      <p:sp>
        <p:nvSpPr>
          <p:cNvPr id="21" name="TextBox 20"/>
          <p:cNvSpPr txBox="1"/>
          <p:nvPr/>
        </p:nvSpPr>
        <p:spPr>
          <a:xfrm>
            <a:off x="740664" y="2532888"/>
            <a:ext cx="4297679"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단위: 억 원</a:t>
            </a:r>
          </a:p>
        </p:txBody>
      </p:sp>
      <p:sp>
        <p:nvSpPr>
          <p:cNvPr id="22" name="TextBox 21"/>
          <p:cNvSpPr txBox="1"/>
          <p:nvPr/>
        </p:nvSpPr>
        <p:spPr>
          <a:xfrm>
            <a:off x="5330952" y="2532888"/>
            <a:ext cx="290779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2024년</a:t>
            </a:r>
          </a:p>
        </p:txBody>
      </p:sp>
      <p:sp>
        <p:nvSpPr>
          <p:cNvPr id="23" name="TextBox 22"/>
          <p:cNvSpPr txBox="1"/>
          <p:nvPr/>
        </p:nvSpPr>
        <p:spPr>
          <a:xfrm>
            <a:off x="8531352" y="2532888"/>
            <a:ext cx="290779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2025년</a:t>
            </a:r>
          </a:p>
        </p:txBody>
      </p:sp>
      <p:sp>
        <p:nvSpPr>
          <p:cNvPr id="24" name="Rectangle 23"/>
          <p:cNvSpPr/>
          <p:nvPr/>
        </p:nvSpPr>
        <p:spPr>
          <a:xfrm>
            <a:off x="594360" y="2935224"/>
            <a:ext cx="10991088" cy="707110"/>
          </a:xfrm>
          <a:prstGeom prst="rect">
            <a:avLst/>
          </a:prstGeom>
          <a:solidFill>
            <a:srgbClr val="FFFFFF"/>
          </a:solidFill>
          <a:ln>
            <a:noFill/>
          </a:ln>
          <a:effectLst/>
        </p:spPr>
        <p:txBody>
          <a:bodyPr rtlCol="0" anchor="ctr"/>
          <a:lstStyle/>
          <a:p>
            <a:pPr algn="ctr"/>
          </a:p>
        </p:txBody>
      </p:sp>
      <p:sp>
        <p:nvSpPr>
          <p:cNvPr id="25" name="TextBox 24"/>
          <p:cNvSpPr txBox="1"/>
          <p:nvPr/>
        </p:nvSpPr>
        <p:spPr>
          <a:xfrm>
            <a:off x="740664" y="3063240"/>
            <a:ext cx="4297679"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매출</a:t>
            </a:r>
          </a:p>
        </p:txBody>
      </p:sp>
      <p:sp>
        <p:nvSpPr>
          <p:cNvPr id="26" name="TextBox 25"/>
          <p:cNvSpPr txBox="1"/>
          <p:nvPr/>
        </p:nvSpPr>
        <p:spPr>
          <a:xfrm>
            <a:off x="5330952" y="3063240"/>
            <a:ext cx="290779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100</a:t>
            </a:r>
          </a:p>
        </p:txBody>
      </p:sp>
      <p:sp>
        <p:nvSpPr>
          <p:cNvPr id="27" name="TextBox 26"/>
          <p:cNvSpPr txBox="1"/>
          <p:nvPr/>
        </p:nvSpPr>
        <p:spPr>
          <a:xfrm>
            <a:off x="8531352" y="3063240"/>
            <a:ext cx="290779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120</a:t>
            </a:r>
          </a:p>
        </p:txBody>
      </p:sp>
      <p:sp>
        <p:nvSpPr>
          <p:cNvPr id="28" name="Rectangle 27"/>
          <p:cNvSpPr/>
          <p:nvPr/>
        </p:nvSpPr>
        <p:spPr>
          <a:xfrm>
            <a:off x="594360" y="3642334"/>
            <a:ext cx="10991088" cy="707110"/>
          </a:xfrm>
          <a:prstGeom prst="rect">
            <a:avLst/>
          </a:prstGeom>
          <a:solidFill>
            <a:srgbClr val="E8EDE8"/>
          </a:solidFill>
          <a:ln>
            <a:noFill/>
          </a:ln>
          <a:effectLst/>
        </p:spPr>
        <p:txBody>
          <a:bodyPr rtlCol="0" anchor="ctr"/>
          <a:lstStyle/>
          <a:p>
            <a:pPr algn="ctr"/>
          </a:p>
        </p:txBody>
      </p:sp>
      <p:sp>
        <p:nvSpPr>
          <p:cNvPr id="29" name="TextBox 28"/>
          <p:cNvSpPr txBox="1"/>
          <p:nvPr/>
        </p:nvSpPr>
        <p:spPr>
          <a:xfrm>
            <a:off x="740664" y="3770350"/>
            <a:ext cx="4297679"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매출원가</a:t>
            </a:r>
          </a:p>
        </p:txBody>
      </p:sp>
      <p:sp>
        <p:nvSpPr>
          <p:cNvPr id="30" name="TextBox 29"/>
          <p:cNvSpPr txBox="1"/>
          <p:nvPr/>
        </p:nvSpPr>
        <p:spPr>
          <a:xfrm>
            <a:off x="5330952" y="3770350"/>
            <a:ext cx="290779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60</a:t>
            </a:r>
          </a:p>
        </p:txBody>
      </p:sp>
      <p:sp>
        <p:nvSpPr>
          <p:cNvPr id="31" name="TextBox 30"/>
          <p:cNvSpPr txBox="1"/>
          <p:nvPr/>
        </p:nvSpPr>
        <p:spPr>
          <a:xfrm>
            <a:off x="8531352" y="3770350"/>
            <a:ext cx="290779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78</a:t>
            </a:r>
          </a:p>
        </p:txBody>
      </p:sp>
      <p:sp>
        <p:nvSpPr>
          <p:cNvPr id="32" name="Rectangle 31"/>
          <p:cNvSpPr/>
          <p:nvPr/>
        </p:nvSpPr>
        <p:spPr>
          <a:xfrm>
            <a:off x="594360" y="4349444"/>
            <a:ext cx="10991088" cy="707110"/>
          </a:xfrm>
          <a:prstGeom prst="rect">
            <a:avLst/>
          </a:prstGeom>
          <a:solidFill>
            <a:srgbClr val="FFFFFF"/>
          </a:solidFill>
          <a:ln>
            <a:noFill/>
          </a:ln>
          <a:effectLst/>
        </p:spPr>
        <p:txBody>
          <a:bodyPr rtlCol="0" anchor="ctr"/>
          <a:lstStyle/>
          <a:p>
            <a:pPr algn="ctr"/>
          </a:p>
        </p:txBody>
      </p:sp>
      <p:sp>
        <p:nvSpPr>
          <p:cNvPr id="33" name="TextBox 32"/>
          <p:cNvSpPr txBox="1"/>
          <p:nvPr/>
        </p:nvSpPr>
        <p:spPr>
          <a:xfrm>
            <a:off x="740664" y="4477460"/>
            <a:ext cx="4297679"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판매비와 관리비</a:t>
            </a:r>
          </a:p>
        </p:txBody>
      </p:sp>
      <p:sp>
        <p:nvSpPr>
          <p:cNvPr id="34" name="TextBox 33"/>
          <p:cNvSpPr txBox="1"/>
          <p:nvPr/>
        </p:nvSpPr>
        <p:spPr>
          <a:xfrm>
            <a:off x="5330952" y="4477460"/>
            <a:ext cx="290779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25</a:t>
            </a:r>
          </a:p>
        </p:txBody>
      </p:sp>
      <p:sp>
        <p:nvSpPr>
          <p:cNvPr id="35" name="TextBox 34"/>
          <p:cNvSpPr txBox="1"/>
          <p:nvPr/>
        </p:nvSpPr>
        <p:spPr>
          <a:xfrm>
            <a:off x="8531352" y="4477460"/>
            <a:ext cx="290779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30</a:t>
            </a:r>
          </a:p>
        </p:txBody>
      </p:sp>
      <p:sp>
        <p:nvSpPr>
          <p:cNvPr id="36" name="Rectangle 35"/>
          <p:cNvSpPr/>
          <p:nvPr/>
        </p:nvSpPr>
        <p:spPr>
          <a:xfrm>
            <a:off x="594360" y="5056554"/>
            <a:ext cx="10991088" cy="707110"/>
          </a:xfrm>
          <a:prstGeom prst="rect">
            <a:avLst/>
          </a:prstGeom>
          <a:solidFill>
            <a:srgbClr val="FBE9E7"/>
          </a:solidFill>
          <a:ln>
            <a:noFill/>
          </a:ln>
          <a:effectLst/>
        </p:spPr>
        <p:txBody>
          <a:bodyPr rtlCol="0" anchor="ctr"/>
          <a:lstStyle/>
          <a:p>
            <a:pPr algn="ctr"/>
          </a:p>
        </p:txBody>
      </p:sp>
      <p:sp>
        <p:nvSpPr>
          <p:cNvPr id="37" name="TextBox 36"/>
          <p:cNvSpPr txBox="1"/>
          <p:nvPr/>
        </p:nvSpPr>
        <p:spPr>
          <a:xfrm>
            <a:off x="740664" y="5184570"/>
            <a:ext cx="4297679"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CF283B"/>
                </a:solidFill>
                <a:latin typeface="Noto Sans CJK KR"/>
                <a:ea typeface="Noto Sans CJK KR"/>
              </a:defRPr>
            </a:pPr>
            <a:r>
              <a:rPr>
                <a:ea typeface="Noto Sans CJK KR"/>
              </a:rPr>
              <a:t>영업이익</a:t>
            </a:r>
          </a:p>
        </p:txBody>
      </p:sp>
      <p:sp>
        <p:nvSpPr>
          <p:cNvPr id="38" name="TextBox 37"/>
          <p:cNvSpPr txBox="1"/>
          <p:nvPr/>
        </p:nvSpPr>
        <p:spPr>
          <a:xfrm>
            <a:off x="5330952" y="5184570"/>
            <a:ext cx="290779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CF283B"/>
                </a:solidFill>
                <a:latin typeface="Noto Sans CJK KR"/>
                <a:ea typeface="Noto Sans CJK KR"/>
              </a:defRPr>
            </a:pPr>
            <a:r>
              <a:rPr>
                <a:ea typeface="Noto Sans CJK KR"/>
              </a:rPr>
              <a:t>15</a:t>
            </a:r>
          </a:p>
        </p:txBody>
      </p:sp>
      <p:sp>
        <p:nvSpPr>
          <p:cNvPr id="39" name="TextBox 38"/>
          <p:cNvSpPr txBox="1"/>
          <p:nvPr/>
        </p:nvSpPr>
        <p:spPr>
          <a:xfrm>
            <a:off x="8531352" y="5184570"/>
            <a:ext cx="290779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CF283B"/>
                </a:solidFill>
                <a:latin typeface="Noto Sans CJK KR"/>
                <a:ea typeface="Noto Sans CJK KR"/>
              </a:defRPr>
            </a:pPr>
            <a:r>
              <a:rPr>
                <a:ea typeface="Noto Sans CJK KR"/>
              </a:rPr>
              <a:t>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03 / READ THE NUMBERS</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CF283B"/>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매출이 20억 늘어도 이익은 3억 줄 수 있습니다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15 + 20 − 18 − 5 = 12억 원. 비용 증가가 매출 증가분을 넘어섰습니다.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04</a:t>
            </a:r>
          </a:p>
        </p:txBody>
      </p:sp>
      <p:cxnSp>
        <p:nvCxnSpPr>
          <p:cNvPr id="19" name="Connector 18"/>
          <p:cNvCxnSpPr/>
          <p:nvPr/>
        </p:nvCxnSpPr>
        <p:spPr>
          <a:xfrm>
            <a:off x="777240" y="5184648"/>
            <a:ext cx="10652760" cy="0"/>
          </a:xfrm>
          <a:prstGeom prst="line">
            <a:avLst/>
          </a:prstGeom>
          <a:ln w="19050">
            <a:solidFill>
              <a:srgbClr val="D8DEDA"/>
            </a:solidFill>
          </a:ln>
          <a:effectLst/>
        </p:spPr>
      </p:cxnSp>
      <p:sp>
        <p:nvSpPr>
          <p:cNvPr id="20" name="Rectangle 19"/>
          <p:cNvSpPr/>
          <p:nvPr/>
        </p:nvSpPr>
        <p:spPr>
          <a:xfrm>
            <a:off x="914400" y="4476239"/>
            <a:ext cx="1235903" cy="708408"/>
          </a:xfrm>
          <a:prstGeom prst="rect">
            <a:avLst/>
          </a:prstGeom>
          <a:solidFill>
            <a:srgbClr val="19282C"/>
          </a:solidFill>
          <a:ln>
            <a:noFill/>
          </a:ln>
          <a:effectLst/>
        </p:spPr>
        <p:txBody>
          <a:bodyPr rtlCol="0" anchor="ctr"/>
          <a:lstStyle/>
          <a:p>
            <a:pPr algn="ctr"/>
          </a:p>
        </p:txBody>
      </p:sp>
      <p:sp>
        <p:nvSpPr>
          <p:cNvPr id="21" name="TextBox 20"/>
          <p:cNvSpPr txBox="1"/>
          <p:nvPr/>
        </p:nvSpPr>
        <p:spPr>
          <a:xfrm>
            <a:off x="822960" y="4028183"/>
            <a:ext cx="163458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19282C"/>
                </a:solidFill>
                <a:latin typeface="Noto Sans CJK KR"/>
                <a:ea typeface="Noto Sans CJK KR"/>
              </a:defRPr>
            </a:pPr>
            <a:r>
              <a:rPr>
                <a:ea typeface="Noto Sans CJK KR"/>
              </a:rPr>
              <a:t>15</a:t>
            </a:r>
          </a:p>
        </p:txBody>
      </p:sp>
      <p:sp>
        <p:nvSpPr>
          <p:cNvPr id="22" name="TextBox 21"/>
          <p:cNvSpPr txBox="1"/>
          <p:nvPr/>
        </p:nvSpPr>
        <p:spPr>
          <a:xfrm>
            <a:off x="740664" y="5431536"/>
            <a:ext cx="189372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전년 영업이익</a:t>
            </a:r>
          </a:p>
        </p:txBody>
      </p:sp>
      <p:cxnSp>
        <p:nvCxnSpPr>
          <p:cNvPr id="23" name="Connector 22"/>
          <p:cNvCxnSpPr/>
          <p:nvPr/>
        </p:nvCxnSpPr>
        <p:spPr>
          <a:xfrm>
            <a:off x="2150303" y="4476239"/>
            <a:ext cx="757489" cy="0"/>
          </a:xfrm>
          <a:prstGeom prst="line">
            <a:avLst/>
          </a:prstGeom>
          <a:ln w="12700">
            <a:solidFill>
              <a:srgbClr val="D8DEDA"/>
            </a:solidFill>
          </a:ln>
          <a:effectLst/>
        </p:spPr>
      </p:cxnSp>
      <p:sp>
        <p:nvSpPr>
          <p:cNvPr id="24" name="Rectangle 23"/>
          <p:cNvSpPr/>
          <p:nvPr/>
        </p:nvSpPr>
        <p:spPr>
          <a:xfrm>
            <a:off x="2907792" y="3531694"/>
            <a:ext cx="1235903" cy="944545"/>
          </a:xfrm>
          <a:prstGeom prst="rect">
            <a:avLst/>
          </a:prstGeom>
          <a:solidFill>
            <a:srgbClr val="167964"/>
          </a:solidFill>
          <a:ln>
            <a:noFill/>
          </a:ln>
          <a:effectLst/>
        </p:spPr>
        <p:txBody>
          <a:bodyPr rtlCol="0" anchor="ctr"/>
          <a:lstStyle/>
          <a:p>
            <a:pPr algn="ctr"/>
          </a:p>
        </p:txBody>
      </p:sp>
      <p:sp>
        <p:nvSpPr>
          <p:cNvPr id="25" name="TextBox 24"/>
          <p:cNvSpPr txBox="1"/>
          <p:nvPr/>
        </p:nvSpPr>
        <p:spPr>
          <a:xfrm>
            <a:off x="2816352" y="3083638"/>
            <a:ext cx="163458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167964"/>
                </a:solidFill>
                <a:latin typeface="Noto Sans CJK KR"/>
                <a:ea typeface="Noto Sans CJK KR"/>
              </a:defRPr>
            </a:pPr>
            <a:r>
              <a:rPr>
                <a:ea typeface="Noto Sans CJK KR"/>
              </a:rPr>
              <a:t>+20</a:t>
            </a:r>
          </a:p>
        </p:txBody>
      </p:sp>
      <p:sp>
        <p:nvSpPr>
          <p:cNvPr id="26" name="TextBox 25"/>
          <p:cNvSpPr txBox="1"/>
          <p:nvPr/>
        </p:nvSpPr>
        <p:spPr>
          <a:xfrm>
            <a:off x="2734056" y="5431536"/>
            <a:ext cx="189372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매출 증가</a:t>
            </a:r>
          </a:p>
        </p:txBody>
      </p:sp>
      <p:cxnSp>
        <p:nvCxnSpPr>
          <p:cNvPr id="27" name="Connector 26"/>
          <p:cNvCxnSpPr/>
          <p:nvPr/>
        </p:nvCxnSpPr>
        <p:spPr>
          <a:xfrm>
            <a:off x="4143695" y="3531694"/>
            <a:ext cx="757489" cy="0"/>
          </a:xfrm>
          <a:prstGeom prst="line">
            <a:avLst/>
          </a:prstGeom>
          <a:ln w="12700">
            <a:solidFill>
              <a:srgbClr val="D8DEDA"/>
            </a:solidFill>
          </a:ln>
          <a:effectLst/>
        </p:spPr>
      </p:cxnSp>
      <p:sp>
        <p:nvSpPr>
          <p:cNvPr id="28" name="Rectangle 27"/>
          <p:cNvSpPr/>
          <p:nvPr/>
        </p:nvSpPr>
        <p:spPr>
          <a:xfrm>
            <a:off x="4901184" y="3531694"/>
            <a:ext cx="1235903" cy="850090"/>
          </a:xfrm>
          <a:prstGeom prst="rect">
            <a:avLst/>
          </a:prstGeom>
          <a:solidFill>
            <a:srgbClr val="3667A1"/>
          </a:solidFill>
          <a:ln>
            <a:noFill/>
          </a:ln>
          <a:effectLst/>
        </p:spPr>
        <p:txBody>
          <a:bodyPr rtlCol="0" anchor="ctr"/>
          <a:lstStyle/>
          <a:p>
            <a:pPr algn="ctr"/>
          </a:p>
        </p:txBody>
      </p:sp>
      <p:sp>
        <p:nvSpPr>
          <p:cNvPr id="29" name="TextBox 28"/>
          <p:cNvSpPr txBox="1"/>
          <p:nvPr/>
        </p:nvSpPr>
        <p:spPr>
          <a:xfrm>
            <a:off x="4809744" y="3083638"/>
            <a:ext cx="163458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3667A1"/>
                </a:solidFill>
                <a:latin typeface="Noto Sans CJK KR"/>
                <a:ea typeface="Noto Sans CJK KR"/>
              </a:defRPr>
            </a:pPr>
            <a:r>
              <a:rPr>
                <a:ea typeface="Noto Sans CJK KR"/>
              </a:rPr>
              <a:t>-18</a:t>
            </a:r>
          </a:p>
        </p:txBody>
      </p:sp>
      <p:sp>
        <p:nvSpPr>
          <p:cNvPr id="30" name="TextBox 29"/>
          <p:cNvSpPr txBox="1"/>
          <p:nvPr/>
        </p:nvSpPr>
        <p:spPr>
          <a:xfrm>
            <a:off x="4727448" y="5431536"/>
            <a:ext cx="189372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원가 증가</a:t>
            </a:r>
          </a:p>
        </p:txBody>
      </p:sp>
      <p:cxnSp>
        <p:nvCxnSpPr>
          <p:cNvPr id="31" name="Connector 30"/>
          <p:cNvCxnSpPr/>
          <p:nvPr/>
        </p:nvCxnSpPr>
        <p:spPr>
          <a:xfrm>
            <a:off x="6137087" y="4381784"/>
            <a:ext cx="757489" cy="0"/>
          </a:xfrm>
          <a:prstGeom prst="line">
            <a:avLst/>
          </a:prstGeom>
          <a:ln w="12700">
            <a:solidFill>
              <a:srgbClr val="D8DEDA"/>
            </a:solidFill>
          </a:ln>
          <a:effectLst/>
        </p:spPr>
      </p:cxnSp>
      <p:sp>
        <p:nvSpPr>
          <p:cNvPr id="32" name="Rectangle 31"/>
          <p:cNvSpPr/>
          <p:nvPr/>
        </p:nvSpPr>
        <p:spPr>
          <a:xfrm>
            <a:off x="6894576" y="4381784"/>
            <a:ext cx="1235903" cy="236136"/>
          </a:xfrm>
          <a:prstGeom prst="rect">
            <a:avLst/>
          </a:prstGeom>
          <a:solidFill>
            <a:srgbClr val="3667A1"/>
          </a:solidFill>
          <a:ln>
            <a:noFill/>
          </a:ln>
          <a:effectLst/>
        </p:spPr>
        <p:txBody>
          <a:bodyPr rtlCol="0" anchor="ctr"/>
          <a:lstStyle/>
          <a:p>
            <a:pPr algn="ctr"/>
          </a:p>
        </p:txBody>
      </p:sp>
      <p:sp>
        <p:nvSpPr>
          <p:cNvPr id="33" name="TextBox 32"/>
          <p:cNvSpPr txBox="1"/>
          <p:nvPr/>
        </p:nvSpPr>
        <p:spPr>
          <a:xfrm>
            <a:off x="6803136" y="3933728"/>
            <a:ext cx="163458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3667A1"/>
                </a:solidFill>
                <a:latin typeface="Noto Sans CJK KR"/>
                <a:ea typeface="Noto Sans CJK KR"/>
              </a:defRPr>
            </a:pPr>
            <a:r>
              <a:rPr>
                <a:ea typeface="Noto Sans CJK KR"/>
              </a:rPr>
              <a:t>-5</a:t>
            </a:r>
          </a:p>
        </p:txBody>
      </p:sp>
      <p:sp>
        <p:nvSpPr>
          <p:cNvPr id="34" name="TextBox 33"/>
          <p:cNvSpPr txBox="1"/>
          <p:nvPr/>
        </p:nvSpPr>
        <p:spPr>
          <a:xfrm>
            <a:off x="6720840" y="5431536"/>
            <a:ext cx="189372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판관비 증가</a:t>
            </a:r>
          </a:p>
        </p:txBody>
      </p:sp>
      <p:sp>
        <p:nvSpPr>
          <p:cNvPr id="35" name="Rectangle 34"/>
          <p:cNvSpPr/>
          <p:nvPr/>
        </p:nvSpPr>
        <p:spPr>
          <a:xfrm>
            <a:off x="8887968" y="4617920"/>
            <a:ext cx="1235903" cy="566727"/>
          </a:xfrm>
          <a:prstGeom prst="rect">
            <a:avLst/>
          </a:prstGeom>
          <a:solidFill>
            <a:srgbClr val="19282C"/>
          </a:solidFill>
          <a:ln>
            <a:noFill/>
          </a:ln>
          <a:effectLst/>
        </p:spPr>
        <p:txBody>
          <a:bodyPr rtlCol="0" anchor="ctr"/>
          <a:lstStyle/>
          <a:p>
            <a:pPr algn="ctr"/>
          </a:p>
        </p:txBody>
      </p:sp>
      <p:sp>
        <p:nvSpPr>
          <p:cNvPr id="36" name="TextBox 35"/>
          <p:cNvSpPr txBox="1"/>
          <p:nvPr/>
        </p:nvSpPr>
        <p:spPr>
          <a:xfrm>
            <a:off x="8796528" y="4169864"/>
            <a:ext cx="163458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19282C"/>
                </a:solidFill>
                <a:latin typeface="Noto Sans CJK KR"/>
                <a:ea typeface="Noto Sans CJK KR"/>
              </a:defRPr>
            </a:pPr>
            <a:r>
              <a:rPr>
                <a:ea typeface="Noto Sans CJK KR"/>
              </a:rPr>
              <a:t>12</a:t>
            </a:r>
          </a:p>
        </p:txBody>
      </p:sp>
      <p:sp>
        <p:nvSpPr>
          <p:cNvPr id="37" name="TextBox 36"/>
          <p:cNvSpPr txBox="1"/>
          <p:nvPr/>
        </p:nvSpPr>
        <p:spPr>
          <a:xfrm>
            <a:off x="8714232" y="5431536"/>
            <a:ext cx="189372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올해 영업이익</a:t>
            </a:r>
          </a:p>
        </p:txBody>
      </p:sp>
      <p:sp>
        <p:nvSpPr>
          <p:cNvPr id="38" name="TextBox 37"/>
          <p:cNvSpPr txBox="1"/>
          <p:nvPr/>
        </p:nvSpPr>
        <p:spPr>
          <a:xfrm>
            <a:off x="640080" y="2423160"/>
            <a:ext cx="3657600" cy="320040"/>
          </a:xfrm>
          <a:prstGeom prst="rect">
            <a:avLst/>
          </a:prstGeom>
          <a:noFill/>
        </p:spPr>
        <p:txBody>
          <a:bodyPr wrap="none" anchor="t" anchorCtr="0" lIns="0" rIns="0" tIns="0" bIns="0">
            <a:noAutofit/>
          </a:bodyPr>
          <a:lstStyle/>
          <a:p>
            <a:pPr algn="l">
              <a:lnSpc>
                <a:spcPct val="116000"/>
              </a:lnSpc>
              <a:spcBef>
                <a:spcPts val="0"/>
              </a:spcBef>
              <a:spcAft>
                <a:spcPts val="0"/>
              </a:spcAft>
              <a:defRPr sz="1300" b="0">
                <a:solidFill>
                  <a:srgbClr val="5C6B6E"/>
                </a:solidFill>
                <a:latin typeface="Noto Sans CJK KR"/>
                <a:ea typeface="Noto Sans CJK KR"/>
              </a:defRPr>
            </a:pPr>
            <a:r>
              <a:rPr>
                <a:ea typeface="Noto Sans CJK KR"/>
              </a:rPr>
              <a:t>단위: 억 원</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03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CF283B"/>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수익성 하락의 위치는 원가율에서 보입니다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판관비율은 25%로 같고, 원가율이 5%포인트 올라 이익률이 낮아졌습니다.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05</a:t>
            </a:r>
          </a:p>
        </p:txBody>
      </p:sp>
      <p:sp>
        <p:nvSpPr>
          <p:cNvPr id="19" name="TextBox 18"/>
          <p:cNvSpPr txBox="1"/>
          <p:nvPr/>
        </p:nvSpPr>
        <p:spPr>
          <a:xfrm>
            <a:off x="658368" y="3035808"/>
            <a:ext cx="1243584" cy="548640"/>
          </a:xfrm>
          <a:prstGeom prst="rect">
            <a:avLst/>
          </a:prstGeom>
          <a:noFill/>
        </p:spPr>
        <p:txBody>
          <a:bodyPr wrap="none" anchor="t" anchorCtr="0" lIns="0" rIns="0" tIns="0" bIns="0">
            <a:noAutofit/>
          </a:bodyPr>
          <a:lstStyle/>
          <a:p>
            <a:pPr algn="l">
              <a:lnSpc>
                <a:spcPct val="116000"/>
              </a:lnSpc>
              <a:spcBef>
                <a:spcPts val="0"/>
              </a:spcBef>
              <a:spcAft>
                <a:spcPts val="0"/>
              </a:spcAft>
              <a:defRPr sz="2300" b="1">
                <a:solidFill>
                  <a:srgbClr val="19282C"/>
                </a:solidFill>
                <a:latin typeface="Noto Sans CJK KR"/>
                <a:ea typeface="Noto Sans CJK KR"/>
              </a:defRPr>
            </a:pPr>
            <a:r>
              <a:rPr>
                <a:ea typeface="Noto Sans CJK KR"/>
              </a:rPr>
              <a:t>2024</a:t>
            </a:r>
          </a:p>
        </p:txBody>
      </p:sp>
      <p:sp>
        <p:nvSpPr>
          <p:cNvPr id="20" name="Rectangle 19"/>
          <p:cNvSpPr/>
          <p:nvPr/>
        </p:nvSpPr>
        <p:spPr>
          <a:xfrm>
            <a:off x="2039112" y="2862072"/>
            <a:ext cx="5431536" cy="758952"/>
          </a:xfrm>
          <a:prstGeom prst="rect">
            <a:avLst/>
          </a:prstGeom>
          <a:solidFill>
            <a:srgbClr val="3667A1"/>
          </a:solidFill>
          <a:ln>
            <a:noFill/>
          </a:ln>
          <a:effectLst/>
        </p:spPr>
        <p:txBody>
          <a:bodyPr rtlCol="0" anchor="ctr"/>
          <a:lstStyle/>
          <a:p>
            <a:pPr algn="ctr"/>
          </a:p>
        </p:txBody>
      </p:sp>
      <p:sp>
        <p:nvSpPr>
          <p:cNvPr id="21" name="TextBox 20"/>
          <p:cNvSpPr txBox="1"/>
          <p:nvPr/>
        </p:nvSpPr>
        <p:spPr>
          <a:xfrm>
            <a:off x="2112264" y="3081528"/>
            <a:ext cx="5285232" cy="365760"/>
          </a:xfrm>
          <a:prstGeom prst="rect">
            <a:avLst/>
          </a:prstGeom>
          <a:noFill/>
        </p:spPr>
        <p:txBody>
          <a:bodyPr wrap="none" anchor="t" anchorCtr="0" lIns="0" rIns="0" tIns="0" bIns="0">
            <a:noAutofit/>
          </a:bodyPr>
          <a:lstStyle/>
          <a:p>
            <a:pPr algn="ctr">
              <a:lnSpc>
                <a:spcPct val="116000"/>
              </a:lnSpc>
              <a:spcBef>
                <a:spcPts val="0"/>
              </a:spcBef>
              <a:spcAft>
                <a:spcPts val="0"/>
              </a:spcAft>
              <a:defRPr sz="1800" b="1">
                <a:solidFill>
                  <a:srgbClr val="FFFFFF"/>
                </a:solidFill>
                <a:latin typeface="Noto Sans CJK KR"/>
                <a:ea typeface="Noto Sans CJK KR"/>
              </a:defRPr>
            </a:pPr>
            <a:r>
              <a:rPr>
                <a:ea typeface="Noto Sans CJK KR"/>
              </a:rPr>
              <a:t>60%</a:t>
            </a:r>
          </a:p>
        </p:txBody>
      </p:sp>
      <p:sp>
        <p:nvSpPr>
          <p:cNvPr id="22" name="Rectangle 21"/>
          <p:cNvSpPr/>
          <p:nvPr/>
        </p:nvSpPr>
        <p:spPr>
          <a:xfrm>
            <a:off x="7470648" y="2862072"/>
            <a:ext cx="2263140" cy="758952"/>
          </a:xfrm>
          <a:prstGeom prst="rect">
            <a:avLst/>
          </a:prstGeom>
          <a:solidFill>
            <a:srgbClr val="5C6B6E"/>
          </a:solidFill>
          <a:ln>
            <a:noFill/>
          </a:ln>
          <a:effectLst/>
        </p:spPr>
        <p:txBody>
          <a:bodyPr rtlCol="0" anchor="ctr"/>
          <a:lstStyle/>
          <a:p>
            <a:pPr algn="ctr"/>
          </a:p>
        </p:txBody>
      </p:sp>
      <p:sp>
        <p:nvSpPr>
          <p:cNvPr id="23" name="TextBox 22"/>
          <p:cNvSpPr txBox="1"/>
          <p:nvPr/>
        </p:nvSpPr>
        <p:spPr>
          <a:xfrm>
            <a:off x="7543800" y="3081528"/>
            <a:ext cx="2116836" cy="365760"/>
          </a:xfrm>
          <a:prstGeom prst="rect">
            <a:avLst/>
          </a:prstGeom>
          <a:noFill/>
        </p:spPr>
        <p:txBody>
          <a:bodyPr wrap="none" anchor="t" anchorCtr="0" lIns="0" rIns="0" tIns="0" bIns="0">
            <a:noAutofit/>
          </a:bodyPr>
          <a:lstStyle/>
          <a:p>
            <a:pPr algn="ctr">
              <a:lnSpc>
                <a:spcPct val="116000"/>
              </a:lnSpc>
              <a:spcBef>
                <a:spcPts val="0"/>
              </a:spcBef>
              <a:spcAft>
                <a:spcPts val="0"/>
              </a:spcAft>
              <a:defRPr sz="1800" b="1">
                <a:solidFill>
                  <a:srgbClr val="FFFFFF"/>
                </a:solidFill>
                <a:latin typeface="Noto Sans CJK KR"/>
                <a:ea typeface="Noto Sans CJK KR"/>
              </a:defRPr>
            </a:pPr>
            <a:r>
              <a:rPr>
                <a:ea typeface="Noto Sans CJK KR"/>
              </a:rPr>
              <a:t>25%</a:t>
            </a:r>
          </a:p>
        </p:txBody>
      </p:sp>
      <p:sp>
        <p:nvSpPr>
          <p:cNvPr id="24" name="Rectangle 23"/>
          <p:cNvSpPr/>
          <p:nvPr/>
        </p:nvSpPr>
        <p:spPr>
          <a:xfrm>
            <a:off x="9733788" y="2862072"/>
            <a:ext cx="1357884" cy="758952"/>
          </a:xfrm>
          <a:prstGeom prst="rect">
            <a:avLst/>
          </a:prstGeom>
          <a:solidFill>
            <a:srgbClr val="CF283B"/>
          </a:solidFill>
          <a:ln>
            <a:noFill/>
          </a:ln>
          <a:effectLst/>
        </p:spPr>
        <p:txBody>
          <a:bodyPr rtlCol="0" anchor="ctr"/>
          <a:lstStyle/>
          <a:p>
            <a:pPr algn="ctr"/>
          </a:p>
        </p:txBody>
      </p:sp>
      <p:sp>
        <p:nvSpPr>
          <p:cNvPr id="25" name="TextBox 24"/>
          <p:cNvSpPr txBox="1"/>
          <p:nvPr/>
        </p:nvSpPr>
        <p:spPr>
          <a:xfrm>
            <a:off x="9806940" y="3081528"/>
            <a:ext cx="1211580" cy="365760"/>
          </a:xfrm>
          <a:prstGeom prst="rect">
            <a:avLst/>
          </a:prstGeom>
          <a:noFill/>
        </p:spPr>
        <p:txBody>
          <a:bodyPr wrap="none" anchor="t" anchorCtr="0" lIns="0" rIns="0" tIns="0" bIns="0">
            <a:noAutofit/>
          </a:bodyPr>
          <a:lstStyle/>
          <a:p>
            <a:pPr algn="ctr">
              <a:lnSpc>
                <a:spcPct val="116000"/>
              </a:lnSpc>
              <a:spcBef>
                <a:spcPts val="0"/>
              </a:spcBef>
              <a:spcAft>
                <a:spcPts val="0"/>
              </a:spcAft>
              <a:defRPr sz="1800" b="1">
                <a:solidFill>
                  <a:srgbClr val="FFFFFF"/>
                </a:solidFill>
                <a:latin typeface="Noto Sans CJK KR"/>
                <a:ea typeface="Noto Sans CJK KR"/>
              </a:defRPr>
            </a:pPr>
            <a:r>
              <a:rPr>
                <a:ea typeface="Noto Sans CJK KR"/>
              </a:rPr>
              <a:t>15%</a:t>
            </a:r>
          </a:p>
        </p:txBody>
      </p:sp>
      <p:sp>
        <p:nvSpPr>
          <p:cNvPr id="26" name="TextBox 25"/>
          <p:cNvSpPr txBox="1"/>
          <p:nvPr/>
        </p:nvSpPr>
        <p:spPr>
          <a:xfrm>
            <a:off x="658368" y="4297680"/>
            <a:ext cx="1243584" cy="548640"/>
          </a:xfrm>
          <a:prstGeom prst="rect">
            <a:avLst/>
          </a:prstGeom>
          <a:noFill/>
        </p:spPr>
        <p:txBody>
          <a:bodyPr wrap="none" anchor="t" anchorCtr="0" lIns="0" rIns="0" tIns="0" bIns="0">
            <a:noAutofit/>
          </a:bodyPr>
          <a:lstStyle/>
          <a:p>
            <a:pPr algn="l">
              <a:lnSpc>
                <a:spcPct val="116000"/>
              </a:lnSpc>
              <a:spcBef>
                <a:spcPts val="0"/>
              </a:spcBef>
              <a:spcAft>
                <a:spcPts val="0"/>
              </a:spcAft>
              <a:defRPr sz="2300" b="1">
                <a:solidFill>
                  <a:srgbClr val="19282C"/>
                </a:solidFill>
                <a:latin typeface="Noto Sans CJK KR"/>
                <a:ea typeface="Noto Sans CJK KR"/>
              </a:defRPr>
            </a:pPr>
            <a:r>
              <a:rPr>
                <a:ea typeface="Noto Sans CJK KR"/>
              </a:rPr>
              <a:t>2025</a:t>
            </a:r>
          </a:p>
        </p:txBody>
      </p:sp>
      <p:sp>
        <p:nvSpPr>
          <p:cNvPr id="27" name="Rectangle 26"/>
          <p:cNvSpPr/>
          <p:nvPr/>
        </p:nvSpPr>
        <p:spPr>
          <a:xfrm>
            <a:off x="2039112" y="4123944"/>
            <a:ext cx="5884164" cy="758952"/>
          </a:xfrm>
          <a:prstGeom prst="rect">
            <a:avLst/>
          </a:prstGeom>
          <a:solidFill>
            <a:srgbClr val="3667A1"/>
          </a:solidFill>
          <a:ln>
            <a:noFill/>
          </a:ln>
          <a:effectLst/>
        </p:spPr>
        <p:txBody>
          <a:bodyPr rtlCol="0" anchor="ctr"/>
          <a:lstStyle/>
          <a:p>
            <a:pPr algn="ctr"/>
          </a:p>
        </p:txBody>
      </p:sp>
      <p:sp>
        <p:nvSpPr>
          <p:cNvPr id="28" name="TextBox 27"/>
          <p:cNvSpPr txBox="1"/>
          <p:nvPr/>
        </p:nvSpPr>
        <p:spPr>
          <a:xfrm>
            <a:off x="2112264" y="4343400"/>
            <a:ext cx="5737859" cy="365760"/>
          </a:xfrm>
          <a:prstGeom prst="rect">
            <a:avLst/>
          </a:prstGeom>
          <a:noFill/>
        </p:spPr>
        <p:txBody>
          <a:bodyPr wrap="none" anchor="t" anchorCtr="0" lIns="0" rIns="0" tIns="0" bIns="0">
            <a:noAutofit/>
          </a:bodyPr>
          <a:lstStyle/>
          <a:p>
            <a:pPr algn="ctr">
              <a:lnSpc>
                <a:spcPct val="116000"/>
              </a:lnSpc>
              <a:spcBef>
                <a:spcPts val="0"/>
              </a:spcBef>
              <a:spcAft>
                <a:spcPts val="0"/>
              </a:spcAft>
              <a:defRPr sz="1800" b="1">
                <a:solidFill>
                  <a:srgbClr val="FFFFFF"/>
                </a:solidFill>
                <a:latin typeface="Noto Sans CJK KR"/>
                <a:ea typeface="Noto Sans CJK KR"/>
              </a:defRPr>
            </a:pPr>
            <a:r>
              <a:rPr>
                <a:ea typeface="Noto Sans CJK KR"/>
              </a:rPr>
              <a:t>65%</a:t>
            </a:r>
          </a:p>
        </p:txBody>
      </p:sp>
      <p:sp>
        <p:nvSpPr>
          <p:cNvPr id="29" name="Rectangle 28"/>
          <p:cNvSpPr/>
          <p:nvPr/>
        </p:nvSpPr>
        <p:spPr>
          <a:xfrm>
            <a:off x="7923275" y="4123944"/>
            <a:ext cx="2263140" cy="758952"/>
          </a:xfrm>
          <a:prstGeom prst="rect">
            <a:avLst/>
          </a:prstGeom>
          <a:solidFill>
            <a:srgbClr val="5C6B6E"/>
          </a:solidFill>
          <a:ln>
            <a:noFill/>
          </a:ln>
          <a:effectLst/>
        </p:spPr>
        <p:txBody>
          <a:bodyPr rtlCol="0" anchor="ctr"/>
          <a:lstStyle/>
          <a:p>
            <a:pPr algn="ctr"/>
          </a:p>
        </p:txBody>
      </p:sp>
      <p:sp>
        <p:nvSpPr>
          <p:cNvPr id="30" name="TextBox 29"/>
          <p:cNvSpPr txBox="1"/>
          <p:nvPr/>
        </p:nvSpPr>
        <p:spPr>
          <a:xfrm>
            <a:off x="7996427" y="4343400"/>
            <a:ext cx="2116836" cy="365760"/>
          </a:xfrm>
          <a:prstGeom prst="rect">
            <a:avLst/>
          </a:prstGeom>
          <a:noFill/>
        </p:spPr>
        <p:txBody>
          <a:bodyPr wrap="none" anchor="t" anchorCtr="0" lIns="0" rIns="0" tIns="0" bIns="0">
            <a:noAutofit/>
          </a:bodyPr>
          <a:lstStyle/>
          <a:p>
            <a:pPr algn="ctr">
              <a:lnSpc>
                <a:spcPct val="116000"/>
              </a:lnSpc>
              <a:spcBef>
                <a:spcPts val="0"/>
              </a:spcBef>
              <a:spcAft>
                <a:spcPts val="0"/>
              </a:spcAft>
              <a:defRPr sz="1800" b="1">
                <a:solidFill>
                  <a:srgbClr val="FFFFFF"/>
                </a:solidFill>
                <a:latin typeface="Noto Sans CJK KR"/>
                <a:ea typeface="Noto Sans CJK KR"/>
              </a:defRPr>
            </a:pPr>
            <a:r>
              <a:rPr>
                <a:ea typeface="Noto Sans CJK KR"/>
              </a:rPr>
              <a:t>25%</a:t>
            </a:r>
          </a:p>
        </p:txBody>
      </p:sp>
      <p:sp>
        <p:nvSpPr>
          <p:cNvPr id="31" name="Rectangle 30"/>
          <p:cNvSpPr/>
          <p:nvPr/>
        </p:nvSpPr>
        <p:spPr>
          <a:xfrm>
            <a:off x="10186415" y="4123944"/>
            <a:ext cx="905256" cy="758952"/>
          </a:xfrm>
          <a:prstGeom prst="rect">
            <a:avLst/>
          </a:prstGeom>
          <a:solidFill>
            <a:srgbClr val="CF283B"/>
          </a:solidFill>
          <a:ln>
            <a:noFill/>
          </a:ln>
          <a:effectLst/>
        </p:spPr>
        <p:txBody>
          <a:bodyPr rtlCol="0" anchor="ctr"/>
          <a:lstStyle/>
          <a:p>
            <a:pPr algn="ctr"/>
          </a:p>
        </p:txBody>
      </p:sp>
      <p:sp>
        <p:nvSpPr>
          <p:cNvPr id="32" name="TextBox 31"/>
          <p:cNvSpPr txBox="1"/>
          <p:nvPr/>
        </p:nvSpPr>
        <p:spPr>
          <a:xfrm>
            <a:off x="10259567" y="4343400"/>
            <a:ext cx="758952" cy="365760"/>
          </a:xfrm>
          <a:prstGeom prst="rect">
            <a:avLst/>
          </a:prstGeom>
          <a:noFill/>
        </p:spPr>
        <p:txBody>
          <a:bodyPr wrap="none" anchor="t" anchorCtr="0" lIns="0" rIns="0" tIns="0" bIns="0">
            <a:noAutofit/>
          </a:bodyPr>
          <a:lstStyle/>
          <a:p>
            <a:pPr algn="ctr">
              <a:lnSpc>
                <a:spcPct val="116000"/>
              </a:lnSpc>
              <a:spcBef>
                <a:spcPts val="0"/>
              </a:spcBef>
              <a:spcAft>
                <a:spcPts val="0"/>
              </a:spcAft>
              <a:defRPr sz="1800" b="1">
                <a:solidFill>
                  <a:srgbClr val="FFFFFF"/>
                </a:solidFill>
                <a:latin typeface="Noto Sans CJK KR"/>
                <a:ea typeface="Noto Sans CJK KR"/>
              </a:defRPr>
            </a:pPr>
            <a:r>
              <a:rPr>
                <a:ea typeface="Noto Sans CJK KR"/>
              </a:rPr>
              <a:t>10%</a:t>
            </a:r>
          </a:p>
        </p:txBody>
      </p:sp>
      <p:sp>
        <p:nvSpPr>
          <p:cNvPr id="33" name="Rectangle 32"/>
          <p:cNvSpPr/>
          <p:nvPr/>
        </p:nvSpPr>
        <p:spPr>
          <a:xfrm>
            <a:off x="2039112" y="5422392"/>
            <a:ext cx="146304" cy="146304"/>
          </a:xfrm>
          <a:prstGeom prst="rect">
            <a:avLst/>
          </a:prstGeom>
          <a:solidFill>
            <a:srgbClr val="3667A1"/>
          </a:solidFill>
          <a:ln>
            <a:noFill/>
          </a:ln>
          <a:effectLst/>
        </p:spPr>
        <p:txBody>
          <a:bodyPr rtlCol="0" anchor="ctr"/>
          <a:lstStyle/>
          <a:p>
            <a:pPr algn="ctr"/>
          </a:p>
        </p:txBody>
      </p:sp>
      <p:sp>
        <p:nvSpPr>
          <p:cNvPr id="34" name="TextBox 33"/>
          <p:cNvSpPr txBox="1"/>
          <p:nvPr/>
        </p:nvSpPr>
        <p:spPr>
          <a:xfrm>
            <a:off x="2286000" y="5367528"/>
            <a:ext cx="2688336" cy="356616"/>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매출원가</a:t>
            </a:r>
          </a:p>
        </p:txBody>
      </p:sp>
      <p:sp>
        <p:nvSpPr>
          <p:cNvPr id="35" name="Rectangle 34"/>
          <p:cNvSpPr/>
          <p:nvPr/>
        </p:nvSpPr>
        <p:spPr>
          <a:xfrm>
            <a:off x="5056631" y="5422392"/>
            <a:ext cx="146304" cy="146304"/>
          </a:xfrm>
          <a:prstGeom prst="rect">
            <a:avLst/>
          </a:prstGeom>
          <a:solidFill>
            <a:srgbClr val="5C6B6E"/>
          </a:solidFill>
          <a:ln>
            <a:noFill/>
          </a:ln>
          <a:effectLst/>
        </p:spPr>
        <p:txBody>
          <a:bodyPr rtlCol="0" anchor="ctr"/>
          <a:lstStyle/>
          <a:p>
            <a:pPr algn="ctr"/>
          </a:p>
        </p:txBody>
      </p:sp>
      <p:sp>
        <p:nvSpPr>
          <p:cNvPr id="36" name="TextBox 35"/>
          <p:cNvSpPr txBox="1"/>
          <p:nvPr/>
        </p:nvSpPr>
        <p:spPr>
          <a:xfrm>
            <a:off x="5303520" y="5367528"/>
            <a:ext cx="2688336" cy="356616"/>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판매비와 관리비</a:t>
            </a:r>
          </a:p>
        </p:txBody>
      </p:sp>
      <p:sp>
        <p:nvSpPr>
          <p:cNvPr id="37" name="Rectangle 36"/>
          <p:cNvSpPr/>
          <p:nvPr/>
        </p:nvSpPr>
        <p:spPr>
          <a:xfrm>
            <a:off x="8074152" y="5422392"/>
            <a:ext cx="146304" cy="146304"/>
          </a:xfrm>
          <a:prstGeom prst="rect">
            <a:avLst/>
          </a:prstGeom>
          <a:solidFill>
            <a:srgbClr val="CF283B"/>
          </a:solidFill>
          <a:ln>
            <a:noFill/>
          </a:ln>
          <a:effectLst/>
        </p:spPr>
        <p:txBody>
          <a:bodyPr rtlCol="0" anchor="ctr"/>
          <a:lstStyle/>
          <a:p>
            <a:pPr algn="ctr"/>
          </a:p>
        </p:txBody>
      </p:sp>
      <p:sp>
        <p:nvSpPr>
          <p:cNvPr id="38" name="TextBox 37"/>
          <p:cNvSpPr txBox="1"/>
          <p:nvPr/>
        </p:nvSpPr>
        <p:spPr>
          <a:xfrm>
            <a:off x="8321040" y="5367528"/>
            <a:ext cx="2688336" cy="356616"/>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영업이익</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03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CF283B"/>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“원가가 늘었다” 다음에 확인할 자료</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원가율 상승만으로 “밀가루 때문”이라고 확정하지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06</a:t>
            </a:r>
          </a:p>
        </p:txBody>
      </p:sp>
      <p:sp>
        <p:nvSpPr>
          <p:cNvPr id="19" name="Rounded Rectangle 18"/>
          <p:cNvSpPr/>
          <p:nvPr/>
        </p:nvSpPr>
        <p:spPr>
          <a:xfrm>
            <a:off x="594360"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13816"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원재료 매입가격</a:t>
            </a:r>
          </a:p>
        </p:txBody>
      </p:sp>
      <p:sp>
        <p:nvSpPr>
          <p:cNvPr id="21" name="TextBox 20"/>
          <p:cNvSpPr txBox="1"/>
          <p:nvPr/>
        </p:nvSpPr>
        <p:spPr>
          <a:xfrm>
            <a:off x="813816"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가격 변화</a:t>
            </a:r>
          </a:p>
        </p:txBody>
      </p:sp>
      <p:sp>
        <p:nvSpPr>
          <p:cNvPr id="22" name="TextBox 21"/>
          <p:cNvSpPr txBox="1"/>
          <p:nvPr/>
        </p:nvSpPr>
        <p:spPr>
          <a:xfrm>
            <a:off x="813816"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단위와 비교 기간을 맞추기</a:t>
            </a:r>
          </a:p>
        </p:txBody>
      </p:sp>
      <p:sp>
        <p:nvSpPr>
          <p:cNvPr id="23" name="Rounded Rectangle 22"/>
          <p:cNvSpPr/>
          <p:nvPr/>
        </p:nvSpPr>
        <p:spPr>
          <a:xfrm>
            <a:off x="4325112"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4" name="TextBox 23"/>
          <p:cNvSpPr txBox="1"/>
          <p:nvPr/>
        </p:nvSpPr>
        <p:spPr>
          <a:xfrm>
            <a:off x="4544568"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제품 판매가격</a:t>
            </a:r>
          </a:p>
        </p:txBody>
      </p:sp>
      <p:sp>
        <p:nvSpPr>
          <p:cNvPr id="25" name="TextBox 24"/>
          <p:cNvSpPr txBox="1"/>
          <p:nvPr/>
        </p:nvSpPr>
        <p:spPr>
          <a:xfrm>
            <a:off x="4544568"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전가 여부</a:t>
            </a:r>
          </a:p>
        </p:txBody>
      </p:sp>
      <p:sp>
        <p:nvSpPr>
          <p:cNvPr id="26" name="TextBox 25"/>
          <p:cNvSpPr txBox="1"/>
          <p:nvPr/>
        </p:nvSpPr>
        <p:spPr>
          <a:xfrm>
            <a:off x="4544568"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비용 상승을 가격에 반영했는가</a:t>
            </a:r>
          </a:p>
        </p:txBody>
      </p:sp>
      <p:sp>
        <p:nvSpPr>
          <p:cNvPr id="27" name="Rounded Rectangle 26"/>
          <p:cNvSpPr/>
          <p:nvPr/>
        </p:nvSpPr>
        <p:spPr>
          <a:xfrm>
            <a:off x="8055864"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8" name="TextBox 27"/>
          <p:cNvSpPr txBox="1"/>
          <p:nvPr/>
        </p:nvSpPr>
        <p:spPr>
          <a:xfrm>
            <a:off x="8275320"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제품별 매출</a:t>
            </a:r>
          </a:p>
        </p:txBody>
      </p:sp>
      <p:sp>
        <p:nvSpPr>
          <p:cNvPr id="29" name="TextBox 28"/>
          <p:cNvSpPr txBox="1"/>
          <p:nvPr/>
        </p:nvSpPr>
        <p:spPr>
          <a:xfrm>
            <a:off x="8275320"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구성 변화</a:t>
            </a:r>
          </a:p>
        </p:txBody>
      </p:sp>
      <p:sp>
        <p:nvSpPr>
          <p:cNvPr id="30" name="TextBox 29"/>
          <p:cNvSpPr txBox="1"/>
          <p:nvPr/>
        </p:nvSpPr>
        <p:spPr>
          <a:xfrm>
            <a:off x="8275320"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낮은 이익률 제품 비중이</a:t>
            </a:r>
          </a:p>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늘었는가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03 / CASH FLOW</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CF283B"/>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이익과 현금의 차이를 조정표로 설명합니다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이 다섯 항목만 있는 가정입니다. 실제 현금흐름표에는 다른 조정이 있을 수 있습니다.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07</a:t>
            </a:r>
          </a:p>
        </p:txBody>
      </p:sp>
      <p:cxnSp>
        <p:nvCxnSpPr>
          <p:cNvPr id="19" name="Connector 18"/>
          <p:cNvCxnSpPr/>
          <p:nvPr/>
        </p:nvCxnSpPr>
        <p:spPr>
          <a:xfrm>
            <a:off x="777240" y="4506066"/>
            <a:ext cx="10652760" cy="0"/>
          </a:xfrm>
          <a:prstGeom prst="line">
            <a:avLst/>
          </a:prstGeom>
          <a:ln w="19050">
            <a:solidFill>
              <a:srgbClr val="D8DEDA"/>
            </a:solidFill>
          </a:ln>
          <a:effectLst/>
        </p:spPr>
      </p:cxnSp>
      <p:sp>
        <p:nvSpPr>
          <p:cNvPr id="20" name="Rectangle 19"/>
          <p:cNvSpPr/>
          <p:nvPr/>
        </p:nvSpPr>
        <p:spPr>
          <a:xfrm>
            <a:off x="914400" y="3752087"/>
            <a:ext cx="1029919" cy="753978"/>
          </a:xfrm>
          <a:prstGeom prst="rect">
            <a:avLst/>
          </a:prstGeom>
          <a:solidFill>
            <a:srgbClr val="19282C"/>
          </a:solidFill>
          <a:ln>
            <a:noFill/>
          </a:ln>
          <a:effectLst/>
        </p:spPr>
        <p:txBody>
          <a:bodyPr rtlCol="0" anchor="ctr"/>
          <a:lstStyle/>
          <a:p>
            <a:pPr algn="ctr"/>
          </a:p>
        </p:txBody>
      </p:sp>
      <p:sp>
        <p:nvSpPr>
          <p:cNvPr id="21" name="TextBox 20"/>
          <p:cNvSpPr txBox="1"/>
          <p:nvPr/>
        </p:nvSpPr>
        <p:spPr>
          <a:xfrm>
            <a:off x="822960" y="3304031"/>
            <a:ext cx="136215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19282C"/>
                </a:solidFill>
                <a:latin typeface="Noto Sans CJK KR"/>
                <a:ea typeface="Noto Sans CJK KR"/>
              </a:defRPr>
            </a:pPr>
            <a:r>
              <a:rPr>
                <a:ea typeface="Noto Sans CJK KR"/>
              </a:rPr>
              <a:t>8</a:t>
            </a:r>
          </a:p>
        </p:txBody>
      </p:sp>
      <p:sp>
        <p:nvSpPr>
          <p:cNvPr id="22" name="TextBox 21"/>
          <p:cNvSpPr txBox="1"/>
          <p:nvPr/>
        </p:nvSpPr>
        <p:spPr>
          <a:xfrm>
            <a:off x="740664" y="5431536"/>
            <a:ext cx="157810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순이익</a:t>
            </a:r>
          </a:p>
        </p:txBody>
      </p:sp>
      <p:cxnSp>
        <p:nvCxnSpPr>
          <p:cNvPr id="23" name="Connector 22"/>
          <p:cNvCxnSpPr/>
          <p:nvPr/>
        </p:nvCxnSpPr>
        <p:spPr>
          <a:xfrm>
            <a:off x="1944319" y="3752087"/>
            <a:ext cx="631241" cy="0"/>
          </a:xfrm>
          <a:prstGeom prst="line">
            <a:avLst/>
          </a:prstGeom>
          <a:ln w="12700">
            <a:solidFill>
              <a:srgbClr val="D8DEDA"/>
            </a:solidFill>
          </a:ln>
          <a:effectLst/>
        </p:spPr>
      </p:cxnSp>
      <p:sp>
        <p:nvSpPr>
          <p:cNvPr id="24" name="Rectangle 23"/>
          <p:cNvSpPr/>
          <p:nvPr/>
        </p:nvSpPr>
        <p:spPr>
          <a:xfrm>
            <a:off x="2575560" y="3375098"/>
            <a:ext cx="1029919" cy="376989"/>
          </a:xfrm>
          <a:prstGeom prst="rect">
            <a:avLst/>
          </a:prstGeom>
          <a:solidFill>
            <a:srgbClr val="167964"/>
          </a:solidFill>
          <a:ln>
            <a:noFill/>
          </a:ln>
          <a:effectLst/>
        </p:spPr>
        <p:txBody>
          <a:bodyPr rtlCol="0" anchor="ctr"/>
          <a:lstStyle/>
          <a:p>
            <a:pPr algn="ctr"/>
          </a:p>
        </p:txBody>
      </p:sp>
      <p:sp>
        <p:nvSpPr>
          <p:cNvPr id="25" name="TextBox 24"/>
          <p:cNvSpPr txBox="1"/>
          <p:nvPr/>
        </p:nvSpPr>
        <p:spPr>
          <a:xfrm>
            <a:off x="2484119" y="2927042"/>
            <a:ext cx="136215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167964"/>
                </a:solidFill>
                <a:latin typeface="Noto Sans CJK KR"/>
                <a:ea typeface="Noto Sans CJK KR"/>
              </a:defRPr>
            </a:pPr>
            <a:r>
              <a:rPr>
                <a:ea typeface="Noto Sans CJK KR"/>
              </a:rPr>
              <a:t>+4</a:t>
            </a:r>
          </a:p>
        </p:txBody>
      </p:sp>
      <p:sp>
        <p:nvSpPr>
          <p:cNvPr id="26" name="TextBox 25"/>
          <p:cNvSpPr txBox="1"/>
          <p:nvPr/>
        </p:nvSpPr>
        <p:spPr>
          <a:xfrm>
            <a:off x="2401824" y="5431536"/>
            <a:ext cx="157810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감가상각</a:t>
            </a:r>
          </a:p>
        </p:txBody>
      </p:sp>
      <p:cxnSp>
        <p:nvCxnSpPr>
          <p:cNvPr id="27" name="Connector 26"/>
          <p:cNvCxnSpPr/>
          <p:nvPr/>
        </p:nvCxnSpPr>
        <p:spPr>
          <a:xfrm>
            <a:off x="3605479" y="3375098"/>
            <a:ext cx="631241" cy="0"/>
          </a:xfrm>
          <a:prstGeom prst="line">
            <a:avLst/>
          </a:prstGeom>
          <a:ln w="12700">
            <a:solidFill>
              <a:srgbClr val="D8DEDA"/>
            </a:solidFill>
          </a:ln>
          <a:effectLst/>
        </p:spPr>
      </p:cxnSp>
      <p:sp>
        <p:nvSpPr>
          <p:cNvPr id="28" name="Rectangle 27"/>
          <p:cNvSpPr/>
          <p:nvPr/>
        </p:nvSpPr>
        <p:spPr>
          <a:xfrm>
            <a:off x="4236720" y="3375098"/>
            <a:ext cx="1029919" cy="1130968"/>
          </a:xfrm>
          <a:prstGeom prst="rect">
            <a:avLst/>
          </a:prstGeom>
          <a:solidFill>
            <a:srgbClr val="3667A1"/>
          </a:solidFill>
          <a:ln>
            <a:noFill/>
          </a:ln>
          <a:effectLst/>
        </p:spPr>
        <p:txBody>
          <a:bodyPr rtlCol="0" anchor="ctr"/>
          <a:lstStyle/>
          <a:p>
            <a:pPr algn="ctr"/>
          </a:p>
        </p:txBody>
      </p:sp>
      <p:sp>
        <p:nvSpPr>
          <p:cNvPr id="29" name="TextBox 28"/>
          <p:cNvSpPr txBox="1"/>
          <p:nvPr/>
        </p:nvSpPr>
        <p:spPr>
          <a:xfrm>
            <a:off x="4145280" y="2927042"/>
            <a:ext cx="136215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3667A1"/>
                </a:solidFill>
                <a:latin typeface="Noto Sans CJK KR"/>
                <a:ea typeface="Noto Sans CJK KR"/>
              </a:defRPr>
            </a:pPr>
            <a:r>
              <a:rPr>
                <a:ea typeface="Noto Sans CJK KR"/>
              </a:rPr>
              <a:t>-12</a:t>
            </a:r>
          </a:p>
        </p:txBody>
      </p:sp>
      <p:sp>
        <p:nvSpPr>
          <p:cNvPr id="30" name="TextBox 29"/>
          <p:cNvSpPr txBox="1"/>
          <p:nvPr/>
        </p:nvSpPr>
        <p:spPr>
          <a:xfrm>
            <a:off x="4062983" y="5431536"/>
            <a:ext cx="157810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채권 증가</a:t>
            </a:r>
          </a:p>
        </p:txBody>
      </p:sp>
      <p:cxnSp>
        <p:nvCxnSpPr>
          <p:cNvPr id="31" name="Connector 30"/>
          <p:cNvCxnSpPr/>
          <p:nvPr/>
        </p:nvCxnSpPr>
        <p:spPr>
          <a:xfrm>
            <a:off x="5266639" y="4506066"/>
            <a:ext cx="631240" cy="0"/>
          </a:xfrm>
          <a:prstGeom prst="line">
            <a:avLst/>
          </a:prstGeom>
          <a:ln w="12700">
            <a:solidFill>
              <a:srgbClr val="D8DEDA"/>
            </a:solidFill>
          </a:ln>
          <a:effectLst/>
        </p:spPr>
      </p:cxnSp>
      <p:sp>
        <p:nvSpPr>
          <p:cNvPr id="32" name="Rectangle 31"/>
          <p:cNvSpPr/>
          <p:nvPr/>
        </p:nvSpPr>
        <p:spPr>
          <a:xfrm>
            <a:off x="5897880" y="4506066"/>
            <a:ext cx="1029919" cy="565484"/>
          </a:xfrm>
          <a:prstGeom prst="rect">
            <a:avLst/>
          </a:prstGeom>
          <a:solidFill>
            <a:srgbClr val="3667A1"/>
          </a:solidFill>
          <a:ln>
            <a:noFill/>
          </a:ln>
          <a:effectLst/>
        </p:spPr>
        <p:txBody>
          <a:bodyPr rtlCol="0" anchor="ctr"/>
          <a:lstStyle/>
          <a:p>
            <a:pPr algn="ctr"/>
          </a:p>
        </p:txBody>
      </p:sp>
      <p:sp>
        <p:nvSpPr>
          <p:cNvPr id="33" name="TextBox 32"/>
          <p:cNvSpPr txBox="1"/>
          <p:nvPr/>
        </p:nvSpPr>
        <p:spPr>
          <a:xfrm>
            <a:off x="5806440" y="4058010"/>
            <a:ext cx="136215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3667A1"/>
                </a:solidFill>
                <a:latin typeface="Noto Sans CJK KR"/>
                <a:ea typeface="Noto Sans CJK KR"/>
              </a:defRPr>
            </a:pPr>
            <a:r>
              <a:rPr>
                <a:ea typeface="Noto Sans CJK KR"/>
              </a:rPr>
              <a:t>-6</a:t>
            </a:r>
          </a:p>
        </p:txBody>
      </p:sp>
      <p:sp>
        <p:nvSpPr>
          <p:cNvPr id="34" name="TextBox 33"/>
          <p:cNvSpPr txBox="1"/>
          <p:nvPr/>
        </p:nvSpPr>
        <p:spPr>
          <a:xfrm>
            <a:off x="5724144" y="5431536"/>
            <a:ext cx="157810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재고 증가</a:t>
            </a:r>
          </a:p>
        </p:txBody>
      </p:sp>
      <p:cxnSp>
        <p:nvCxnSpPr>
          <p:cNvPr id="35" name="Connector 34"/>
          <p:cNvCxnSpPr/>
          <p:nvPr/>
        </p:nvCxnSpPr>
        <p:spPr>
          <a:xfrm>
            <a:off x="6927799" y="5071551"/>
            <a:ext cx="631241" cy="0"/>
          </a:xfrm>
          <a:prstGeom prst="line">
            <a:avLst/>
          </a:prstGeom>
          <a:ln w="12700">
            <a:solidFill>
              <a:srgbClr val="D8DEDA"/>
            </a:solidFill>
          </a:ln>
          <a:effectLst/>
        </p:spPr>
      </p:cxnSp>
      <p:sp>
        <p:nvSpPr>
          <p:cNvPr id="36" name="Rectangle 35"/>
          <p:cNvSpPr/>
          <p:nvPr/>
        </p:nvSpPr>
        <p:spPr>
          <a:xfrm>
            <a:off x="7559039" y="4129077"/>
            <a:ext cx="1029919" cy="942473"/>
          </a:xfrm>
          <a:prstGeom prst="rect">
            <a:avLst/>
          </a:prstGeom>
          <a:solidFill>
            <a:srgbClr val="167964"/>
          </a:solidFill>
          <a:ln>
            <a:noFill/>
          </a:ln>
          <a:effectLst/>
        </p:spPr>
        <p:txBody>
          <a:bodyPr rtlCol="0" anchor="ctr"/>
          <a:lstStyle/>
          <a:p>
            <a:pPr algn="ctr"/>
          </a:p>
        </p:txBody>
      </p:sp>
      <p:sp>
        <p:nvSpPr>
          <p:cNvPr id="37" name="TextBox 36"/>
          <p:cNvSpPr txBox="1"/>
          <p:nvPr/>
        </p:nvSpPr>
        <p:spPr>
          <a:xfrm>
            <a:off x="7467599" y="3681021"/>
            <a:ext cx="136215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167964"/>
                </a:solidFill>
                <a:latin typeface="Noto Sans CJK KR"/>
                <a:ea typeface="Noto Sans CJK KR"/>
              </a:defRPr>
            </a:pPr>
            <a:r>
              <a:rPr>
                <a:ea typeface="Noto Sans CJK KR"/>
              </a:rPr>
              <a:t>+10</a:t>
            </a:r>
          </a:p>
        </p:txBody>
      </p:sp>
      <p:sp>
        <p:nvSpPr>
          <p:cNvPr id="38" name="TextBox 37"/>
          <p:cNvSpPr txBox="1"/>
          <p:nvPr/>
        </p:nvSpPr>
        <p:spPr>
          <a:xfrm>
            <a:off x="7385304" y="5431536"/>
            <a:ext cx="157810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채무 증가</a:t>
            </a:r>
          </a:p>
        </p:txBody>
      </p:sp>
      <p:sp>
        <p:nvSpPr>
          <p:cNvPr id="39" name="Rectangle 38"/>
          <p:cNvSpPr/>
          <p:nvPr/>
        </p:nvSpPr>
        <p:spPr>
          <a:xfrm>
            <a:off x="9220200" y="4129077"/>
            <a:ext cx="1029919" cy="376989"/>
          </a:xfrm>
          <a:prstGeom prst="rect">
            <a:avLst/>
          </a:prstGeom>
          <a:solidFill>
            <a:srgbClr val="19282C"/>
          </a:solidFill>
          <a:ln>
            <a:noFill/>
          </a:ln>
          <a:effectLst/>
        </p:spPr>
        <p:txBody>
          <a:bodyPr rtlCol="0" anchor="ctr"/>
          <a:lstStyle/>
          <a:p>
            <a:pPr algn="ctr"/>
          </a:p>
        </p:txBody>
      </p:sp>
      <p:sp>
        <p:nvSpPr>
          <p:cNvPr id="40" name="TextBox 39"/>
          <p:cNvSpPr txBox="1"/>
          <p:nvPr/>
        </p:nvSpPr>
        <p:spPr>
          <a:xfrm>
            <a:off x="9128760" y="3681021"/>
            <a:ext cx="136215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19282C"/>
                </a:solidFill>
                <a:latin typeface="Noto Sans CJK KR"/>
                <a:ea typeface="Noto Sans CJK KR"/>
              </a:defRPr>
            </a:pPr>
            <a:r>
              <a:rPr>
                <a:ea typeface="Noto Sans CJK KR"/>
              </a:rPr>
              <a:t>4</a:t>
            </a:r>
          </a:p>
        </p:txBody>
      </p:sp>
      <p:sp>
        <p:nvSpPr>
          <p:cNvPr id="41" name="TextBox 40"/>
          <p:cNvSpPr txBox="1"/>
          <p:nvPr/>
        </p:nvSpPr>
        <p:spPr>
          <a:xfrm>
            <a:off x="9046464" y="5431536"/>
            <a:ext cx="157810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영업 현금</a:t>
            </a:r>
          </a:p>
        </p:txBody>
      </p:sp>
      <p:sp>
        <p:nvSpPr>
          <p:cNvPr id="42" name="TextBox 41"/>
          <p:cNvSpPr txBox="1"/>
          <p:nvPr/>
        </p:nvSpPr>
        <p:spPr>
          <a:xfrm>
            <a:off x="640080" y="2423160"/>
            <a:ext cx="3657600" cy="320040"/>
          </a:xfrm>
          <a:prstGeom prst="rect">
            <a:avLst/>
          </a:prstGeom>
          <a:noFill/>
        </p:spPr>
        <p:txBody>
          <a:bodyPr wrap="none" anchor="t" anchorCtr="0" lIns="0" rIns="0" tIns="0" bIns="0">
            <a:noAutofit/>
          </a:bodyPr>
          <a:lstStyle/>
          <a:p>
            <a:pPr algn="l">
              <a:lnSpc>
                <a:spcPct val="116000"/>
              </a:lnSpc>
              <a:spcBef>
                <a:spcPts val="0"/>
              </a:spcBef>
              <a:spcAft>
                <a:spcPts val="0"/>
              </a:spcAft>
              <a:defRPr sz="1300" b="0">
                <a:solidFill>
                  <a:srgbClr val="5C6B6E"/>
                </a:solidFill>
                <a:latin typeface="Noto Sans CJK KR"/>
                <a:ea typeface="Noto Sans CJK KR"/>
              </a:defRPr>
            </a:pPr>
            <a:r>
              <a:rPr>
                <a:ea typeface="Noto Sans CJK KR"/>
              </a:rPr>
              <a:t>단위: 억 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03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CF283B"/>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숫자에서 생긴 질문을 주석에서 확인합니다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증가 자체가 부실의 증거는 아닙니다. 이유를 확인할 질문으로 바꿉니다.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08</a:t>
            </a:r>
          </a:p>
        </p:txBody>
      </p:sp>
      <p:sp>
        <p:nvSpPr>
          <p:cNvPr id="19" name="Rectangle 18"/>
          <p:cNvSpPr/>
          <p:nvPr/>
        </p:nvSpPr>
        <p:spPr>
          <a:xfrm>
            <a:off x="594360" y="2423160"/>
            <a:ext cx="10991088" cy="512064"/>
          </a:xfrm>
          <a:prstGeom prst="rect">
            <a:avLst/>
          </a:prstGeom>
          <a:solidFill>
            <a:srgbClr val="19282C"/>
          </a:solidFill>
          <a:ln>
            <a:noFill/>
          </a:ln>
          <a:effectLst/>
        </p:spPr>
        <p:txBody>
          <a:bodyPr rtlCol="0" anchor="ctr"/>
          <a:lstStyle/>
          <a:p>
            <a:pPr algn="ctr"/>
          </a:p>
        </p:txBody>
      </p:sp>
      <p:sp>
        <p:nvSpPr>
          <p:cNvPr id="20" name="TextBox 19"/>
          <p:cNvSpPr txBox="1"/>
          <p:nvPr/>
        </p:nvSpPr>
        <p:spPr>
          <a:xfrm>
            <a:off x="740664" y="2532888"/>
            <a:ext cx="318211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관찰</a:t>
            </a:r>
          </a:p>
        </p:txBody>
      </p:sp>
      <p:sp>
        <p:nvSpPr>
          <p:cNvPr id="21" name="TextBox 20"/>
          <p:cNvSpPr txBox="1"/>
          <p:nvPr/>
        </p:nvSpPr>
        <p:spPr>
          <a:xfrm>
            <a:off x="4215384" y="2532888"/>
            <a:ext cx="345643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아직 모르는 것</a:t>
            </a:r>
          </a:p>
        </p:txBody>
      </p:sp>
      <p:sp>
        <p:nvSpPr>
          <p:cNvPr id="22" name="TextBox 21"/>
          <p:cNvSpPr txBox="1"/>
          <p:nvPr/>
        </p:nvSpPr>
        <p:spPr>
          <a:xfrm>
            <a:off x="7964424" y="2532888"/>
            <a:ext cx="3474720"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다음에 읽을 항목</a:t>
            </a:r>
          </a:p>
        </p:txBody>
      </p:sp>
      <p:sp>
        <p:nvSpPr>
          <p:cNvPr id="23" name="Rectangle 22"/>
          <p:cNvSpPr/>
          <p:nvPr/>
        </p:nvSpPr>
        <p:spPr>
          <a:xfrm>
            <a:off x="594360" y="2935224"/>
            <a:ext cx="10991088" cy="713232"/>
          </a:xfrm>
          <a:prstGeom prst="rect">
            <a:avLst/>
          </a:prstGeom>
          <a:solidFill>
            <a:srgbClr val="FFFFFF"/>
          </a:solidFill>
          <a:ln>
            <a:noFill/>
          </a:ln>
          <a:effectLst/>
        </p:spPr>
        <p:txBody>
          <a:bodyPr rtlCol="0" anchor="ctr"/>
          <a:lstStyle/>
          <a:p>
            <a:pPr algn="ctr"/>
          </a:p>
        </p:txBody>
      </p:sp>
      <p:sp>
        <p:nvSpPr>
          <p:cNvPr id="24" name="TextBox 23"/>
          <p:cNvSpPr txBox="1"/>
          <p:nvPr/>
        </p:nvSpPr>
        <p:spPr>
          <a:xfrm>
            <a:off x="740664" y="3063240"/>
            <a:ext cx="318211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매출채권 10 → 22억</a:t>
            </a:r>
          </a:p>
        </p:txBody>
      </p:sp>
      <p:sp>
        <p:nvSpPr>
          <p:cNvPr id="25" name="TextBox 24"/>
          <p:cNvSpPr txBox="1"/>
          <p:nvPr/>
        </p:nvSpPr>
        <p:spPr>
          <a:xfrm>
            <a:off x="4215384" y="3063240"/>
            <a:ext cx="345643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대금 회수가 늦어졌는가</a:t>
            </a:r>
          </a:p>
        </p:txBody>
      </p:sp>
      <p:sp>
        <p:nvSpPr>
          <p:cNvPr id="26" name="TextBox 25"/>
          <p:cNvSpPr txBox="1"/>
          <p:nvPr/>
        </p:nvSpPr>
        <p:spPr>
          <a:xfrm>
            <a:off x="7964424" y="3063240"/>
            <a:ext cx="3474720"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회수·손상 관련 설명</a:t>
            </a:r>
          </a:p>
        </p:txBody>
      </p:sp>
      <p:sp>
        <p:nvSpPr>
          <p:cNvPr id="27" name="Rectangle 26"/>
          <p:cNvSpPr/>
          <p:nvPr/>
        </p:nvSpPr>
        <p:spPr>
          <a:xfrm>
            <a:off x="594360" y="3648456"/>
            <a:ext cx="10991088" cy="713232"/>
          </a:xfrm>
          <a:prstGeom prst="rect">
            <a:avLst/>
          </a:prstGeom>
          <a:solidFill>
            <a:srgbClr val="E8EDE8"/>
          </a:solidFill>
          <a:ln>
            <a:noFill/>
          </a:ln>
          <a:effectLst/>
        </p:spPr>
        <p:txBody>
          <a:bodyPr rtlCol="0" anchor="ctr"/>
          <a:lstStyle/>
          <a:p>
            <a:pPr algn="ctr"/>
          </a:p>
        </p:txBody>
      </p:sp>
      <p:sp>
        <p:nvSpPr>
          <p:cNvPr id="28" name="TextBox 27"/>
          <p:cNvSpPr txBox="1"/>
          <p:nvPr/>
        </p:nvSpPr>
        <p:spPr>
          <a:xfrm>
            <a:off x="740664" y="3776472"/>
            <a:ext cx="318211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재고 8 → 14억</a:t>
            </a:r>
          </a:p>
        </p:txBody>
      </p:sp>
      <p:sp>
        <p:nvSpPr>
          <p:cNvPr id="29" name="TextBox 28"/>
          <p:cNvSpPr txBox="1"/>
          <p:nvPr/>
        </p:nvSpPr>
        <p:spPr>
          <a:xfrm>
            <a:off x="4215384" y="3776472"/>
            <a:ext cx="345643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어떤 재고가 늘었는가</a:t>
            </a:r>
          </a:p>
        </p:txBody>
      </p:sp>
      <p:sp>
        <p:nvSpPr>
          <p:cNvPr id="30" name="TextBox 29"/>
          <p:cNvSpPr txBox="1"/>
          <p:nvPr/>
        </p:nvSpPr>
        <p:spPr>
          <a:xfrm>
            <a:off x="7964424" y="3776472"/>
            <a:ext cx="3474720"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구성·평가 관련 설명</a:t>
            </a:r>
          </a:p>
        </p:txBody>
      </p:sp>
      <p:sp>
        <p:nvSpPr>
          <p:cNvPr id="31" name="Rectangle 30"/>
          <p:cNvSpPr/>
          <p:nvPr/>
        </p:nvSpPr>
        <p:spPr>
          <a:xfrm>
            <a:off x="594360" y="4361688"/>
            <a:ext cx="10991088" cy="713232"/>
          </a:xfrm>
          <a:prstGeom prst="rect">
            <a:avLst/>
          </a:prstGeom>
          <a:solidFill>
            <a:srgbClr val="FFFFFF"/>
          </a:solidFill>
          <a:ln>
            <a:noFill/>
          </a:ln>
          <a:effectLst/>
        </p:spPr>
        <p:txBody>
          <a:bodyPr rtlCol="0" anchor="ctr"/>
          <a:lstStyle/>
          <a:p>
            <a:pPr algn="ctr"/>
          </a:p>
        </p:txBody>
      </p:sp>
      <p:sp>
        <p:nvSpPr>
          <p:cNvPr id="32" name="TextBox 31"/>
          <p:cNvSpPr txBox="1"/>
          <p:nvPr/>
        </p:nvSpPr>
        <p:spPr>
          <a:xfrm>
            <a:off x="740664" y="4489703"/>
            <a:ext cx="318211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매입채무 증가 10억</a:t>
            </a:r>
          </a:p>
        </p:txBody>
      </p:sp>
      <p:sp>
        <p:nvSpPr>
          <p:cNvPr id="33" name="TextBox 32"/>
          <p:cNvSpPr txBox="1"/>
          <p:nvPr/>
        </p:nvSpPr>
        <p:spPr>
          <a:xfrm>
            <a:off x="4215384" y="4489703"/>
            <a:ext cx="345643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지급 시점과 조건은 무엇인가</a:t>
            </a:r>
          </a:p>
        </p:txBody>
      </p:sp>
      <p:sp>
        <p:nvSpPr>
          <p:cNvPr id="34" name="TextBox 33"/>
          <p:cNvSpPr txBox="1"/>
          <p:nvPr/>
        </p:nvSpPr>
        <p:spPr>
          <a:xfrm>
            <a:off x="7964424" y="4489703"/>
            <a:ext cx="3474720"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지급 조건·관련 주석</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03 / TRY IT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CF283B"/>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같은 표로 수익성과 현금을 설명해 보세요</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관찰한 계산과 아직 확인하지 못한 원인을 두 문장으로 나눕니다.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09</a:t>
            </a:r>
          </a:p>
        </p:txBody>
      </p:sp>
      <p:sp>
        <p:nvSpPr>
          <p:cNvPr id="19" name="Rounded Rectangle 18"/>
          <p:cNvSpPr/>
          <p:nvPr/>
        </p:nvSpPr>
        <p:spPr>
          <a:xfrm>
            <a:off x="594360" y="2468880"/>
            <a:ext cx="10991088" cy="3127248"/>
          </a:xfrm>
          <a:prstGeom prst="roundRect">
            <a:avLst>
              <a:gd name="adj" fmla="val 12000"/>
            </a:avLst>
          </a:prstGeom>
          <a:solidFill>
            <a:srgbClr val="19282C"/>
          </a:solidFill>
          <a:ln>
            <a:noFill/>
          </a:ln>
          <a:effectLst/>
        </p:spPr>
        <p:txBody>
          <a:bodyPr rtlCol="0" anchor="ctr"/>
          <a:lstStyle/>
          <a:p>
            <a:pPr algn="ctr"/>
          </a:p>
        </p:txBody>
      </p:sp>
      <p:sp>
        <p:nvSpPr>
          <p:cNvPr id="20" name="TextBox 19"/>
          <p:cNvSpPr txBox="1"/>
          <p:nvPr/>
        </p:nvSpPr>
        <p:spPr>
          <a:xfrm>
            <a:off x="877824" y="2798064"/>
            <a:ext cx="10378440" cy="996696"/>
          </a:xfrm>
          <a:prstGeom prst="rect">
            <a:avLst/>
          </a:prstGeom>
          <a:noFill/>
        </p:spPr>
        <p:txBody>
          <a:bodyPr wrap="none" anchor="t" anchorCtr="0" lIns="0" rIns="0" tIns="0" bIns="0">
            <a:noAutofit/>
          </a:bodyPr>
          <a:lstStyle/>
          <a:p>
            <a:pPr algn="l">
              <a:lnSpc>
                <a:spcPct val="116000"/>
              </a:lnSpc>
              <a:spcBef>
                <a:spcPts val="0"/>
              </a:spcBef>
              <a:spcAft>
                <a:spcPts val="0"/>
              </a:spcAft>
              <a:defRPr sz="2800" b="1">
                <a:solidFill>
                  <a:srgbClr val="FFFFFF"/>
                </a:solidFill>
                <a:latin typeface="Noto Sans CJK KR"/>
                <a:ea typeface="Noto Sans CJK KR"/>
              </a:defRPr>
            </a:pPr>
            <a:r>
              <a:rPr>
                <a:ea typeface="Noto Sans CJK KR"/>
              </a:rPr>
              <a:t>매출은 +20%, 영업이익은 −20%입니다.</a:t>
            </a:r>
          </a:p>
        </p:txBody>
      </p:sp>
      <p:sp>
        <p:nvSpPr>
          <p:cNvPr id="21" name="TextBox 20"/>
          <p:cNvSpPr txBox="1"/>
          <p:nvPr/>
        </p:nvSpPr>
        <p:spPr>
          <a:xfrm>
            <a:off x="896112" y="4096512"/>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01</a:t>
            </a:r>
          </a:p>
        </p:txBody>
      </p:sp>
      <p:sp>
        <p:nvSpPr>
          <p:cNvPr id="22" name="TextBox 21"/>
          <p:cNvSpPr txBox="1"/>
          <p:nvPr/>
        </p:nvSpPr>
        <p:spPr>
          <a:xfrm>
            <a:off x="1463040" y="4087368"/>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영업이익률이 얼마나 바뀌었나요?</a:t>
            </a:r>
          </a:p>
        </p:txBody>
      </p:sp>
      <p:sp>
        <p:nvSpPr>
          <p:cNvPr id="23" name="TextBox 22"/>
          <p:cNvSpPr txBox="1"/>
          <p:nvPr/>
        </p:nvSpPr>
        <p:spPr>
          <a:xfrm>
            <a:off x="896112" y="4498848"/>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02</a:t>
            </a:r>
          </a:p>
        </p:txBody>
      </p:sp>
      <p:sp>
        <p:nvSpPr>
          <p:cNvPr id="24" name="TextBox 23"/>
          <p:cNvSpPr txBox="1"/>
          <p:nvPr/>
        </p:nvSpPr>
        <p:spPr>
          <a:xfrm>
            <a:off x="1463040" y="4489704"/>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원가율과 판관비율 중 어디가 변했나요?</a:t>
            </a:r>
          </a:p>
        </p:txBody>
      </p:sp>
      <p:sp>
        <p:nvSpPr>
          <p:cNvPr id="25" name="TextBox 24"/>
          <p:cNvSpPr txBox="1"/>
          <p:nvPr/>
        </p:nvSpPr>
        <p:spPr>
          <a:xfrm>
            <a:off x="896112" y="4901184"/>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03</a:t>
            </a:r>
          </a:p>
        </p:txBody>
      </p:sp>
      <p:sp>
        <p:nvSpPr>
          <p:cNvPr id="26" name="TextBox 25"/>
          <p:cNvSpPr txBox="1"/>
          <p:nvPr/>
        </p:nvSpPr>
        <p:spPr>
          <a:xfrm>
            <a:off x="1463040" y="4892040"/>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“원재료 가격 때문”이라고 말하려면 무엇이 더 필요한가요?</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03 / MODEL ANSWER</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CF283B"/>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완성된 분석은 계산과 미확인을 구분합니다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금액 증가만 나열하지 않고 매출 대비 비율과 다음 확인 자료를 연결합니다.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10</a:t>
            </a:r>
          </a:p>
        </p:txBody>
      </p:sp>
      <p:sp>
        <p:nvSpPr>
          <p:cNvPr id="19" name="Rectangle 18"/>
          <p:cNvSpPr/>
          <p:nvPr/>
        </p:nvSpPr>
        <p:spPr>
          <a:xfrm>
            <a:off x="594360" y="2496312"/>
            <a:ext cx="73152" cy="2926080"/>
          </a:xfrm>
          <a:prstGeom prst="rect">
            <a:avLst/>
          </a:prstGeom>
          <a:solidFill>
            <a:srgbClr val="CF283B"/>
          </a:solidFill>
          <a:ln>
            <a:noFill/>
          </a:ln>
          <a:effectLst/>
        </p:spPr>
        <p:txBody>
          <a:bodyPr rtlCol="0" anchor="ctr"/>
          <a:lstStyle/>
          <a:p>
            <a:pPr algn="ctr"/>
          </a:p>
        </p:txBody>
      </p:sp>
      <p:sp>
        <p:nvSpPr>
          <p:cNvPr id="20" name="TextBox 19"/>
          <p:cNvSpPr txBox="1"/>
          <p:nvPr/>
        </p:nvSpPr>
        <p:spPr>
          <a:xfrm>
            <a:off x="950976" y="2670048"/>
            <a:ext cx="10222992" cy="181051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“원가율이 60%에서 65%로 높아져</a:t>
            </a:r>
          </a:p>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영업이익률이 15%에서 10%로 낮아졌다.”</a:t>
            </a:r>
          </a:p>
        </p:txBody>
      </p:sp>
      <p:sp>
        <p:nvSpPr>
          <p:cNvPr id="21" name="TextBox 20"/>
          <p:cNvSpPr txBox="1"/>
          <p:nvPr/>
        </p:nvSpPr>
        <p:spPr>
          <a:xfrm>
            <a:off x="960120" y="4745736"/>
            <a:ext cx="10168128" cy="73152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5C6B6E"/>
                </a:solidFill>
                <a:latin typeface="Noto Sans CJK KR"/>
                <a:ea typeface="Noto Sans CJK KR"/>
              </a:defRPr>
            </a:pPr>
            <a:r>
              <a:rPr>
                <a:ea typeface="Noto Sans CJK KR"/>
              </a:rPr>
              <a:t>추가 확인: 원재료 매입가격 · 판매가격 · 제품 구성 중 어떤 항목이 변했는가</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03 / PRACTICE</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CF283B"/>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실습 결과는 다시 찾고 검산할 수 있게 남깁니다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실제 기업으로 연습할 때에는 한빛식품의 가상 수치를 가져다 쓰지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11</a:t>
            </a:r>
          </a:p>
        </p:txBody>
      </p:sp>
      <p:sp>
        <p:nvSpPr>
          <p:cNvPr id="19" name="TextBox 18"/>
          <p:cNvSpPr txBox="1"/>
          <p:nvPr/>
        </p:nvSpPr>
        <p:spPr>
          <a:xfrm>
            <a:off x="594360"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01</a:t>
            </a:r>
          </a:p>
        </p:txBody>
      </p:sp>
      <p:cxnSp>
        <p:nvCxnSpPr>
          <p:cNvPr id="20" name="Connector 19"/>
          <p:cNvCxnSpPr/>
          <p:nvPr/>
        </p:nvCxnSpPr>
        <p:spPr>
          <a:xfrm>
            <a:off x="594360" y="2926080"/>
            <a:ext cx="3407664" cy="0"/>
          </a:xfrm>
          <a:prstGeom prst="line">
            <a:avLst/>
          </a:prstGeom>
          <a:ln w="25400">
            <a:solidFill>
              <a:srgbClr val="D8DEDA"/>
            </a:solidFill>
          </a:ln>
          <a:effectLst/>
        </p:spPr>
      </p:cxnSp>
      <p:sp>
        <p:nvSpPr>
          <p:cNvPr id="21" name="TextBox 20"/>
          <p:cNvSpPr txBox="1"/>
          <p:nvPr/>
        </p:nvSpPr>
        <p:spPr>
          <a:xfrm>
            <a:off x="594360"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원문 위치</a:t>
            </a:r>
          </a:p>
        </p:txBody>
      </p:sp>
      <p:sp>
        <p:nvSpPr>
          <p:cNvPr id="22" name="TextBox 21"/>
          <p:cNvSpPr txBox="1"/>
          <p:nvPr/>
        </p:nvSpPr>
        <p:spPr>
          <a:xfrm>
            <a:off x="594360"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출처 기록</a:t>
            </a:r>
          </a:p>
        </p:txBody>
      </p:sp>
      <p:sp>
        <p:nvSpPr>
          <p:cNvPr id="23" name="TextBox 22"/>
          <p:cNvSpPr txBox="1"/>
          <p:nvPr/>
        </p:nvSpPr>
        <p:spPr>
          <a:xfrm>
            <a:off x="594360"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링크 · 표 제목 · 확인일</a:t>
            </a:r>
          </a:p>
        </p:txBody>
      </p:sp>
      <p:sp>
        <p:nvSpPr>
          <p:cNvPr id="24" name="TextBox 23"/>
          <p:cNvSpPr txBox="1"/>
          <p:nvPr/>
        </p:nvSpPr>
        <p:spPr>
          <a:xfrm>
            <a:off x="4002024"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25" name="TextBox 24"/>
          <p:cNvSpPr txBox="1"/>
          <p:nvPr/>
        </p:nvSpPr>
        <p:spPr>
          <a:xfrm>
            <a:off x="4386072"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02</a:t>
            </a:r>
          </a:p>
        </p:txBody>
      </p:sp>
      <p:cxnSp>
        <p:nvCxnSpPr>
          <p:cNvPr id="26" name="Connector 25"/>
          <p:cNvCxnSpPr/>
          <p:nvPr/>
        </p:nvCxnSpPr>
        <p:spPr>
          <a:xfrm>
            <a:off x="4386072" y="2926080"/>
            <a:ext cx="3407664" cy="0"/>
          </a:xfrm>
          <a:prstGeom prst="line">
            <a:avLst/>
          </a:prstGeom>
          <a:ln w="25400">
            <a:solidFill>
              <a:srgbClr val="D8DEDA"/>
            </a:solidFill>
          </a:ln>
          <a:effectLst/>
        </p:spPr>
      </p:cxnSp>
      <p:sp>
        <p:nvSpPr>
          <p:cNvPr id="27" name="TextBox 26"/>
          <p:cNvSpPr txBox="1"/>
          <p:nvPr/>
        </p:nvSpPr>
        <p:spPr>
          <a:xfrm>
            <a:off x="4386072"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비교 표</a:t>
            </a:r>
          </a:p>
        </p:txBody>
      </p:sp>
      <p:sp>
        <p:nvSpPr>
          <p:cNvPr id="28" name="TextBox 27"/>
          <p:cNvSpPr txBox="1"/>
          <p:nvPr/>
        </p:nvSpPr>
        <p:spPr>
          <a:xfrm>
            <a:off x="4386072"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기준 통일</a:t>
            </a:r>
          </a:p>
        </p:txBody>
      </p:sp>
      <p:sp>
        <p:nvSpPr>
          <p:cNvPr id="29" name="TextBox 28"/>
          <p:cNvSpPr txBox="1"/>
          <p:nvPr/>
        </p:nvSpPr>
        <p:spPr>
          <a:xfrm>
            <a:off x="4386072"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기간 · 단위 · 연결 범위</a:t>
            </a:r>
          </a:p>
        </p:txBody>
      </p:sp>
      <p:sp>
        <p:nvSpPr>
          <p:cNvPr id="30" name="TextBox 29"/>
          <p:cNvSpPr txBox="1"/>
          <p:nvPr/>
        </p:nvSpPr>
        <p:spPr>
          <a:xfrm>
            <a:off x="7793736"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31" name="TextBox 30"/>
          <p:cNvSpPr txBox="1"/>
          <p:nvPr/>
        </p:nvSpPr>
        <p:spPr>
          <a:xfrm>
            <a:off x="8177784"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03</a:t>
            </a:r>
          </a:p>
        </p:txBody>
      </p:sp>
      <p:cxnSp>
        <p:nvCxnSpPr>
          <p:cNvPr id="32" name="Connector 31"/>
          <p:cNvCxnSpPr/>
          <p:nvPr/>
        </p:nvCxnSpPr>
        <p:spPr>
          <a:xfrm>
            <a:off x="8177784" y="2926080"/>
            <a:ext cx="3407664" cy="0"/>
          </a:xfrm>
          <a:prstGeom prst="line">
            <a:avLst/>
          </a:prstGeom>
          <a:ln w="25400">
            <a:solidFill>
              <a:srgbClr val="D8DEDA"/>
            </a:solidFill>
          </a:ln>
          <a:effectLst/>
        </p:spPr>
      </p:cxnSp>
      <p:sp>
        <p:nvSpPr>
          <p:cNvPr id="33" name="TextBox 32"/>
          <p:cNvSpPr txBox="1"/>
          <p:nvPr/>
        </p:nvSpPr>
        <p:spPr>
          <a:xfrm>
            <a:off x="8177784"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분석 문장</a:t>
            </a:r>
          </a:p>
        </p:txBody>
      </p:sp>
      <p:sp>
        <p:nvSpPr>
          <p:cNvPr id="34" name="TextBox 33"/>
          <p:cNvSpPr txBox="1"/>
          <p:nvPr/>
        </p:nvSpPr>
        <p:spPr>
          <a:xfrm>
            <a:off x="8177784"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사실 + 질문</a:t>
            </a:r>
          </a:p>
        </p:txBody>
      </p:sp>
      <p:sp>
        <p:nvSpPr>
          <p:cNvPr id="35" name="TextBox 34"/>
          <p:cNvSpPr txBox="1"/>
          <p:nvPr/>
        </p:nvSpPr>
        <p:spPr>
          <a:xfrm>
            <a:off x="8177784"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계산 결과 · 미확인 원인</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03 / REFERENCE</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CF283B"/>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수업 자료와 다음 확인 항목</a:t>
            </a:r>
          </a:p>
        </p:txBody>
      </p:sp>
      <p:sp>
        <p:nvSpPr>
          <p:cNvPr id="13" name="TextBox 12"/>
          <p:cNvSpPr txBox="1"/>
          <p:nvPr/>
        </p:nvSpPr>
        <p:spPr>
          <a:xfrm>
            <a:off x="612648" y="1810512"/>
            <a:ext cx="109728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가상 사례의 계산과 실제 원문 조사를 구분합니다.</a:t>
            </a:r>
          </a:p>
        </p:txBody>
      </p:sp>
      <p:cxnSp>
        <p:nvCxnSpPr>
          <p:cNvPr id="14" name="Connector 13"/>
          <p:cNvCxnSpPr/>
          <p:nvPr/>
        </p:nvCxnSpPr>
        <p:spPr>
          <a:xfrm>
            <a:off x="594360" y="6455664"/>
            <a:ext cx="11000232" cy="0"/>
          </a:xfrm>
          <a:prstGeom prst="line">
            <a:avLst/>
          </a:prstGeom>
          <a:ln w="19050">
            <a:solidFill>
              <a:srgbClr val="D8DEDA"/>
            </a:solidFill>
          </a:ln>
          <a:effectLst/>
        </p:spPr>
      </p:cxnSp>
      <p:sp>
        <p:nvSpPr>
          <p:cNvPr id="15" name="TextBox 14"/>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6" name="TextBox 15"/>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7" name="TextBox 16"/>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12</a:t>
            </a:r>
          </a:p>
        </p:txBody>
      </p:sp>
      <p:sp>
        <p:nvSpPr>
          <p:cNvPr id="18" name="TextBox 17"/>
          <p:cNvSpPr txBox="1"/>
          <p:nvPr/>
        </p:nvSpPr>
        <p:spPr>
          <a:xfrm>
            <a:off x="713232" y="2404872"/>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금융감독원 DART · 보고서 정보</a:t>
            </a:r>
          </a:p>
        </p:txBody>
      </p:sp>
      <p:sp>
        <p:nvSpPr>
          <p:cNvPr id="19" name="TextBox 18"/>
          <p:cNvSpPr txBox="1"/>
          <p:nvPr/>
        </p:nvSpPr>
        <p:spPr>
          <a:xfrm>
            <a:off x="713232" y="2834639"/>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2"/>
              </a:rPr>
              <a:t>https://dart.fss.or.kr/introduction/content2.do</a:t>
            </a:r>
          </a:p>
        </p:txBody>
      </p:sp>
      <p:sp>
        <p:nvSpPr>
          <p:cNvPr id="20" name="TextBox 19"/>
          <p:cNvSpPr txBox="1"/>
          <p:nvPr/>
        </p:nvSpPr>
        <p:spPr>
          <a:xfrm>
            <a:off x="713232" y="3355848"/>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금융감독원 DART · 공시 검색</a:t>
            </a:r>
          </a:p>
        </p:txBody>
      </p:sp>
      <p:sp>
        <p:nvSpPr>
          <p:cNvPr id="21" name="TextBox 20"/>
          <p:cNvSpPr txBox="1"/>
          <p:nvPr/>
        </p:nvSpPr>
        <p:spPr>
          <a:xfrm>
            <a:off x="713232" y="3785615"/>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3"/>
              </a:rPr>
              <a:t>https://dart.fss.or.kr/dsab007/main.do</a:t>
            </a:r>
          </a:p>
        </p:txBody>
      </p:sp>
      <p:sp>
        <p:nvSpPr>
          <p:cNvPr id="22" name="TextBox 21"/>
          <p:cNvSpPr txBox="1"/>
          <p:nvPr/>
        </p:nvSpPr>
        <p:spPr>
          <a:xfrm>
            <a:off x="713232" y="4306824"/>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SEC · 재무제표 입문</a:t>
            </a:r>
          </a:p>
        </p:txBody>
      </p:sp>
      <p:sp>
        <p:nvSpPr>
          <p:cNvPr id="23" name="TextBox 22"/>
          <p:cNvSpPr txBox="1"/>
          <p:nvPr/>
        </p:nvSpPr>
        <p:spPr>
          <a:xfrm>
            <a:off x="713232" y="4736592"/>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4"/>
              </a:rPr>
              <a:t>https://www.sec.gov/about/reports-publications/investorpubsbegfinstmtguide</a:t>
            </a:r>
          </a:p>
        </p:txBody>
      </p:sp>
      <p:sp>
        <p:nvSpPr>
          <p:cNvPr id="24" name="TextBox 23"/>
          <p:cNvSpPr txBox="1"/>
          <p:nvPr/>
        </p:nvSpPr>
        <p:spPr>
          <a:xfrm>
            <a:off x="731520" y="5678424"/>
            <a:ext cx="10744200" cy="411480"/>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한빛식품·계약 문장·거래 기록은 교육을 위해 만든 가상 자료입니다.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아미콤 투자 스터디 3주차 · 기업과 재무제표</dc:title>
  <dc:subject>가상 기업 자료를 활용한 투자 입문 수업</dc:subject>
  <dc:creator>아미콤 투자 스터디</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
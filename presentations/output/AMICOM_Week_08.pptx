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하나의 질문, 검산 가능한 숫자,</a:t>
            </a:r>
          </a:p>
          <a:p>
            <a:r>
              <a:t>반대 조건이 있는 최종 발표를 만듭니다.</a:t>
            </a:r>
          </a:p>
          <a:p/>
          <a:p>
            <a:r>
              <a:t>[권장 진행]</a:t>
            </a:r>
          </a:p>
          <a:p>
            <a:r>
              <a:t>도입 5분</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각 표와 사례가 이 질문에 어떤 답을 주는지 설명합니다.</a:t>
            </a:r>
          </a:p>
          <a:p/>
          <a:p>
            <a:r>
              <a:t>[권장 진행]</a:t>
            </a:r>
          </a:p>
          <a:p>
            <a:r>
              <a:t>설명 4분 · 질문 2분</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자료를 많이 나열하기보다 질문 → 근거 → 해석 → 다음 행동으로 연결합니다.</a:t>
            </a:r>
          </a:p>
          <a:p/>
          <a:p>
            <a:r>
              <a:t>[권장 진행]</a:t>
            </a:r>
          </a:p>
          <a:p>
            <a:r>
              <a:t>개요 작성 8분 · 짝에게 1분 설명</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매출 증가와 수익성 개선을 같은 의미로 사용하지 않습니다.</a:t>
            </a:r>
          </a:p>
          <a:p/>
          <a:p>
            <a:r>
              <a:t>[권장 진행]</a:t>
            </a:r>
          </a:p>
          <a:p>
            <a:r>
              <a:t>설명 4분 · 질문 2분</a:t>
            </a:r>
          </a:p>
          <a:p/>
          <a:p>
            <a:r>
              <a:t>[설명 원고]</a:t>
            </a:r>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기간·계산 기준·계약 조건을 숫자와 같은 화면에 표시합니다.</a:t>
            </a:r>
          </a:p>
          <a:p/>
          <a:p>
            <a:r>
              <a:t>[권장 진행]</a:t>
            </a:r>
          </a:p>
          <a:p>
            <a:r>
              <a:t>설명 4분 · 질문 2분</a:t>
            </a:r>
          </a:p>
          <a:p/>
          <a:p>
            <a:r>
              <a:t>[설명 원고]</a:t>
            </a:r>
          </a:p>
          <a:p>
            <a:r>
              <a:t>슬라이드 초안에 ‘한빛식품, 매출 120억, PER 20배, 계약 30억 호재’라고만 적혀 있다고 해 보겠습니다. 매출의 기간과 단위 범위, PER의 EPS 기준, 계약의 기간과 조건이 빠져 있습니다. 듣는 사람은 세 숫자가 같은 시점에 같은 수준으로 확정된 사실이라고 오해할 수 있습니다. 숫자마다 무엇을 측정하는지 표시해야 합니다.</a:t>
            </a:r>
          </a:p>
          <a:p/>
          <a:p>
            <a:r>
              <a:t>수정 표에는 ‘2025년 연간 연결 가상 매출 120억 원’, ‘가정 주가 20,000원 / 2025년 EPS 800원 = PER 25배’, ‘다음 해 12개월 공급계약 금액 30억 원 / 요청 물량 조건’이라고 씁니다. 이전 EPS 1,000원을 사용한 PER 20배는 다른 기준임을 별도로 표시합니다. 실제 기업 발표라면 각 행 근처에 원문 링크·표 제목·확인일을 넣어 다른 사람이 동일 자료를 찾을 수 있게 합니다.</a:t>
            </a:r>
          </a:p>
          <a:p/>
          <a:p>
            <a:r>
              <a:t>청중에게 표를 보여 준 뒤 ‘매출은 기간 성과, PER는 이익 대비 가격, 계약은 정해진 조건의 금액이라 서로 바로 더할 수 없다’고 설명합니다. 가격 차트에는 기간과 축을 표시하고, 뉴스 시각은 해당 사건과 맞춥니다. 발표자가 알아보는 축약어만 쓰지 말고 EPS를 처음 사용할 때 ‘보통주 한 주에 해당하는 이익’이라고 정의한 뒤 식을 설명합니다.</a:t>
            </a:r>
          </a:p>
          <a:p/>
          <a:p>
            <a:r>
              <a:t>제출 전 점검 예시: 120억이 백만 원 단위 12,000에서 올바르게 환산됐는가? 800원 EPS와 25배 PER가 맞는가? 계약 30억을 매출에 미리 더하지 않았는가? 가상 자료가 실제 공시처럼 보이지 않는가? 한 항목이라도 설명하지 못하면 숫자를 더 넣기보다 그 기준부터 수정합니다. 원문이 없는 이 수업의 가상 수치는 출처를 만들어 붙이지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판단 유보도 근거와 다음 확인 항목이 있으면 설명 가능한 결론입니다.</a:t>
            </a:r>
          </a:p>
          <a:p/>
          <a:p>
            <a:r>
              <a:t>[권장 진행]</a:t>
            </a:r>
          </a:p>
          <a:p>
            <a:r>
              <a:t>설명 4분 · 질문 2분</a:t>
            </a:r>
          </a:p>
          <a:p/>
          <a:p>
            <a:r>
              <a:t>[설명 원고]</a:t>
            </a:r>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모르는 숫자를 즉석에서 만들어 답하지 않습니다.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수익률 순위를 발표 품질의 점수로 사용하지 않습니다.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발표자 노트의 완성 원고를 참고하고 자신의 조사 자료로 바꾸어 설명합니다.</a:t>
            </a:r>
          </a:p>
          <a:p/>
          <a:p>
            <a:r>
              <a:t>[권장 진행]</a:t>
            </a:r>
          </a:p>
          <a:p>
            <a:r>
              <a:t>개인 5분 발표 · 피드백 3분 / 인원에 따라 조별 진행</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8주 동안 배운 내용을 다음 의사결정에서 확인 가능한 행동으로 연결합니다.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최종 자료를 정리하고 다음 한 달 동안 점검할 학습 계획을 작성합니다.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dsab007/main.do" TargetMode="External"/><Relationship Id="rId3" Type="http://schemas.openxmlformats.org/officeDocument/2006/relationships/hyperlink" Target="https://www.investor.gov/introduction-investing/getting-started/asset-allocation" TargetMode="External"/><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08</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내 판단을</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근거로 설명하기</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하나의 질문, 검산 가능한 숫자,</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반대 조건이 있는 최종 발표를 만듭니다.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08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발표는 하나의 질문에서 시작합니다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각 표와 사례가 이 질문에 어떤 답을 주는지 설명합니다.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 증가만으로</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투자 판단을 뒷받침할 수 있는가?”</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오늘의 잠정 결론: 이익률·현금·평가 기준·계약 조건을 함께 확인해야 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발표의 흐름을 먼저 설계합니다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자료를 많이 나열하기보다 질문 → 근거 → 해석 → 다음 행동으로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무엇을 봤는가</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사업과 자료</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같은 기준의 수치 제시</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어떻게 해석했는가</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계산과 가정</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반대 설명도 함께 검토</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무엇을 바꿀 것인가</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판단과 다음 확인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미확인 항목 · 수정할 원칙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사업과 실적: 함께 보여 줘야 할 세 숫자</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매출 증가와 수익성 개선을 같은 의미로 사용하지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매출 성장률</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+20%</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100억 → 120억</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영업이익 성장률</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−20%</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15억 → 12억</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영업이익률</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15% → 10%</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원가율은 60% →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가격과 뉴스: 빠진 조건을 표시합니다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기간·계산 기준·계약 조건을 숫자와 같은 화면에 표시합니다.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64515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확인한 사실</a:t>
            </a:r>
          </a:p>
        </p:txBody>
      </p:sp>
      <p:sp>
        <p:nvSpPr>
          <p:cNvPr id="21" name="TextBox 20"/>
          <p:cNvSpPr txBox="1"/>
          <p:nvPr/>
        </p:nvSpPr>
        <p:spPr>
          <a:xfrm>
            <a:off x="5678424" y="2532888"/>
            <a:ext cx="576072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그대로 결론 낼 수 없는 것</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주가 2만 원 · EPS 800원</a:t>
            </a:r>
          </a:p>
        </p:txBody>
      </p:sp>
      <p:sp>
        <p:nvSpPr>
          <p:cNvPr id="24" name="TextBox 23"/>
          <p:cNvSpPr txBox="1"/>
          <p:nvPr/>
        </p:nvSpPr>
        <p:spPr>
          <a:xfrm>
            <a:off x="5678424" y="3063240"/>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과거 EPS의 PER 20배를 현재 기준처럼 표시</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회복 EPS 1,000원 가정</a:t>
            </a:r>
          </a:p>
        </p:txBody>
      </p:sp>
      <p:sp>
        <p:nvSpPr>
          <p:cNvPr id="27" name="TextBox 26"/>
          <p:cNvSpPr txBox="1"/>
          <p:nvPr/>
        </p:nvSpPr>
        <p:spPr>
          <a:xfrm>
            <a:off x="5678424" y="3776472"/>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평가 배수 없이 가격 상승을 확정</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30억 · 다음 해 공급</a:t>
            </a:r>
          </a:p>
        </p:txBody>
      </p:sp>
      <p:sp>
        <p:nvSpPr>
          <p:cNvPr id="30" name="TextBox 29"/>
          <p:cNvSpPr txBox="1"/>
          <p:nvPr/>
        </p:nvSpPr>
        <p:spPr>
          <a:xfrm>
            <a:off x="5678424" y="4489703"/>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당기 매출·이익에 계약 금액을 전액 합산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분석의 결론은 확인 범위와 다음 행동을 포함합니다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판단 유보도 근거와 다음 확인 항목이 있으면 설명 가능한 결론입니다.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“원가율 변화의 이유, 대금 회수,</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계약의 신규 물량과 인식 시점을 확인하겠다.”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제시하지 않은 것: 확정된 미래 주가, 계산 근거가 없는 추가 이익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질의응답은 숫자와 조건으로 답합니다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모르는 숫자를 즉석에서 만들어 답하지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46227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받은 질문</a:t>
            </a:r>
          </a:p>
        </p:txBody>
      </p:sp>
      <p:sp>
        <p:nvSpPr>
          <p:cNvPr id="21" name="TextBox 20"/>
          <p:cNvSpPr txBox="1"/>
          <p:nvPr/>
        </p:nvSpPr>
        <p:spPr>
          <a:xfrm>
            <a:off x="5495544" y="2532888"/>
            <a:ext cx="594360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답변의 핵심</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“매출이 늘었는데 왜 조심스럽죠?”</a:t>
            </a:r>
          </a:p>
        </p:txBody>
      </p:sp>
      <p:sp>
        <p:nvSpPr>
          <p:cNvPr id="24" name="TextBox 23"/>
          <p:cNvSpPr txBox="1"/>
          <p:nvPr/>
        </p:nvSpPr>
        <p:spPr>
          <a:xfrm>
            <a:off x="5495544" y="3063240"/>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영업이익 −20%, 원가율 +5%포인트도 함께 확인</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30억이면 이익도 30억 아닌가요?”</a:t>
            </a:r>
          </a:p>
        </p:txBody>
      </p:sp>
      <p:sp>
        <p:nvSpPr>
          <p:cNvPr id="27" name="TextBox 26"/>
          <p:cNvSpPr txBox="1"/>
          <p:nvPr/>
        </p:nvSpPr>
        <p:spPr>
          <a:xfrm>
            <a:off x="5495544" y="3776472"/>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공급 시점·신규 물량·원가를 알아야 이익 계산 가능</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“그래서 내일 오릅니까?”</a:t>
            </a:r>
          </a:p>
        </p:txBody>
      </p:sp>
      <p:sp>
        <p:nvSpPr>
          <p:cNvPr id="30" name="TextBox 29"/>
          <p:cNvSpPr txBox="1"/>
          <p:nvPr/>
        </p:nvSpPr>
        <p:spPr>
          <a:xfrm>
            <a:off x="5495544" y="4489703"/>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지금 자료로 확정할 수 없음 · 검토한 가정 설명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PEER REVIEW</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동료 피드백은 고칠 수 있는 항목으로 남깁니다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수익률 순위를 발표 품질의 점수로 사용하지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27249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평가할 것</a:t>
            </a:r>
          </a:p>
        </p:txBody>
      </p:sp>
      <p:sp>
        <p:nvSpPr>
          <p:cNvPr id="21" name="TextBox 20"/>
          <p:cNvSpPr txBox="1"/>
          <p:nvPr/>
        </p:nvSpPr>
        <p:spPr>
          <a:xfrm>
            <a:off x="3758183" y="2532888"/>
            <a:ext cx="768096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확인 질문</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자료 추적</a:t>
            </a:r>
          </a:p>
        </p:txBody>
      </p:sp>
      <p:sp>
        <p:nvSpPr>
          <p:cNvPr id="24" name="TextBox 23"/>
          <p:cNvSpPr txBox="1"/>
          <p:nvPr/>
        </p:nvSpPr>
        <p:spPr>
          <a:xfrm>
            <a:off x="3758183" y="306324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원문·기간·단위·범위를 다시 찾을 수 있는가</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계산 일관성</a:t>
            </a:r>
          </a:p>
        </p:txBody>
      </p:sp>
      <p:sp>
        <p:nvSpPr>
          <p:cNvPr id="27" name="TextBox 26"/>
          <p:cNvSpPr txBox="1"/>
          <p:nvPr/>
        </p:nvSpPr>
        <p:spPr>
          <a:xfrm>
            <a:off x="3758183" y="377035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같은 기준의 숫자로 식을 검산할 수 있는가</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판단의 한계</a:t>
            </a:r>
          </a:p>
        </p:txBody>
      </p:sp>
      <p:sp>
        <p:nvSpPr>
          <p:cNvPr id="30" name="TextBox 29"/>
          <p:cNvSpPr txBox="1"/>
          <p:nvPr/>
        </p:nvSpPr>
        <p:spPr>
          <a:xfrm>
            <a:off x="3758183" y="447746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반대 근거와 미확인을 구분했는가</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개선 행동</a:t>
            </a:r>
          </a:p>
        </p:txBody>
      </p:sp>
      <p:sp>
        <p:nvSpPr>
          <p:cNvPr id="33" name="TextBox 32"/>
          <p:cNvSpPr txBox="1"/>
          <p:nvPr/>
        </p:nvSpPr>
        <p:spPr>
          <a:xfrm>
            <a:off x="3758183" y="518457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다음 주문에서 무엇을 바꿀지 구체적인가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REHEARSAL</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5분 발표를 실제로 리허설합니다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발표자 노트의 완성 원고를 참고하고 자신의 조사 자료로 바꾸어 설명합니다.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질문 → 근거 → 해석 → 다음 확인</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1분: 질문과 자료의 범위 / 2분: 실적·가격·뉴스 근거</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1분: 반대 조건과 남은 질문 / 1분: 수정한 투자 원칙</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동료는 이해되지 않은 숫자 한 개와 수정할 문장 한 개를 기록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CLOSING</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판단에 남길 한 문장</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8주 동안 배운 내용을 다음 의사결정에서 확인 가능한 행동으로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“내 판단을 설명할 수 있는 자료를 남기고,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틀린 가정을 확인하면 원칙을 수정한다.”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최종 제출: 분석 발표 · 원문 목록 · 계산표 · 유지할 원칙 · 바꿀 행동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https://dart.fss.or.kr/dsab007/main.do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https://www.investor.gov/introduction-investing/getting-started/asset-allocation</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8주차 · 최종 발표와 나의 원칙</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
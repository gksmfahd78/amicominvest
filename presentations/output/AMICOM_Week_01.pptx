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주식의 의미와 계좌 수익률을</a:t>
            </a:r>
          </a:p>
          <a:p>
            <a:r>
              <a:t>하나의 가상 회사로 설명합니다.</a:t>
            </a:r>
          </a:p>
          <a:p/>
          <a:p>
            <a:r>
              <a:t>[권장 진행]</a:t>
            </a:r>
          </a:p>
          <a:p>
            <a:r>
              <a:t>도입 5분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회사가 1주당 100원을 배당하기로 결정하고 내가 배당을 받을 조건을 충족했다면 10주의 배당은 1,000원입니다. 반대로 올해 이익을 설비에 재투자해 배당하지 않을 수도 있습니다. 따라서 주주의 수익을 설명할 때는 주가 변화와 실제 받은 배당을 따로 적습니다. 기존 주식을 다른 투자자에게 사는 거래에서는 매수 대금이 그 매도자에게 가며, 기업이 새 주식을 발행해 자금을 조달하는 거래와 구분합니다.</a:t>
            </a:r>
          </a:p>
          <a:p/>
          <a:p>
            <a:r>
              <a:t>발표할 때는 이렇게 설명합니다. ‘저는 한빛식품 10주, 전체의 0.001%를 보유한다고 가정했습니다. 주당 가격 2만 원과 연간 매출 120억 원은 다른 지표입니다. 제 투자 결과는 나중에 거래한 가격과 받은 배당, 부담한 비용으로 계산합니다.’ ‘유명한 회사니까 오른다’는 말은 지분이나 가격에 대한 설명이 아니므로 이 문장의 결론으로 붙이지 않습니다.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주식은 기업의 지분입니다. 매출의 일정 비율을 매일 받는 권리는 아닙니다.</a:t>
            </a:r>
          </a:p>
          <a:p/>
          <a:p>
            <a:r>
              <a:t>[권장 진행]</a:t>
            </a:r>
          </a:p>
          <a:p>
            <a:r>
              <a:t>설명 4분 · 질문 2분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회사가 1주당 100원을 배당하기로 결정하고 내가 배당을 받을 조건을 충족했다면 10주의 배당은 1,000원입니다. 반대로 올해 이익을 설비에 재투자해 배당하지 않을 수도 있습니다. 따라서 주주의 수익을 설명할 때는 주가 변화와 실제 받은 배당을 따로 적습니다. 기존 주식을 다른 투자자에게 사는 거래에서는 매수 대금이 그 매도자에게 가며, 기업이 새 주식을 발행해 자금을 조달하는 거래와 구분합니다.</a:t>
            </a:r>
          </a:p>
          <a:p/>
          <a:p>
            <a:r>
              <a:t>발표할 때는 이렇게 설명합니다. ‘저는 한빛식품 10주, 전체의 0.001%를 보유한다고 가정했습니다. 주당 가격 2만 원과 연간 매출 120억 원은 다른 지표입니다. 제 투자 결과는 나중에 거래한 가격과 받은 배당, 부담한 비용으로 계산합니다.’ ‘유명한 회사니까 오른다’는 말은 지분이나 가격에 대한 설명이 아니므로 이 문장의 결론으로 붙이지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주가가 올라 시가총액이 커져도, 그만큼 매출이 생긴 것은 아닙니다.</a:t>
            </a:r>
          </a:p>
          <a:p/>
          <a:p>
            <a:r>
              <a:t>[권장 진행]</a:t>
            </a:r>
          </a:p>
          <a:p>
            <a:r>
              <a:t>설명 4분 · 질문 2분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가격 수익률과 배당·비용을 반영한 총수익률을 구분합니다.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계좌 전체의 돈과 이 종목에 넣은 돈을 따로 표시합니다.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비용이 이미 반영된 금액이라면 다시 차감하지 않습니다.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종목 비중 20% × 종목 수익률 −4.6% = 계좌 수익률 −0.92%</a:t>
            </a:r>
          </a:p>
          <a:p/>
          <a:p>
            <a:r>
              <a:t>[권장 진행]</a:t>
            </a:r>
          </a:p>
          <a:p>
            <a:r>
              <a:t>설명 4분 · 질문 2분</a:t>
            </a:r>
          </a:p>
          <a:p/>
          <a:p>
            <a:r>
              <a:t>[설명 원고]</a:t>
            </a:r>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먼저 각 구간의 기준 금액을 적습니다.</a:t>
            </a:r>
          </a:p>
          <a:p/>
          <a:p>
            <a:r>
              <a:t>[권장 진행]</a:t>
            </a:r>
          </a:p>
          <a:p>
            <a:r>
              <a:t>개별 계산 3분 · 짝과 비교 3분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다음 장을 보여 주기 전에 96만 원과 100만 원 중 어느 값인지 손을 들어 답하게 합니다.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−20%와 +20%는 서로 상쇄되지 않습니다.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수익률을 더하지 않고 금액에 순서대로 곱하는 이유를 설명합니다.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“신중하게 투자한다”를 동료가 확인할 수 있는 행동으로 바꿉니다.</a:t>
            </a:r>
          </a:p>
          <a:p/>
          <a:p>
            <a:r>
              <a:t>[권장 진행]</a:t>
            </a:r>
          </a:p>
          <a:p>
            <a:r>
              <a:t>원칙 작성 8분 · 토론 7분</a:t>
            </a:r>
          </a:p>
          <a:p/>
          <a:p>
            <a:r>
              <a:t>[설명 원고]</a:t>
            </a:r>
          </a:p>
          <a:p>
            <a:r>
              <a:t>가상의 학습자 민수는 한 달 뒤 수강료로 쓸 100만 원과 8주 모의 실습용 계좌를 가지고 있습니다. ‘가격이 내려도 참겠다’고 말하지만 수강료 납부일에는 돈이 필요합니다. 여기서 먼저 정할 것은 매수할 종목이 아니라 자금 사용 시점입니다. 생활에 필요한 실제 자금과 모의 실습 기록을 분리하고, 이 수업의 주문 연습은 가상 계좌에서 진행합니다.</a:t>
            </a:r>
          </a:p>
          <a:p/>
          <a:p>
            <a:r>
              <a:t>민수가 적은 ‘한빛식품이 좋아 보여서 산다’에는 조사 근거가 없습니다. 이를 ‘판매가격 인상이 매출 증가에 기여했는지 사업 설명에서 확인하고, 이익률이 함께 유지됐는지 계산한다’로 바꿉니다. 아직 판매가격 자료를 못 찾았다면 ‘가격 인상 여부 미확인’이라고 적습니다. 확인되지 않은 이유를 사실로 쓰면 뒤에서 수익이 나더라도 무엇을 잘 판단했는지 평가할 수 없습니다.</a:t>
            </a:r>
          </a:p>
          <a:p/>
          <a:p>
            <a:r>
              <a:t>주문 전 메모를 실제로 채워 봅니다. 목적: 수익성 비교 연습. 확인 자료: 같은 연간 기준의 매출·영업이익. 가정: 매출 성장이 이익 증가로 이어진다. 수정 조건: 매출은 증가하지만 영업이익률이 하락하면 성장 원인을 다시 조사한다. 다음 확인: 비용 구성과 판매가격 설명. 이 예시는 매수 추천이 아니라 판단 조건을 기록하는 형식입니다.</a:t>
            </a:r>
          </a:p>
          <a:p/>
          <a:p>
            <a:r>
              <a:t>동료가 ‘가정이 틀렸는지 어떻게 알죠?’라고 물으면 ‘이익률을 계산해 전년과 비교합니다’라고 답할 수 있어야 합니다. ‘마음이 불안해지면’이나 ‘주가가 오르면 맞은 판단’은 사업 가설을 검증하는 기준이 아닙니다. 첫 주에 작성한 메모를 보존하고 3주차의 실제 계산 뒤 어디가 바뀌었는지 표시하면, 수익 결과에 맞춰 과거의 이유를 고쳐 쓰는 실수를 줄일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나의 모의투자 원칙 3개와 8주 뒤 확인할 학습 목표 1개를 작성합니다.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vestor.gov/introduction-investing/getting-started/asset-allocation" TargetMode="External"/><Relationship Id="rId3" Type="http://schemas.openxmlformats.org/officeDocument/2006/relationships/hyperlink" Target="https://www.investor.gov/introduction-investing" TargetMode="External"/><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01</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가격을 보기 전에,</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무엇을 사는지 이해하기</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주식의 의미와 계좌 수익률을</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하나의 가상 회사로 설명합니다.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01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오늘의 질문: 주식 10주를 사면 무엇을 갖게 되나요?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주식은 기업의 지분입니다. 매출의 일정 비율을 매일 받는 권리는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기업이 나눈 지분</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100만 주</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한빛식품의 보통주 수</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내가 산 주식</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주당 20,000원에 매수</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전체에서 내 몫</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0.001%</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 ÷ 1,000,000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매출과 시가총액은 같은 단위, 다른 질문입니다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주가가 올라 시가총액이 커져도, 그만큼 매출이 생긴 것은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연간 매출</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120억 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한 해 동안 판매한 금액</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시가총액</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200억 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주가 20,000원 × 100만 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지분의 수익을 세 가지로 나누어 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가격 수익률과 배당·비용을 반영한 총수익률을 구분합니다.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가격 변화</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매매 차익</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팔거나 평가하는 가격의 변화</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현금 분배</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67964"/>
                </a:solidFill>
                <a:latin typeface="Noto Sans CJK KR"/>
                <a:ea typeface="Noto Sans CJK KR"/>
              </a:defRPr>
            </a:pPr>
            <a:r>
              <a:rPr>
                <a:ea typeface="Noto Sans CJK KR"/>
              </a:rPr>
              <a:t>배당</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실제로 받은 금액을 확인</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거래에 든 돈</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비용</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이미 반영했는지 먼저 확인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계좌 100만 원 중 20만 원만 투자했습니다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기간 중 다른 거래·입출금 없음. 비용은 다른 금액에 아직 포함되지 않았습니다.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계좌 전체의 돈과 이 종목에 넣은 돈을 따로 표시합니다.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24505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항목</a:t>
            </a:r>
          </a:p>
        </p:txBody>
      </p:sp>
      <p:sp>
        <p:nvSpPr>
          <p:cNvPr id="22" name="TextBox 21"/>
          <p:cNvSpPr txBox="1"/>
          <p:nvPr/>
        </p:nvSpPr>
        <p:spPr>
          <a:xfrm>
            <a:off x="3483864" y="2532888"/>
            <a:ext cx="3831335"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처음</a:t>
            </a:r>
          </a:p>
        </p:txBody>
      </p:sp>
      <p:sp>
        <p:nvSpPr>
          <p:cNvPr id="23" name="TextBox 22"/>
          <p:cNvSpPr txBox="1"/>
          <p:nvPr/>
        </p:nvSpPr>
        <p:spPr>
          <a:xfrm>
            <a:off x="7607808" y="2532888"/>
            <a:ext cx="3831335"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거래 종료 후</a:t>
            </a:r>
          </a:p>
        </p:txBody>
      </p:sp>
      <p:sp>
        <p:nvSpPr>
          <p:cNvPr id="24" name="Rectangle 23"/>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보유 주식</a:t>
            </a:r>
          </a:p>
        </p:txBody>
      </p:sp>
      <p:sp>
        <p:nvSpPr>
          <p:cNvPr id="26" name="TextBox 25"/>
          <p:cNvSpPr txBox="1"/>
          <p:nvPr/>
        </p:nvSpPr>
        <p:spPr>
          <a:xfrm>
            <a:off x="3483864" y="306324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10주 × 20,000원</a:t>
            </a:r>
          </a:p>
        </p:txBody>
      </p:sp>
      <p:sp>
        <p:nvSpPr>
          <p:cNvPr id="27" name="TextBox 26"/>
          <p:cNvSpPr txBox="1"/>
          <p:nvPr/>
        </p:nvSpPr>
        <p:spPr>
          <a:xfrm>
            <a:off x="7607808" y="306324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10주 × 19,000원 매도</a:t>
            </a:r>
          </a:p>
        </p:txBody>
      </p:sp>
      <p:sp>
        <p:nvSpPr>
          <p:cNvPr id="28" name="Rectangle 27"/>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035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대기 현금</a:t>
            </a:r>
          </a:p>
        </p:txBody>
      </p:sp>
      <p:sp>
        <p:nvSpPr>
          <p:cNvPr id="30" name="TextBox 29"/>
          <p:cNvSpPr txBox="1"/>
          <p:nvPr/>
        </p:nvSpPr>
        <p:spPr>
          <a:xfrm>
            <a:off x="3483864" y="377035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800,000원</a:t>
            </a:r>
          </a:p>
        </p:txBody>
      </p:sp>
      <p:sp>
        <p:nvSpPr>
          <p:cNvPr id="31" name="TextBox 30"/>
          <p:cNvSpPr txBox="1"/>
          <p:nvPr/>
        </p:nvSpPr>
        <p:spPr>
          <a:xfrm>
            <a:off x="7607808" y="377035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800,000원</a:t>
            </a:r>
          </a:p>
        </p:txBody>
      </p:sp>
      <p:sp>
        <p:nvSpPr>
          <p:cNvPr id="32" name="Rectangle 31"/>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7746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별도 배당</a:t>
            </a:r>
          </a:p>
        </p:txBody>
      </p:sp>
      <p:sp>
        <p:nvSpPr>
          <p:cNvPr id="34" name="TextBox 33"/>
          <p:cNvSpPr txBox="1"/>
          <p:nvPr/>
        </p:nvSpPr>
        <p:spPr>
          <a:xfrm>
            <a:off x="3483864" y="447746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a:t>
            </a:r>
          </a:p>
        </p:txBody>
      </p:sp>
      <p:sp>
        <p:nvSpPr>
          <p:cNvPr id="35" name="TextBox 34"/>
          <p:cNvSpPr txBox="1"/>
          <p:nvPr/>
        </p:nvSpPr>
        <p:spPr>
          <a:xfrm>
            <a:off x="7607808" y="447746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+1,000원</a:t>
            </a:r>
          </a:p>
        </p:txBody>
      </p:sp>
      <p:sp>
        <p:nvSpPr>
          <p:cNvPr id="36" name="Rectangle 35"/>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7" name="TextBox 36"/>
          <p:cNvSpPr txBox="1"/>
          <p:nvPr/>
        </p:nvSpPr>
        <p:spPr>
          <a:xfrm>
            <a:off x="740664" y="518457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별도 총비용</a:t>
            </a:r>
          </a:p>
        </p:txBody>
      </p:sp>
      <p:sp>
        <p:nvSpPr>
          <p:cNvPr id="38" name="TextBox 37"/>
          <p:cNvSpPr txBox="1"/>
          <p:nvPr/>
        </p:nvSpPr>
        <p:spPr>
          <a:xfrm>
            <a:off x="3483864" y="518457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아직 차감 전</a:t>
            </a:r>
          </a:p>
        </p:txBody>
      </p:sp>
      <p:sp>
        <p:nvSpPr>
          <p:cNvPr id="39" name="TextBox 38"/>
          <p:cNvSpPr txBox="1"/>
          <p:nvPr/>
        </p:nvSpPr>
        <p:spPr>
          <a:xfrm>
            <a:off x="7607808" y="518457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손익은 금액부터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비용이 이미 반영된 금액이라면 다시 차감하지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매매 차익</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−10,000원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(19,000−20,000) × 10주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배당 − 비용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+800원</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1,000원 − 200원</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종목 순손익</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−9,200원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−10,000원 + 800원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손실을 무엇으로 나누느냐가 다릅니다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종목 비중 20% × 종목 수익률 −4.6% = 계좌 수익률 −0.92%</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종목 투자금 기준</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−4.6%</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−9,200원 ÷ 200,000원</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계좌 전체 기준</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−0.92%</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−9,200원 ÷ 1,000,000원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TRY IT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직접 계산: 20% 하락 뒤 20% 오르면 원금일까요?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먼저 각 구간의 기준 금액을 적습니다.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100만 원 → 80만 원 → 20% 상승</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마지막 금액을 계산해 보세요.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80만 원에서 원금 회복에 필요한 상승률은 얼마인가요?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두 계산에서 분모가 어떻게 달라지나요?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ANSWER</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회복률의 기준은 줄어든 자산입니다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−20%와 +20%는 서로 상쇄되지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20% 상승한 금액</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96만 원</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80만 원 × 1.20</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원금 회복 상승률</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25%</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20만 원 ÷ 80만 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PRACTICE</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주문에서 확인할 수 있는 원칙을 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“신중하게 투자한다”를 동료가 확인할 수 있는 행동으로 바꿉니다.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“매출과 이익률을 같은 기간으로 비교하고,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확인하지 못한 원인은 미확인으로 남긴다.”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제출할 것: 목적 · 확인 자료 · 가정 · 수정 조건 · 다음 확인 항목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REFERENCE</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https://www.investor.gov/introduction-investing/getting-started/asset-allocation</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투자와 복리의 기초</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1주차 · 투자의 출발점</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
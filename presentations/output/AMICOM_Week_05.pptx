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기사의 조건과 공개 시각을 읽고</a:t>
            </a:r>
          </a:p>
          <a:p>
            <a:r>
              <a:t>관찰한 사실과 추정을 나눕니다.</a:t>
            </a:r>
          </a:p>
          <a:p/>
          <a:p>
            <a:r>
              <a:t>[권장 진행]</a:t>
            </a:r>
          </a:p>
          <a:p>
            <a:r>
              <a:t>도입 5분</a:t>
            </a:r>
          </a:p>
          <a:p/>
          <a:p>
            <a:r>
              <a:t>[설명 원고]</a:t>
            </a:r>
          </a:p>
          <a:p>
            <a:r>
              <a:t>다음 두 문장은 수업용으로 만든 가상 뉴스입니다. A: ‘한빛식품, 유통사와 연간 30억 원 규모 공급계약 협의 중’. B: ‘한빛식품, 30억 원 공급계약 체결, 계약기간 내년 1월부터 12월, 상대방 요청 물량에 따라 공급’. A의 핵심은 ‘협의 중’으로 계약 성립을 확정하지 않습니다. B는 ‘체결’이라는 사실과 함께 기간·수량 조건을 확인해야 합니다. 실제 기사나 공시를 인용한 문장이 아닙니다.</a:t>
            </a:r>
          </a:p>
          <a:p/>
          <a:p>
            <a:r>
              <a:t>B를 분석표에 옮기면 사건: 공급계약 체결, 금액: 30억 원, 기간: 다음 해 12개월, 조건: 요청 물량에 따라 공급입니다. 제목의 ‘30억 원’만 읽으면 전액이 당장 매출로 인식되거나 확정 현금으로 들어온다고 착각할 수 있습니다. 원문 계약·공시에서 최소 구매 의무, 변경·해지 조건, 대금 지급과 납품 조건이 명시됐는지 확인하고 없는 항목은 미확인으로 남깁니다.</a:t>
            </a:r>
          </a:p>
          <a:p/>
          <a:p>
            <a:r>
              <a:t>앞서 본 연간 매출 120억 원과 비교한 계약 규모 비율은 30÷120=25%입니다. 이 비율은 계약의 상대적 크기를 보여 줍니다. 올해 매출이 25% 증가한다거나 순이익이 30억 원 증가한다는 뜻은 아닙니다. 기존 거래의 갱신인지 새 물량인지, 실제 납품·매출 인식 시점과 원가가 무엇인지 아직 알 수 없기 때문입니다.</a:t>
            </a:r>
          </a:p>
          <a:p/>
          <a:p>
            <a:r>
              <a:t>완성 분석 문장: ‘가상 공급계약 금액은 직전 연간 매출의 25% 규모다. 공급 기간과 물량 조건이 있어 당기 매출 증가액으로 바로 더하지 않는다. 신규 물량 여부, 최소 구매 의무, 납품·인식 시점을 원문에서 추가 확인한다.’ ‘30억 호재로 순이익 급증’이라는 문장은 금액의 종류와 확인 수준을 모두 바꾼 잘못된 해석입니다.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기사의 동사와 조건을 먼저 읽습니다. 실제 기사 인용이 아닌 학습용 문장입니다.</a:t>
            </a:r>
          </a:p>
          <a:p/>
          <a:p>
            <a:r>
              <a:t>[권장 진행]</a:t>
            </a:r>
          </a:p>
          <a:p>
            <a:r>
              <a:t>설명 4분 · 질문 2분</a:t>
            </a:r>
          </a:p>
          <a:p/>
          <a:p>
            <a:r>
              <a:t>[설명 원고]</a:t>
            </a:r>
          </a:p>
          <a:p>
            <a:r>
              <a:t>다음 두 문장은 수업용으로 만든 가상 뉴스입니다. A: ‘한빛식품, 유통사와 연간 30억 원 규모 공급계약 협의 중’. B: ‘한빛식품, 30억 원 공급계약 체결, 계약기간 내년 1월부터 12월, 상대방 요청 물량에 따라 공급’. A의 핵심은 ‘협의 중’으로 계약 성립을 확정하지 않습니다. B는 ‘체결’이라는 사실과 함께 기간·수량 조건을 확인해야 합니다. 실제 기사나 공시를 인용한 문장이 아닙니다.</a:t>
            </a:r>
          </a:p>
          <a:p/>
          <a:p>
            <a:r>
              <a:t>B를 분석표에 옮기면 사건: 공급계약 체결, 금액: 30억 원, 기간: 다음 해 12개월, 조건: 요청 물량에 따라 공급입니다. 제목의 ‘30억 원’만 읽으면 전액이 당장 매출로 인식되거나 확정 현금으로 들어온다고 착각할 수 있습니다. 원문 계약·공시에서 최소 구매 의무, 변경·해지 조건, 대금 지급과 납품 조건이 명시됐는지 확인하고 없는 항목은 미확인으로 남깁니다.</a:t>
            </a:r>
          </a:p>
          <a:p/>
          <a:p>
            <a:r>
              <a:t>앞서 본 연간 매출 120억 원과 비교한 계약 규모 비율은 30÷120=25%입니다. 이 비율은 계약의 상대적 크기를 보여 줍니다. 올해 매출이 25% 증가한다거나 순이익이 30억 원 증가한다는 뜻은 아닙니다. 기존 거래의 갱신인지 새 물량인지, 실제 납품·매출 인식 시점과 원가가 무엇인지 아직 알 수 없기 때문입니다.</a:t>
            </a:r>
          </a:p>
          <a:p/>
          <a:p>
            <a:r>
              <a:t>완성 분석 문장: ‘가상 공급계약 금액은 직전 연간 매출의 25% 규모다. 공급 기간과 물량 조건이 있어 당기 매출 증가액으로 바로 더하지 않는다. 신규 물량 여부, 최소 구매 의무, 납품·인식 시점을 원문에서 추가 확인한다.’ ‘30억 호재로 순이익 급증’이라는 문장은 금액의 종류와 확인 수준을 모두 바꾼 잘못된 해석입니다.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계약 금액을 당기 매출이나 순이익으로 바로 더하지 않습니다.</a:t>
            </a:r>
          </a:p>
          <a:p/>
          <a:p>
            <a:r>
              <a:t>[권장 진행]</a:t>
            </a:r>
          </a:p>
          <a:p>
            <a:r>
              <a:t>설명 4분 · 질문 2분</a:t>
            </a:r>
          </a:p>
          <a:p/>
          <a:p>
            <a:r>
              <a:t>[설명 원고]</a:t>
            </a:r>
          </a:p>
          <a:p>
            <a:r>
              <a:t>다음 두 문장은 수업용으로 만든 가상 뉴스입니다. A: ‘한빛식품, 유통사와 연간 30억 원 규모 공급계약 협의 중’. B: ‘한빛식품, 30억 원 공급계약 체결, 계약기간 내년 1월부터 12월, 상대방 요청 물량에 따라 공급’. A의 핵심은 ‘협의 중’으로 계약 성립을 확정하지 않습니다. B는 ‘체결’이라는 사실과 함께 기간·수량 조건을 확인해야 합니다. 실제 기사나 공시를 인용한 문장이 아닙니다.</a:t>
            </a:r>
          </a:p>
          <a:p/>
          <a:p>
            <a:r>
              <a:t>B를 분석표에 옮기면 사건: 공급계약 체결, 금액: 30억 원, 기간: 다음 해 12개월, 조건: 요청 물량에 따라 공급입니다. 제목의 ‘30억 원’만 읽으면 전액이 당장 매출로 인식되거나 확정 현금으로 들어온다고 착각할 수 있습니다. 원문 계약·공시에서 최소 구매 의무, 변경·해지 조건, 대금 지급과 납품 조건이 명시됐는지 확인하고 없는 항목은 미확인으로 남깁니다.</a:t>
            </a:r>
          </a:p>
          <a:p/>
          <a:p>
            <a:r>
              <a:t>앞서 본 연간 매출 120억 원과 비교한 계약 규모 비율은 30÷120=25%입니다. 이 비율은 계약의 상대적 크기를 보여 줍니다. 올해 매출이 25% 증가한다거나 순이익이 30억 원 증가한다는 뜻은 아닙니다. 기존 거래의 갱신인지 새 물량인지, 실제 납품·매출 인식 시점과 원가가 무엇인지 아직 알 수 없기 때문입니다.</a:t>
            </a:r>
          </a:p>
          <a:p/>
          <a:p>
            <a:r>
              <a:t>완성 분석 문장: ‘가상 공급계약 금액은 직전 연간 매출의 25% 규모다. 공급 기간과 물량 조건이 있어 당기 매출 증가액으로 바로 더하지 않는다. 신규 물량 여부, 최소 구매 의무, 납품·인식 시점을 원문에서 추가 확인한다.’ ‘30억 호재로 순이익 급증’이라는 문장은 금액의 종류와 확인 수준을 모두 바꾼 잘못된 해석입니다.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계약 대금과 매출 인식액, 이익은 각각 다른 개념입니다.</a:t>
            </a:r>
          </a:p>
          <a:p/>
          <a:p>
            <a:r>
              <a:t>[권장 진행]</a:t>
            </a:r>
          </a:p>
          <a:p>
            <a:r>
              <a:t>설명 4분 · 질문 2분</a:t>
            </a:r>
          </a:p>
          <a:p/>
          <a:p>
            <a:r>
              <a:t>[설명 원고]</a:t>
            </a:r>
          </a:p>
          <a:p>
            <a:r>
              <a:t>다음 두 문장은 수업용으로 만든 가상 뉴스입니다. A: ‘한빛식품, 유통사와 연간 30억 원 규모 공급계약 협의 중’. B: ‘한빛식품, 30억 원 공급계약 체결, 계약기간 내년 1월부터 12월, 상대방 요청 물량에 따라 공급’. A의 핵심은 ‘협의 중’으로 계약 성립을 확정하지 않습니다. B는 ‘체결’이라는 사실과 함께 기간·수량 조건을 확인해야 합니다. 실제 기사나 공시를 인용한 문장이 아닙니다.</a:t>
            </a:r>
          </a:p>
          <a:p/>
          <a:p>
            <a:r>
              <a:t>B를 분석표에 옮기면 사건: 공급계약 체결, 금액: 30억 원, 기간: 다음 해 12개월, 조건: 요청 물량에 따라 공급입니다. 제목의 ‘30억 원’만 읽으면 전액이 당장 매출로 인식되거나 확정 현금으로 들어온다고 착각할 수 있습니다. 원문 계약·공시에서 최소 구매 의무, 변경·해지 조건, 대금 지급과 납품 조건이 명시됐는지 확인하고 없는 항목은 미확인으로 남깁니다.</a:t>
            </a:r>
          </a:p>
          <a:p/>
          <a:p>
            <a:r>
              <a:t>앞서 본 연간 매출 120억 원과 비교한 계약 규모 비율은 30÷120=25%입니다. 이 비율은 계약의 상대적 크기를 보여 줍니다. 올해 매출이 25% 증가한다거나 순이익이 30억 원 증가한다는 뜻은 아닙니다. 기존 거래의 갱신인지 새 물량인지, 실제 납품·매출 인식 시점과 원가가 무엇인지 아직 알 수 없기 때문입니다.</a:t>
            </a:r>
          </a:p>
          <a:p/>
          <a:p>
            <a:r>
              <a:t>완성 분석 문장: ‘가상 공급계약 금액은 직전 연간 매출의 25% 규모다. 공급 기간과 물량 조건이 있어 당기 매출 증가액으로 바로 더하지 않는다. 신규 물량 여부, 최소 구매 의무, 납품·인식 시점을 원문에서 추가 확인한다.’ ‘30억 호재로 순이익 급증’이라는 문장은 금액의 종류와 확인 수준을 모두 바꾼 잘못된 해석입니다.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16:10 공개 이후 반응으로 13:00의 상승을 설명할 수는 없습니다.</a:t>
            </a:r>
          </a:p>
          <a:p/>
          <a:p>
            <a:r>
              <a:t>[권장 진행]</a:t>
            </a:r>
          </a:p>
          <a:p>
            <a:r>
              <a:t>설명 4분 · 질문 2분</a:t>
            </a:r>
          </a:p>
          <a:p/>
          <a:p>
            <a:r>
              <a:t>[설명 원고]</a:t>
            </a:r>
          </a:p>
          <a:p>
            <a:r>
              <a:t>같은 날의 가상 기록을 씁니다. 09:10 한빛식품 +1%, 13:00 +6%, 15:30 종가 +8%, 16:10 계약 발표, 16:25 첫 기사입니다. 16:10 발표가 공개된 뒤 투자자가 반응했다는 설명으로 13:00 상승을 설명할 수는 없습니다. 종가와 그날 기사 제목을 나란히 놓았다는 이유만으로 인과를 확인한 것이 아닙니다.</a:t>
            </a:r>
          </a:p>
          <a:p/>
          <a:p>
            <a:r>
              <a:t>이때 필요한 자료는 더 이른 공시·발표의 존재, 기사 최초·수정 시각, 같은 산업과 시장의 움직임입니다. 해당 산업도 13:00에 함께 올랐다면 산업 공통 요인은 가능한 설명 중 하나입니다. 이 시간표만으로 발표 전 정보 유출이나 특정 투자자의 행동을 단정할 수 없습니다. 관찰된 사실과 추가 조사할 가설을 구분합니다.</a:t>
            </a:r>
          </a:p>
          <a:p/>
          <a:p>
            <a:r>
              <a:t>세 언론사의 16시대 기사가 모두 16:10 발표를 인용했다면 독립 근거 세 개로 세지 않습니다. 분석표에는 원문 사건 한 건과 그 사건을 보도한 기사 세 건으로 적습니다. 두 기사가 같은 문구와 같은 관계자 발언을 사용했는지도 확인합니다. 다른 취재가 있다면 그 기사에서 새롭게 확인한 사실이 무엇인지 별도로 표시합니다.</a:t>
            </a:r>
          </a:p>
          <a:p/>
          <a:p>
            <a:r>
              <a:t>완성 브리핑: ‘종목은 당일 8% 상승했고 계약 발표는 16:10에 나왔다. 발표가 종가 이전에 공개됐다는 근거는 현재 표에 없다. 산업 공통 요인과 이전 발표를 확인하기 전까지 당일 상승 원인으로 단정하지 않는다.’ 다음 날 가격이 움직여도 그 자체로 전날 해석이 입증된 것은 아니므로 시각과 대안 설명을 다시 점검합니다.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기사 수보다 독립된 원문과 새롭게 확인한 사실을 확인합니다.</a:t>
            </a:r>
          </a:p>
          <a:p/>
          <a:p>
            <a:r>
              <a:t>[권장 진행]</a:t>
            </a:r>
          </a:p>
          <a:p>
            <a:r>
              <a:t>설명 4분 · 질문 2분</a:t>
            </a:r>
          </a:p>
          <a:p/>
          <a:p>
            <a:r>
              <a:t>[설명 원고]</a:t>
            </a:r>
          </a:p>
          <a:p>
            <a:r>
              <a:t>같은 날의 가상 기록을 씁니다. 09:10 한빛식품 +1%, 13:00 +6%, 15:30 종가 +8%, 16:10 계약 발표, 16:25 첫 기사입니다. 16:10 발표가 공개된 뒤 투자자가 반응했다는 설명으로 13:00 상승을 설명할 수는 없습니다. 종가와 그날 기사 제목을 나란히 놓았다는 이유만으로 인과를 확인한 것이 아닙니다.</a:t>
            </a:r>
          </a:p>
          <a:p/>
          <a:p>
            <a:r>
              <a:t>이때 필요한 자료는 더 이른 공시·발표의 존재, 기사 최초·수정 시각, 같은 산업과 시장의 움직임입니다. 해당 산업도 13:00에 함께 올랐다면 산업 공통 요인은 가능한 설명 중 하나입니다. 이 시간표만으로 발표 전 정보 유출이나 특정 투자자의 행동을 단정할 수 없습니다. 관찰된 사실과 추가 조사할 가설을 구분합니다.</a:t>
            </a:r>
          </a:p>
          <a:p/>
          <a:p>
            <a:r>
              <a:t>세 언론사의 16시대 기사가 모두 16:10 발표를 인용했다면 독립 근거 세 개로 세지 않습니다. 분석표에는 원문 사건 한 건과 그 사건을 보도한 기사 세 건으로 적습니다. 두 기사가 같은 문구와 같은 관계자 발언을 사용했는지도 확인합니다. 다른 취재가 있다면 그 기사에서 새롭게 확인한 사실이 무엇인지 별도로 표시합니다.</a:t>
            </a:r>
          </a:p>
          <a:p/>
          <a:p>
            <a:r>
              <a:t>완성 브리핑: ‘종목은 당일 8% 상승했고 계약 발표는 16:10에 나왔다. 발표가 종가 이전에 공개됐다는 근거는 현재 표에 없다. 산업 공통 요인과 이전 발표를 확인하기 전까지 당일 상승 원인으로 단정하지 않는다.’ 다음 날 가격이 움직여도 그 자체로 전날 해석이 입증된 것은 아니므로 시각과 대안 설명을 다시 점검합니다.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같은 테마라도 실제 사업 비중과 영향은 기업마다 다릅니다.</a:t>
            </a:r>
          </a:p>
          <a:p/>
          <a:p>
            <a:r>
              <a:t>[권장 진행]</a:t>
            </a:r>
          </a:p>
          <a:p>
            <a:r>
              <a:t>설명 4분 · 질문 2분</a:t>
            </a:r>
          </a:p>
          <a:p/>
          <a:p>
            <a:r>
              <a:t>[설명 원고]</a:t>
            </a:r>
          </a:p>
          <a:p>
            <a:r>
              <a:t>시장 분석 화면에서 먼저 관찰일과 집계 시각을 적고 상승·하락 목록을 각각 확인합니다. 등락률 기준이 전일 대비인지, 관측한 일부 종목만 집계한 것인지 화면 설명을 읽습니다. 가상 목록이 100종목 중 상승 30·하락 60·보합 10이라면 상승 비중 30%, 하락 비중 60%입니다. 이것을 전체 시장의 확정 비중이라고 옮기려면 집계 범위가 같다는 근거가 있어야 합니다.</a:t>
            </a:r>
          </a:p>
          <a:p/>
          <a:p>
            <a:r>
              <a:t>한빛식품이 +8%라는 사실에서 출발해 거래 규모를 봅니다. 가상 종목 A는 1,000원에 100만 주, B는 20,000원에 10만 주가 모두 고정 가격에 거래됐다면 거래량은 A가 크지만 거래대금은 A 10억, B 20억 원으로 B가 큽니다. 실제로는 체결 가격이 달라지므로 종가×거래량을 실제 거래대금과 같다고 쓰지 않고 집계된 수치를 확인합니다.</a:t>
            </a:r>
          </a:p>
          <a:p/>
          <a:p>
            <a:r>
              <a:t>관련 테마가 ‘간편식’이라면 회사의 제품 설명에서 간편식 매출이 실제로 있는지, 전체에서 차지하는 비중이 얼마인지 찾아봅니다. 가상 사업 자료가 간편식 72억·기타 48억 원이면 간편식 비중은 72÷120=60%입니다. 같은 테마의 다른 회사도 60%라는 뜻은 아닙니다. 화면의 테마 분류는 이 확인 작업으로 들어가는 출발점입니다.</a:t>
            </a:r>
          </a:p>
          <a:p/>
          <a:p>
            <a:r>
              <a:t>완성 메모 예시: ‘관찰 시각 기준 한빛식품 +8%. 간편식 매출 비중은 가상 연간 자료에서 60%. 계약 발표는 장 마감 후이며 당일 상승 원인은 미확인. 거래대금은 화면 집계값과 기준 시각을 별도로 기록한다.’ 하락 포착도 같은 순서로 읽습니다. 하락 이유를 모르면 ‘악재 없음’ 대신 ‘확인한 자료에서 이유 미확인’이라고 씁니다.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확인한 사실을 남기고, 자료가 뒷받침하지 않는 연결을 고칩니다.</a:t>
            </a:r>
          </a:p>
          <a:p/>
          <a:p>
            <a:r>
              <a:t>[권장 진행]</a:t>
            </a:r>
          </a:p>
          <a:p>
            <a:r>
              <a:t>문장 수정 5분 · 조별 비교 8분</a:t>
            </a:r>
          </a:p>
          <a:p/>
          <a:p>
            <a:r>
              <a:t>[설명 원고]</a:t>
            </a:r>
          </a:p>
          <a:p>
            <a:r>
              <a:t>같은 날의 가상 기록을 씁니다. 09:10 한빛식품 +1%, 13:00 +6%, 15:30 종가 +8%, 16:10 계약 발표, 16:25 첫 기사입니다. 16:10 발표가 공개된 뒤 투자자가 반응했다는 설명으로 13:00 상승을 설명할 수는 없습니다. 종가와 그날 기사 제목을 나란히 놓았다는 이유만으로 인과를 확인한 것이 아닙니다.</a:t>
            </a:r>
          </a:p>
          <a:p/>
          <a:p>
            <a:r>
              <a:t>이때 필요한 자료는 더 이른 공시·발표의 존재, 기사 최초·수정 시각, 같은 산업과 시장의 움직임입니다. 해당 산업도 13:00에 함께 올랐다면 산업 공통 요인은 가능한 설명 중 하나입니다. 이 시간표만으로 발표 전 정보 유출이나 특정 투자자의 행동을 단정할 수 없습니다. 관찰된 사실과 추가 조사할 가설을 구분합니다.</a:t>
            </a:r>
          </a:p>
          <a:p/>
          <a:p>
            <a:r>
              <a:t>세 언론사의 16시대 기사가 모두 16:10 발표를 인용했다면 독립 근거 세 개로 세지 않습니다. 분석표에는 원문 사건 한 건과 그 사건을 보도한 기사 세 건으로 적습니다. 두 기사가 같은 문구와 같은 관계자 발언을 사용했는지도 확인합니다. 다른 취재가 있다면 그 기사에서 새롭게 확인한 사실이 무엇인지 별도로 표시합니다.</a:t>
            </a:r>
          </a:p>
          <a:p/>
          <a:p>
            <a:r>
              <a:t>완성 브리핑: ‘종목은 당일 8% 상승했고 계약 발표는 16:10에 나왔다. 발표가 종가 이전에 공개됐다는 근거는 현재 표에 없다. 산업 공통 요인과 이전 발표를 확인하기 전까지 당일 상승 원인으로 단정하지 않는다.’ 다음 날 가격이 움직여도 그 자체로 전날 해석이 입증된 것은 아니므로 시각과 대안 설명을 다시 점검합니다.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“알 수 없다”에서 멈추지 않고 다음에 읽을 자료와 조건을 명시합니다.</a:t>
            </a:r>
          </a:p>
          <a:p/>
          <a:p>
            <a:r>
              <a:t>[권장 진행]</a:t>
            </a:r>
          </a:p>
          <a:p>
            <a:r>
              <a:t>설명 4분 · 질문 2분</a:t>
            </a:r>
          </a:p>
          <a:p/>
          <a:p>
            <a:r>
              <a:t>[설명 원고]</a:t>
            </a:r>
          </a:p>
          <a:p>
            <a:r>
              <a:t>같은 날의 가상 기록을 씁니다. 09:10 한빛식품 +1%, 13:00 +6%, 15:30 종가 +8%, 16:10 계약 발표, 16:25 첫 기사입니다. 16:10 발표가 공개된 뒤 투자자가 반응했다는 설명으로 13:00 상승을 설명할 수는 없습니다. 종가와 그날 기사 제목을 나란히 놓았다는 이유만으로 인과를 확인한 것이 아닙니다.</a:t>
            </a:r>
          </a:p>
          <a:p/>
          <a:p>
            <a:r>
              <a:t>이때 필요한 자료는 더 이른 공시·발표의 존재, 기사 최초·수정 시각, 같은 산업과 시장의 움직임입니다. 해당 산업도 13:00에 함께 올랐다면 산업 공통 요인은 가능한 설명 중 하나입니다. 이 시간표만으로 발표 전 정보 유출이나 특정 투자자의 행동을 단정할 수 없습니다. 관찰된 사실과 추가 조사할 가설을 구분합니다.</a:t>
            </a:r>
          </a:p>
          <a:p/>
          <a:p>
            <a:r>
              <a:t>세 언론사의 16시대 기사가 모두 16:10 발표를 인용했다면 독립 근거 세 개로 세지 않습니다. 분석표에는 원문 사건 한 건과 그 사건을 보도한 기사 세 건으로 적습니다. 두 기사가 같은 문구와 같은 관계자 발언을 사용했는지도 확인합니다. 다른 취재가 있다면 그 기사에서 새롭게 확인한 사실이 무엇인지 별도로 표시합니다.</a:t>
            </a:r>
          </a:p>
          <a:p/>
          <a:p>
            <a:r>
              <a:t>완성 브리핑: ‘종목은 당일 8% 상승했고 계약 발표는 16:10에 나왔다. 발표가 종가 이전에 공개됐다는 근거는 현재 표에 없다. 산업 공통 요인과 이전 발표를 확인하기 전까지 당일 상승 원인으로 단정하지 않는다.’ 다음 날 가격이 움직여도 그 자체로 전날 해석이 입증된 것은 아니므로 시각과 대안 설명을 다시 점검합니다.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하락 포착도 같은 순서로 조사합니다. 이유 미확인을 “악재 없음”으로 바꾸지 않습니다.</a:t>
            </a:r>
          </a:p>
          <a:p/>
          <a:p>
            <a:r>
              <a:t>[권장 진행]</a:t>
            </a:r>
          </a:p>
          <a:p>
            <a:r>
              <a:t>원문 조사 15분 · 브리핑 5분</a:t>
            </a:r>
          </a:p>
          <a:p/>
          <a:p>
            <a:r>
              <a:t>[설명 원고]</a:t>
            </a:r>
          </a:p>
          <a:p>
            <a:r>
              <a:t>시장 분석 화면에서 먼저 관찰일과 집계 시각을 적고 상승·하락 목록을 각각 확인합니다. 등락률 기준이 전일 대비인지, 관측한 일부 종목만 집계한 것인지 화면 설명을 읽습니다. 가상 목록이 100종목 중 상승 30·하락 60·보합 10이라면 상승 비중 30%, 하락 비중 60%입니다. 이것을 전체 시장의 확정 비중이라고 옮기려면 집계 범위가 같다는 근거가 있어야 합니다.</a:t>
            </a:r>
          </a:p>
          <a:p/>
          <a:p>
            <a:r>
              <a:t>한빛식품이 +8%라는 사실에서 출발해 거래 규모를 봅니다. 가상 종목 A는 1,000원에 100만 주, B는 20,000원에 10만 주가 모두 고정 가격에 거래됐다면 거래량은 A가 크지만 거래대금은 A 10억, B 20억 원으로 B가 큽니다. 실제로는 체결 가격이 달라지므로 종가×거래량을 실제 거래대금과 같다고 쓰지 않고 집계된 수치를 확인합니다.</a:t>
            </a:r>
          </a:p>
          <a:p/>
          <a:p>
            <a:r>
              <a:t>관련 테마가 ‘간편식’이라면 회사의 제품 설명에서 간편식 매출이 실제로 있는지, 전체에서 차지하는 비중이 얼마인지 찾아봅니다. 가상 사업 자료가 간편식 72억·기타 48억 원이면 간편식 비중은 72÷120=60%입니다. 같은 테마의 다른 회사도 60%라는 뜻은 아닙니다. 화면의 테마 분류는 이 확인 작업으로 들어가는 출발점입니다.</a:t>
            </a:r>
          </a:p>
          <a:p/>
          <a:p>
            <a:r>
              <a:t>완성 메모 예시: ‘관찰 시각 기준 한빛식품 +8%. 간편식 매출 비중은 가상 연간 자료에서 60%. 계약 발표는 장 마감 후이며 당일 상승 원인은 미확인. 거래대금은 화면 집계값과 기준 시각을 별도로 기록한다.’ 하락 포착도 같은 순서로 읽습니다. 하락 이유를 모르면 ‘악재 없음’ 대신 ‘확인한 자료에서 이유 미확인’이라고 씁니다.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기사 1건에 대해 확인된 사실 2개, 나의 해석 1개, 반대 근거 1개를 작성합니다.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rt.fss.or.kr/dsab007/main.do" TargetMode="External"/><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05</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뉴스의 제목에서</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판단의 근거로</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기사의 조건과 공개 시각을 읽고</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관찰한 사실과 추정을 나눕니다.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05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같은 계약 기사라도 “협의”와 “체결”은 다릅니다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기사의 동사와 조건을 먼저 읽습니다. 실제 기사 인용이 아닌 학습용 문장입니다.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02</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가상 뉴스 A</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공급계약 협의 중</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연간 30억 원 규모 · 성립 미확정</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가상 뉴스 B</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공급계약 체결</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다음 해 공급 · 요청 물량 조건</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제목의 숫자를 계약 조건으로 풀어 씁니다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계약 금액을 당기 매출이나 순이익으로 바로 더하지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03</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45537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기사에서 확인한 것</a:t>
            </a:r>
          </a:p>
        </p:txBody>
      </p:sp>
      <p:sp>
        <p:nvSpPr>
          <p:cNvPr id="21" name="TextBox 20"/>
          <p:cNvSpPr txBox="1"/>
          <p:nvPr/>
        </p:nvSpPr>
        <p:spPr>
          <a:xfrm>
            <a:off x="5586984" y="2532888"/>
            <a:ext cx="5852159"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아직 확인하지 못한 것</a:t>
            </a:r>
          </a:p>
        </p:txBody>
      </p:sp>
      <p:sp>
        <p:nvSpPr>
          <p:cNvPr id="22" name="Rectangle 21"/>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45537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계약 금액 30억 원</a:t>
            </a:r>
          </a:p>
        </p:txBody>
      </p:sp>
      <p:sp>
        <p:nvSpPr>
          <p:cNvPr id="24" name="TextBox 23"/>
          <p:cNvSpPr txBox="1"/>
          <p:nvPr/>
        </p:nvSpPr>
        <p:spPr>
          <a:xfrm>
            <a:off x="5586984" y="3063240"/>
            <a:ext cx="585215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최소 구매 의무가 있는가</a:t>
            </a:r>
          </a:p>
        </p:txBody>
      </p:sp>
      <p:sp>
        <p:nvSpPr>
          <p:cNvPr id="25" name="Rectangle 24"/>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6472"/>
            <a:ext cx="45537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다음 해 1~12월 공급</a:t>
            </a:r>
          </a:p>
        </p:txBody>
      </p:sp>
      <p:sp>
        <p:nvSpPr>
          <p:cNvPr id="27" name="TextBox 26"/>
          <p:cNvSpPr txBox="1"/>
          <p:nvPr/>
        </p:nvSpPr>
        <p:spPr>
          <a:xfrm>
            <a:off x="5586984" y="3776472"/>
            <a:ext cx="585215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신규 물량인가, 기존 거래 갱신인가</a:t>
            </a:r>
          </a:p>
        </p:txBody>
      </p:sp>
      <p:sp>
        <p:nvSpPr>
          <p:cNvPr id="28" name="Rectangle 27"/>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89703"/>
            <a:ext cx="45537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요청 물량에 따라 공급</a:t>
            </a:r>
          </a:p>
        </p:txBody>
      </p:sp>
      <p:sp>
        <p:nvSpPr>
          <p:cNvPr id="30" name="TextBox 29"/>
          <p:cNvSpPr txBox="1"/>
          <p:nvPr/>
        </p:nvSpPr>
        <p:spPr>
          <a:xfrm>
            <a:off x="5586984" y="4489703"/>
            <a:ext cx="585215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납품·매출 인식·대금 지급 시점은 언제인가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25%는 계약의 크기, 확정 성장률이 아닙니다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계약 대금과 매출 인식액, 이익은 각각 다른 개념입니다.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04</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계약 / 직전 연매출</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30억 ÷ 120억</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기존 매출의 25% 규모</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그대로 말할 수 없는 결론</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“매출 +25% 확정”</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물량 · 기간 · 신규 여부가 더 필요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원인을 말하기 전에 사건을 시간순으로 놓습니다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16:10 공개 이후 반응으로 13:00의 상승을 설명할 수는 없습니다.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05</a:t>
            </a:r>
          </a:p>
        </p:txBody>
      </p:sp>
      <p:cxnSp>
        <p:nvCxnSpPr>
          <p:cNvPr id="19" name="Connector 18"/>
          <p:cNvCxnSpPr/>
          <p:nvPr/>
        </p:nvCxnSpPr>
        <p:spPr>
          <a:xfrm>
            <a:off x="932688" y="3300984"/>
            <a:ext cx="10222992" cy="0"/>
          </a:xfrm>
          <a:prstGeom prst="line">
            <a:avLst/>
          </a:prstGeom>
          <a:ln w="38100">
            <a:solidFill>
              <a:srgbClr val="D8DEDA"/>
            </a:solidFill>
          </a:ln>
          <a:effectLst/>
        </p:spPr>
      </p:cxnSp>
      <p:sp>
        <p:nvSpPr>
          <p:cNvPr id="20" name="Rectangle 19"/>
          <p:cNvSpPr/>
          <p:nvPr/>
        </p:nvSpPr>
        <p:spPr>
          <a:xfrm>
            <a:off x="868680" y="3236976"/>
            <a:ext cx="128016" cy="128016"/>
          </a:xfrm>
          <a:prstGeom prst="rect">
            <a:avLst/>
          </a:prstGeom>
          <a:solidFill>
            <a:srgbClr val="19282C"/>
          </a:solidFill>
          <a:ln>
            <a:noFill/>
          </a:ln>
          <a:effectLst/>
        </p:spPr>
        <p:txBody>
          <a:bodyPr rtlCol="0" anchor="ctr"/>
          <a:lstStyle/>
          <a:p>
            <a:pPr algn="ctr"/>
          </a:p>
        </p:txBody>
      </p:sp>
      <p:sp>
        <p:nvSpPr>
          <p:cNvPr id="21" name="TextBox 20"/>
          <p:cNvSpPr txBox="1"/>
          <p:nvPr/>
        </p:nvSpPr>
        <p:spPr>
          <a:xfrm>
            <a:off x="594360"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09:10</a:t>
            </a:r>
          </a:p>
        </p:txBody>
      </p:sp>
      <p:sp>
        <p:nvSpPr>
          <p:cNvPr id="22" name="TextBox 21"/>
          <p:cNvSpPr txBox="1"/>
          <p:nvPr/>
        </p:nvSpPr>
        <p:spPr>
          <a:xfrm>
            <a:off x="594360"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종목 +1%</a:t>
            </a:r>
          </a:p>
        </p:txBody>
      </p:sp>
      <p:sp>
        <p:nvSpPr>
          <p:cNvPr id="23" name="TextBox 22"/>
          <p:cNvSpPr txBox="1"/>
          <p:nvPr/>
        </p:nvSpPr>
        <p:spPr>
          <a:xfrm>
            <a:off x="594360"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가격 관찰</a:t>
            </a:r>
          </a:p>
        </p:txBody>
      </p:sp>
      <p:sp>
        <p:nvSpPr>
          <p:cNvPr id="24" name="Rectangle 23"/>
          <p:cNvSpPr/>
          <p:nvPr/>
        </p:nvSpPr>
        <p:spPr>
          <a:xfrm>
            <a:off x="4276343" y="3236976"/>
            <a:ext cx="128016" cy="128016"/>
          </a:xfrm>
          <a:prstGeom prst="rect">
            <a:avLst/>
          </a:prstGeom>
          <a:solidFill>
            <a:srgbClr val="19282C"/>
          </a:solidFill>
          <a:ln>
            <a:noFill/>
          </a:ln>
          <a:effectLst/>
        </p:spPr>
        <p:txBody>
          <a:bodyPr rtlCol="0" anchor="ctr"/>
          <a:lstStyle/>
          <a:p>
            <a:pPr algn="ctr"/>
          </a:p>
        </p:txBody>
      </p:sp>
      <p:sp>
        <p:nvSpPr>
          <p:cNvPr id="25" name="TextBox 24"/>
          <p:cNvSpPr txBox="1"/>
          <p:nvPr/>
        </p:nvSpPr>
        <p:spPr>
          <a:xfrm>
            <a:off x="3608831"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13:00</a:t>
            </a:r>
          </a:p>
        </p:txBody>
      </p:sp>
      <p:sp>
        <p:nvSpPr>
          <p:cNvPr id="26" name="TextBox 25"/>
          <p:cNvSpPr txBox="1"/>
          <p:nvPr/>
        </p:nvSpPr>
        <p:spPr>
          <a:xfrm>
            <a:off x="3608831"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종목 +6%</a:t>
            </a:r>
          </a:p>
        </p:txBody>
      </p:sp>
      <p:sp>
        <p:nvSpPr>
          <p:cNvPr id="27" name="TextBox 26"/>
          <p:cNvSpPr txBox="1"/>
          <p:nvPr/>
        </p:nvSpPr>
        <p:spPr>
          <a:xfrm>
            <a:off x="3608831"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산업도 상승</a:t>
            </a:r>
          </a:p>
        </p:txBody>
      </p:sp>
      <p:sp>
        <p:nvSpPr>
          <p:cNvPr id="28" name="Rectangle 27"/>
          <p:cNvSpPr/>
          <p:nvPr/>
        </p:nvSpPr>
        <p:spPr>
          <a:xfrm>
            <a:off x="7684007" y="3236976"/>
            <a:ext cx="128016" cy="128016"/>
          </a:xfrm>
          <a:prstGeom prst="rect">
            <a:avLst/>
          </a:prstGeom>
          <a:solidFill>
            <a:srgbClr val="19282C"/>
          </a:solidFill>
          <a:ln>
            <a:noFill/>
          </a:ln>
          <a:effectLst/>
        </p:spPr>
        <p:txBody>
          <a:bodyPr rtlCol="0" anchor="ctr"/>
          <a:lstStyle/>
          <a:p>
            <a:pPr algn="ctr"/>
          </a:p>
        </p:txBody>
      </p:sp>
      <p:sp>
        <p:nvSpPr>
          <p:cNvPr id="29" name="TextBox 28"/>
          <p:cNvSpPr txBox="1"/>
          <p:nvPr/>
        </p:nvSpPr>
        <p:spPr>
          <a:xfrm>
            <a:off x="7016496"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15:30</a:t>
            </a:r>
          </a:p>
        </p:txBody>
      </p:sp>
      <p:sp>
        <p:nvSpPr>
          <p:cNvPr id="30" name="TextBox 29"/>
          <p:cNvSpPr txBox="1"/>
          <p:nvPr/>
        </p:nvSpPr>
        <p:spPr>
          <a:xfrm>
            <a:off x="7016496"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종가 +8%</a:t>
            </a:r>
          </a:p>
        </p:txBody>
      </p:sp>
      <p:sp>
        <p:nvSpPr>
          <p:cNvPr id="31" name="TextBox 30"/>
          <p:cNvSpPr txBox="1"/>
          <p:nvPr/>
        </p:nvSpPr>
        <p:spPr>
          <a:xfrm>
            <a:off x="7016496"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거래일 요약</a:t>
            </a:r>
          </a:p>
        </p:txBody>
      </p:sp>
      <p:sp>
        <p:nvSpPr>
          <p:cNvPr id="32" name="Rectangle 31"/>
          <p:cNvSpPr/>
          <p:nvPr/>
        </p:nvSpPr>
        <p:spPr>
          <a:xfrm>
            <a:off x="11091672" y="3236976"/>
            <a:ext cx="128016" cy="128016"/>
          </a:xfrm>
          <a:prstGeom prst="rect">
            <a:avLst/>
          </a:prstGeom>
          <a:solidFill>
            <a:srgbClr val="CF283B"/>
          </a:solidFill>
          <a:ln>
            <a:noFill/>
          </a:ln>
          <a:effectLst/>
        </p:spPr>
        <p:txBody>
          <a:bodyPr rtlCol="0" anchor="ctr"/>
          <a:lstStyle/>
          <a:p>
            <a:pPr algn="ctr"/>
          </a:p>
        </p:txBody>
      </p:sp>
      <p:sp>
        <p:nvSpPr>
          <p:cNvPr id="33" name="TextBox 32"/>
          <p:cNvSpPr txBox="1"/>
          <p:nvPr/>
        </p:nvSpPr>
        <p:spPr>
          <a:xfrm>
            <a:off x="9235440"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CF283B"/>
                </a:solidFill>
                <a:latin typeface="Noto Sans CJK KR"/>
                <a:ea typeface="Noto Sans CJK KR"/>
              </a:defRPr>
            </a:pPr>
            <a:r>
              <a:rPr>
                <a:ea typeface="Noto Sans CJK KR"/>
              </a:rPr>
              <a:t>16:10</a:t>
            </a:r>
          </a:p>
        </p:txBody>
      </p:sp>
      <p:sp>
        <p:nvSpPr>
          <p:cNvPr id="34" name="TextBox 33"/>
          <p:cNvSpPr txBox="1"/>
          <p:nvPr/>
        </p:nvSpPr>
        <p:spPr>
          <a:xfrm>
            <a:off x="9235440"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계약 발표</a:t>
            </a:r>
          </a:p>
        </p:txBody>
      </p:sp>
      <p:sp>
        <p:nvSpPr>
          <p:cNvPr id="35" name="TextBox 34"/>
          <p:cNvSpPr txBox="1"/>
          <p:nvPr/>
        </p:nvSpPr>
        <p:spPr>
          <a:xfrm>
            <a:off x="9235440"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장 마감 뒤 공개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기사 세 건이 독립 근거 세 개는 아닐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기사 수보다 독립된 원문과 새롭게 확인한 사실을 확인합니다.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06</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원문 사건</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기업 발표 1건</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계약 금액과 조건 확인</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같은 발표 재인용</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언론 보도 3건</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발표 시각 이후 기사 작성</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근거 기록</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원문 1 + 보도 3</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새롭게 확인한 사실을 구분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포착 목록에서 세 가지를 더 확인합니다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같은 테마라도 실제 사업 비중과 영향은 기업마다 다릅니다.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07</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등락률</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집계 범위</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관찰일 · 기준 가격 · 대상 종목</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거래 규모</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거래대금</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주식 수와 거래 금액을 구분</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테마 분류</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사업 비중</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간편식 72억 / 매출 120억 =</a:t>
            </a:r>
          </a:p>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60%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다음 브리핑에서 검증되지 않은 연결을 찾으세요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확인한 사실을 남기고, 자료가 뒷받침하지 않는 연결을 고칩니다.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08</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“계약 공시 때문에 오늘 8% 올랐고,</a:t>
            </a:r>
          </a:p>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매출도 25% 늘어날 것이다.”</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공개 시각과 가격 움직임이 맞나요?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25%는 어떤 두 숫자의 비율인가요?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계약의 어떤 조건을 더 확인해야 하나요?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MODEL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확인한 사실과 남은 질문으로 브리핑합니다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“알 수 없다”에서 멈추지 않고 다음에 읽을 자료와 조건을 명시합니다.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09</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“당일 8% 상승했고 계약 발표는 장 마감 후였다.</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상승 원인과 매출 기여는 추가 확인이 필요하다.”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추가 확인: 이전 공개 정보 · 산업 움직임 · 최소 구매 의무 · 신규 물량 · 인식 시점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오늘의 시장 메모를 한 장으로 완성합니다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하락 포착도 같은 순서로 조사합니다. 이유 미확인을 “악재 없음”으로 바꾸지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10</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관찰한 사실</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가격 · 규모</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기준 시각과 집계 범위</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원문 확인</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동사 · 조건</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발표 시각 · 금액 · 기간</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분석 문장</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사실 + 질문</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해석과 미확인을 나눠 작성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11</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공시 검색</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https://dart.fss.or.kr/dsab007/main.do</a:t>
            </a:r>
          </a:p>
        </p:txBody>
      </p:sp>
      <p:sp>
        <p:nvSpPr>
          <p:cNvPr id="20" name="TextBox 19"/>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아미콤 투자 스터디 5주차 · 시장·테마·뉴스 읽기</dc:title>
  <dc:subject>가상 기업 자료를 활용한 투자 입문 수업</dc:subject>
  <dc:creator>아미콤 투자 스터디</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
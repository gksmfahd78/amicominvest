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EPS·PER·PBR·ROE를 계산하고</a:t>
            </a:r>
          </a:p>
          <a:p>
            <a:r>
              <a:t>가격에 들어 있는 가정을 구분합니다.</a:t>
            </a:r>
          </a:p>
          <a:p/>
          <a:p>
            <a:r>
              <a:t>[권장 진행]</a:t>
            </a:r>
          </a:p>
          <a:p>
            <a:r>
              <a:t>도입 5분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이 주차의 핵심 질문을 먼저 읽고 참가자의 예상 답을 두 개 받아 기록합니다. 수익률 순위를 학습 평가 기준으로 쓰지 않습니다.</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실제 EPS는 주당이익 주석의 이익·가중평균 주식 수·기본/희석 구분을 확인합니다.</a:t>
            </a:r>
          </a:p>
          <a:p/>
          <a:p>
            <a:r>
              <a:t>[권장 진행]</a:t>
            </a:r>
          </a:p>
          <a:p>
            <a:r>
              <a:t>설명 4분 · 질문 2분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주가가 오르지 않아도 이익이 줄면 이익 대비 가격은 높아집니다.</a:t>
            </a:r>
          </a:p>
          <a:p/>
          <a:p>
            <a:r>
              <a:t>[권장 진행]</a:t>
            </a:r>
          </a:p>
          <a:p>
            <a:r>
              <a:t>설명 4분 · 질문 2분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PBR의 기말 자본과 ROE의 평균 자본을 같은 분모로 처리하지 않습니다.</a:t>
            </a:r>
          </a:p>
          <a:p/>
          <a:p>
            <a:r>
              <a:t>[권장 진행]</a:t>
            </a:r>
          </a:p>
          <a:p>
            <a:r>
              <a:t>설명 4분 · 질문 2분</a:t>
            </a:r>
          </a:p>
          <a:p/>
          <a:p>
            <a:r>
              <a:t>[설명 원고]</a:t>
            </a:r>
          </a:p>
          <a:p>
            <a:r>
              <a:t>가상 한빛식품의 기초 자본은 70억 원, 기말 자본은 90억 원, 2025년 순이익은 8억 원입니다. 이익과 자본은 같은 보통주 귀속 범위이며 주식 수는 100만 주로 일정하다고 가정합니다. 자본이 늘어난 다른 원인은 이 자료에 주어지지 않았으므로 증자나 배당이 있었는지 추측하지 않습니다. 실제 조사라면 자본변동표와 주석을 추가 확인합니다.</a:t>
            </a:r>
          </a:p>
          <a:p/>
          <a:p>
            <a:r>
              <a:t>기말 BPS는 90억÷100만=9,000원입니다. 주가 20,000원과 비교한 PBR는 20,000÷9,000≈2.22배입니다. 자본의 두 시점 평균은 (70+90)÷2=80억 원이므로 단순 연간 ROE는 8÷80=10%입니다. PBR의 BPS는 이 예시에서 기말 기준이고 ROE의 자본은 평균 기준입니다. 분모를 모두 90억으로 처리하면 ROE가 약 8.89%로 달라집니다.</a:t>
            </a:r>
          </a:p>
          <a:p/>
          <a:p>
            <a:r>
              <a:t>PBR가 1배 미만이면 '기업을 청산하면 반드시 이익'이라고 생각하기 쉽습니다. 하지만 장부의 설비·재고·채권을 실제로 얼마에 회수하거나 처분할 수 있는지는 별도 문제입니다. ROE도 이익 증가뿐 아니라 자본 규모의 변화로 달라질 수 있습니다. 비율을 먼저 칭찬하거나 비난하기보다 분자와 분모가 어떤 이유로 변했는지 묻습니다.</a:t>
            </a:r>
          </a:p>
          <a:p/>
          <a:p>
            <a:r>
              <a:t>완성 메모는 ‘기말 BPS 9,000원, 현재 가정 주가 기준 PBR 약 2.22배. 두 시점 평균 자본을 사용한 ROE 10%. 자본 증가 원인은 미확인으로 자본변동표를 조사한다’입니다. 지표 세 개를 계산했다는 것만으로 사업의 경쟁력이나 매수 가격이 검증됐다고 발표하지 않습니다. 각 지표에서 남은 확인 질문을 함께 제출합니다.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같은 이익 회복에도 평가 배수에 따라 계산 가격이 달라집니다.</a:t>
            </a:r>
          </a:p>
          <a:p/>
          <a:p>
            <a:r>
              <a:t>[권장 진행]</a:t>
            </a:r>
          </a:p>
          <a:p>
            <a:r>
              <a:t>설명 4분 · 질문 2분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높은 이익과 높은 배수를 동시에 썼다면 각각의 근거를 제시해야 합니다.</a:t>
            </a:r>
          </a:p>
          <a:p/>
          <a:p>
            <a:r>
              <a:t>[권장 진행]</a:t>
            </a:r>
          </a:p>
          <a:p>
            <a:r>
              <a:t>설명 4분 · 질문 2분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EPS와 평가 배수의 변화를 따로 계산합니다.</a:t>
            </a:r>
          </a:p>
          <a:p/>
          <a:p>
            <a:r>
              <a:t>[권장 진행]</a:t>
            </a:r>
          </a:p>
          <a:p>
            <a:r>
              <a:t>계산 4분 · 해석 토론 6분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평가 배수가 낮아지면 이익 증가가 가격 상승으로 이어지지 않을 수 있습니다.</a:t>
            </a:r>
          </a:p>
          <a:p/>
          <a:p>
            <a:r>
              <a:t>[권장 진행]</a:t>
            </a:r>
          </a:p>
          <a:p>
            <a:r>
              <a:t>설명 4분 · 질문 2분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배수는 비교를 돕는 숫자입니다. 결론의 근거를 대신하지 않습니다.</a:t>
            </a:r>
          </a:p>
          <a:p/>
          <a:p>
            <a:r>
              <a:t>[권장 진행]</a:t>
            </a:r>
          </a:p>
          <a:p>
            <a:r>
              <a:t>설명 4분 · 질문 2분</a:t>
            </a:r>
          </a:p>
          <a:p/>
          <a:p>
            <a:r>
              <a:t>[설명 원고]</a:t>
            </a:r>
          </a:p>
          <a:p>
            <a:r>
              <a:t>한빛식품의 주가는 두 비교 시점 모두 20,000원, 보통주 수는 100만 주라고 가정합니다. 같은 범위의 보통주 귀속 순이익은 2024년 10억 원, 2025년 8억 원입니다. 우선주·자기주식·주식 수 변동·희석 효과는 없는 단순 예시입니다. 실제 EPS를 확인할 때는 주당이익 주석의 귀속 이익과 가중평균 주식 수, 기본·희석 구분을 사용해야 합니다.</a:t>
            </a:r>
          </a:p>
          <a:p/>
          <a:p>
            <a:r>
              <a:t>2024년 EPS는 10억 원÷100만 주=1,000원입니다. 2025년은 8억 원÷100만 주=800원입니다. PER는 주가÷EPS이므로 각각 20,000÷1,000=20배, 20,000÷800=25배입니다. 주가가 오르지 않았어도 분모인 이익이 줄어 PER가 높아졌습니다. 시가총액 200억 원을 순이익 10억·8억 원으로 나누어도 20배·25배로 검산됩니다.</a:t>
            </a:r>
          </a:p>
          <a:p/>
          <a:p>
            <a:r>
              <a:t>화면에서 한 곳은 PER 20배, 다른 곳은 25배라고 보인다면 곧바로 오류라고 하지 않습니다. 기준 주가 시점, 과거 연간·최근 기간·예상 이익인지, EPS의 집계 범위를 확인합니다. 이 예시에서는 과거 이익으로 20배라고 말하면서 현재의 낮아진 이익을 생략하면 가격을 더 낮은 배수로 보이게 만들 수 있습니다.</a:t>
            </a:r>
          </a:p>
          <a:p/>
          <a:p>
            <a:r>
              <a:t>완성 설명: ‘주가는 2만 원으로 같지만 순이익이 10억에서 8억으로 감소해 EPS가 1,000원에서 800원으로 줄었다. 같은 주가에 적용한 PER는 20배에서 25배로 높아졌다. 다음에는 이익 감소가 일시적인지 반복될 문제인지 조사한다.’ ‘PER 25배니까 반드시 비싸다’는 결론은 이 계산만으로 나오지 않습니다. 비교 기업과 성장·위험 조건이 더 필요합니다.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목적]</a:t>
            </a:r>
          </a:p>
          <a:p>
            <a:r>
              <a:t>가상 시나리오를 회사 전망이나 수익 보장으로 표시하지 않습니다.</a:t>
            </a:r>
          </a:p>
          <a:p/>
          <a:p>
            <a:r>
              <a:t>[권장 진행]</a:t>
            </a:r>
          </a:p>
          <a:p>
            <a:r>
              <a:t>시나리오 표 10분 · 반대 조건 토론 10분</a:t>
            </a:r>
          </a:p>
          <a:p/>
          <a:p>
            <a:r>
              <a:t>[설명 원고]</a:t>
            </a:r>
          </a:p>
          <a:p>
            <a:r>
              <a:t>현재 가정 주가 20,000원과 EPS 800원을 출발점으로 씁니다. 내년 순이익이 6억·8억·10억 원인 세 상황을 만들고 주식 수가 100만 주로 유지된다고 가정하면 EPS는 600·800·1,000원입니다. 이 값은 회사의 전망을 인용한 것이 아니라 학습자가 만든 가정입니다. 원가율 개선이나 판매가격 인상 같은 사업 조건과 연결하지 않으면 단순 숫자 나열에 그칩니다.</a:t>
            </a:r>
          </a:p>
          <a:p/>
          <a:p>
            <a:r>
              <a:t>각 상황에 PER 20배를 적용하면 12,000원·16,000원·20,000원입니다. 현재 2만 원 대비 −40%·−20%·0%입니다. 이익이 8억에서 10억으로 회복돼도 적용 배수가 현재 계산 25배에서 20배로 낮아지면 계산 가격은 현재와 같습니다. 이익 증가와 주가 상승을 같은 뜻으로 사용하면 이 평가 배수 변화를 생략하게 됩니다.</a:t>
            </a:r>
          </a:p>
          <a:p/>
          <a:p>
            <a:r>
              <a:t>이익 10억 원에 PER 25배가 유지된다는 다른 조건에서는 25,000원으로 현재 대비 +25%입니다. 이 결과를 설명하려면 ‘왜 이익이 회복되는가’와 ‘왜 25배 평가가 유지되는가’를 각각 답해야 합니다. 여기에는 배당·비용·시나리오 확률이 없으므로 단순 가격 변화이며 기대수익이나 목표 가격의 약속으로 제시하지 않습니다.</a:t>
            </a:r>
          </a:p>
          <a:p/>
          <a:p>
            <a:r>
              <a:t>완성 발표: ‘이익 회복만으로 상승을 확정할 수 없습니다. 순이익 10억 원이어도 20배 평가에서는 2만 원, 25배에서는 2만5천 원입니다. 원가율 회복 여부와 비교 기업의 같은 기준 평가를 조사하겠습니다.’ 이어 ‘내 가정과 달리 원가율이 계속 높다면 이익 회복 시나리오를 수정한다’라는 반대 조건을 적어 시나리오를 다음 조사와 연결합니다.</a:t>
            </a:r>
          </a:p>
          <a:p/>
          <a:p>
            <a:r>
              <a:t>[진행자 안내]</a:t>
            </a:r>
          </a:p>
          <a:p>
            <a:r>
              <a:t>표의 단위와 가정을 먼저 읽고, 계산 결과를 제시하기 전에 참가자의 답을 받아 주세요.</a:t>
            </a:r>
          </a:p>
          <a:p/>
          <a:p>
            <a:r>
              <a:t>[확인 질문]</a:t>
            </a:r>
          </a:p>
          <a:p>
            <a:r>
              <a:t>어떤 수치는 확인한 사실이고, 어떤 결론에는 추가 자료가 필요한가요?</a:t>
            </a:r>
          </a:p>
          <a:p/>
          <a:p>
            <a:r>
              <a:t>[자료 기준]</a:t>
            </a:r>
          </a:p>
          <a:p>
            <a:r>
              <a:t>한빛식품 및 인용 형식의 계약·기사는 교육용 가상 자료입니다. 실제 종목 추천이나 실제 공시 인용이 아닙니다. 다른 예제는 별도의 가정이므로 조건을 먼저 확인합니다.</a:t>
            </a:r>
          </a:p>
          <a:p/>
          <a:p>
            <a:r>
              <a:t>[공식 개념 참고]</a:t>
            </a:r>
          </a:p>
          <a:p>
            <a:r>
              <a:t>금융감독원 DART · 보고서 정보</a:t>
            </a:r>
          </a:p>
          <a:p>
            <a:r>
              <a:t>https://dart.fss.or.kr/introduction/content2.do</a:t>
            </a:r>
          </a:p>
          <a:p>
            <a:r>
              <a:t>금융감독원 DART · 공시 검색</a:t>
            </a:r>
          </a:p>
          <a:p>
            <a:r>
              <a:t>https://dart.fss.or.kr/dsab007/main.do</a:t>
            </a:r>
          </a:p>
          <a:p>
            <a:r>
              <a:t>SEC · 재무제표 입문</a:t>
            </a:r>
          </a:p>
          <a:p>
            <a:r>
              <a:t>https://www.sec.gov/about/reports-publications/investorpubsbegfinstmtguide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가상 회사의 수치를 실제 기업의 자료로 인용하지 않습니다. 실제 조사는 원문 링크, 대상 기간, 단위, 연결 범위, 확인 날짜를 기록합니다.</a:t>
            </a:r>
          </a:p>
          <a:p/>
          <a:p>
            <a:r>
              <a:t>기업 비교표에 숫자뿐 아니라 비교의 한계 3개를 추가합니다.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rt.fss.or.kr/introduction/content2.do" TargetMode="External"/><Relationship Id="rId3" Type="http://schemas.openxmlformats.org/officeDocument/2006/relationships/hyperlink" Target="https://dart.fss.or.kr/dsab007/main.do" TargetMode="External"/><Relationship Id="rId4" Type="http://schemas.openxmlformats.org/officeDocument/2006/relationships/hyperlink" Target="https://www.sec.gov/about/reports-publications/investorpubsbegfinstmtguide" TargetMode="External"/><Relationship Id="rId5"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92D"/>
        </a:solidFill>
        <a:effectLst/>
      </p:bgPr>
    </p:bg>
    <p:spTree>
      <p:nvGrpSpPr>
        <p:cNvPr id="1" name=""/>
        <p:cNvGrpSpPr/>
        <p:nvPr/>
      </p:nvGrpSpPr>
      <p:grpSpPr/>
      <p:sp>
        <p:nvSpPr>
          <p:cNvPr id="2" name="TextBox 1"/>
          <p:cNvSpPr txBox="1"/>
          <p:nvPr/>
        </p:nvSpPr>
        <p:spPr>
          <a:xfrm>
            <a:off x="667512" y="530352"/>
            <a:ext cx="91440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400" b="1">
                <a:solidFill>
                  <a:srgbClr val="FFFFFF"/>
                </a:solidFill>
                <a:latin typeface="Noto Sans CJK KR"/>
                <a:ea typeface="Noto Sans CJK KR"/>
              </a:defRPr>
            </a:pPr>
            <a:r>
              <a:rPr>
                <a:ea typeface="Noto Sans CJK KR"/>
              </a:rPr>
              <a:t>AMICOM / INVESTMENT STUDIO</a:t>
            </a:r>
          </a:p>
        </p:txBody>
      </p:sp>
      <p:sp>
        <p:nvSpPr>
          <p:cNvPr id="3" name="Rectangle 2"/>
          <p:cNvSpPr/>
          <p:nvPr/>
        </p:nvSpPr>
        <p:spPr>
          <a:xfrm>
            <a:off x="685800" y="1298448"/>
            <a:ext cx="548640" cy="59436"/>
          </a:xfrm>
          <a:prstGeom prst="rect">
            <a:avLst/>
          </a:prstGeom>
          <a:solidFill>
            <a:srgbClr val="CF283B"/>
          </a:solidFill>
          <a:ln>
            <a:noFill/>
          </a:ln>
          <a:effectLst/>
        </p:spPr>
        <p:txBody>
          <a:bodyPr rtlCol="0" anchor="ctr"/>
          <a:lstStyle/>
          <a:p>
            <a:pPr algn="ctr"/>
          </a:p>
        </p:txBody>
      </p:sp>
      <p:sp>
        <p:nvSpPr>
          <p:cNvPr id="4" name="TextBox 3"/>
          <p:cNvSpPr txBox="1"/>
          <p:nvPr/>
        </p:nvSpPr>
        <p:spPr>
          <a:xfrm>
            <a:off x="8476488" y="1536192"/>
            <a:ext cx="3291840" cy="2560320"/>
          </a:xfrm>
          <a:prstGeom prst="rect">
            <a:avLst/>
          </a:prstGeom>
          <a:noFill/>
        </p:spPr>
        <p:txBody>
          <a:bodyPr wrap="none" anchor="t" anchorCtr="0" lIns="0" rIns="0" tIns="0" bIns="0">
            <a:noAutofit/>
          </a:bodyPr>
          <a:lstStyle/>
          <a:p>
            <a:pPr algn="l">
              <a:lnSpc>
                <a:spcPct val="116000"/>
              </a:lnSpc>
              <a:spcBef>
                <a:spcPts val="0"/>
              </a:spcBef>
              <a:spcAft>
                <a:spcPts val="0"/>
              </a:spcAft>
              <a:defRPr sz="15400" b="1">
                <a:solidFill>
                  <a:srgbClr val="31474A"/>
                </a:solidFill>
                <a:latin typeface="Noto Sans CJK KR"/>
                <a:ea typeface="Noto Sans CJK KR"/>
              </a:defRPr>
            </a:pPr>
            <a:r>
              <a:rPr>
                <a:ea typeface="Noto Sans CJK KR"/>
              </a:rPr>
              <a:t>04</a:t>
            </a:r>
          </a:p>
        </p:txBody>
      </p:sp>
      <p:sp>
        <p:nvSpPr>
          <p:cNvPr id="5" name="TextBox 4"/>
          <p:cNvSpPr txBox="1"/>
          <p:nvPr/>
        </p:nvSpPr>
        <p:spPr>
          <a:xfrm>
            <a:off x="667512" y="1847088"/>
            <a:ext cx="8183879" cy="1783080"/>
          </a:xfrm>
          <a:prstGeom prst="rect">
            <a:avLst/>
          </a:prstGeom>
          <a:noFill/>
        </p:spPr>
        <p:txBody>
          <a:bodyPr wrap="none" anchor="t" anchorCtr="0" lIns="0" rIns="0" tIns="0" bIns="0">
            <a:noAutofit/>
          </a:bodyPr>
          <a:lstStyle/>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좋은 실적과</a:t>
            </a:r>
          </a:p>
          <a:p>
            <a:pPr algn="l">
              <a:lnSpc>
                <a:spcPct val="116000"/>
              </a:lnSpc>
              <a:spcBef>
                <a:spcPts val="0"/>
              </a:spcBef>
              <a:spcAft>
                <a:spcPts val="0"/>
              </a:spcAft>
              <a:defRPr sz="4200" b="1">
                <a:solidFill>
                  <a:srgbClr val="FFFFFF"/>
                </a:solidFill>
                <a:latin typeface="Noto Sans CJK KR"/>
                <a:ea typeface="Noto Sans CJK KR"/>
              </a:defRPr>
            </a:pPr>
            <a:r>
              <a:rPr>
                <a:ea typeface="Noto Sans CJK KR"/>
              </a:rPr>
              <a:t>좋은 가격은 다릅니다</a:t>
            </a:r>
          </a:p>
        </p:txBody>
      </p:sp>
      <p:sp>
        <p:nvSpPr>
          <p:cNvPr id="6" name="TextBox 5"/>
          <p:cNvSpPr txBox="1"/>
          <p:nvPr/>
        </p:nvSpPr>
        <p:spPr>
          <a:xfrm>
            <a:off x="713232" y="3995928"/>
            <a:ext cx="8183879" cy="1014984"/>
          </a:xfrm>
          <a:prstGeom prst="rect">
            <a:avLst/>
          </a:prstGeom>
          <a:noFill/>
        </p:spPr>
        <p:txBody>
          <a:bodyPr wrap="none" anchor="t" anchorCtr="0" lIns="0" rIns="0" tIns="0" bIns="0">
            <a:noAutofit/>
          </a:bodyPr>
          <a:lstStyle/>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EPS·PER·PBR·ROE를 계산하고</a:t>
            </a:r>
          </a:p>
          <a:p>
            <a:pPr algn="l">
              <a:lnSpc>
                <a:spcPct val="116000"/>
              </a:lnSpc>
              <a:spcBef>
                <a:spcPts val="0"/>
              </a:spcBef>
              <a:spcAft>
                <a:spcPts val="0"/>
              </a:spcAft>
              <a:defRPr sz="2300" b="0">
                <a:solidFill>
                  <a:srgbClr val="D4DEDA"/>
                </a:solidFill>
                <a:latin typeface="Noto Sans CJK KR"/>
                <a:ea typeface="Noto Sans CJK KR"/>
              </a:defRPr>
            </a:pPr>
            <a:r>
              <a:rPr>
                <a:ea typeface="Noto Sans CJK KR"/>
              </a:rPr>
              <a:t>가격에 들어 있는 가정을 구분합니다.</a:t>
            </a:r>
          </a:p>
        </p:txBody>
      </p:sp>
      <p:sp>
        <p:nvSpPr>
          <p:cNvPr id="7" name="Rectangle 6"/>
          <p:cNvSpPr/>
          <p:nvPr/>
        </p:nvSpPr>
        <p:spPr>
          <a:xfrm>
            <a:off x="9198864" y="4206240"/>
            <a:ext cx="265176" cy="402336"/>
          </a:xfrm>
          <a:prstGeom prst="rect">
            <a:avLst/>
          </a:prstGeom>
          <a:solidFill>
            <a:srgbClr val="687F7D"/>
          </a:solidFill>
          <a:ln>
            <a:noFill/>
          </a:ln>
          <a:effectLst/>
        </p:spPr>
        <p:txBody>
          <a:bodyPr rtlCol="0" anchor="ctr"/>
          <a:lstStyle/>
          <a:p>
            <a:pPr algn="ctr"/>
          </a:p>
        </p:txBody>
      </p:sp>
      <p:sp>
        <p:nvSpPr>
          <p:cNvPr id="8" name="Rectangle 7"/>
          <p:cNvSpPr/>
          <p:nvPr/>
        </p:nvSpPr>
        <p:spPr>
          <a:xfrm>
            <a:off x="9774936" y="3730752"/>
            <a:ext cx="265176" cy="877824"/>
          </a:xfrm>
          <a:prstGeom prst="rect">
            <a:avLst/>
          </a:prstGeom>
          <a:solidFill>
            <a:srgbClr val="687F7D"/>
          </a:solidFill>
          <a:ln>
            <a:noFill/>
          </a:ln>
          <a:effectLst/>
        </p:spPr>
        <p:txBody>
          <a:bodyPr rtlCol="0" anchor="ctr"/>
          <a:lstStyle/>
          <a:p>
            <a:pPr algn="ctr"/>
          </a:p>
        </p:txBody>
      </p:sp>
      <p:sp>
        <p:nvSpPr>
          <p:cNvPr id="9" name="Rectangle 8"/>
          <p:cNvSpPr/>
          <p:nvPr/>
        </p:nvSpPr>
        <p:spPr>
          <a:xfrm>
            <a:off x="10351008" y="3182112"/>
            <a:ext cx="265176" cy="1426464"/>
          </a:xfrm>
          <a:prstGeom prst="rect">
            <a:avLst/>
          </a:prstGeom>
          <a:solidFill>
            <a:srgbClr val="CF283B"/>
          </a:solidFill>
          <a:ln>
            <a:noFill/>
          </a:ln>
          <a:effectLst/>
        </p:spPr>
        <p:txBody>
          <a:bodyPr rtlCol="0" anchor="ctr"/>
          <a:lstStyle/>
          <a:p>
            <a:pPr algn="ctr"/>
          </a:p>
        </p:txBody>
      </p:sp>
      <p:cxnSp>
        <p:nvCxnSpPr>
          <p:cNvPr id="10" name="Connector 9"/>
          <p:cNvCxnSpPr/>
          <p:nvPr/>
        </p:nvCxnSpPr>
        <p:spPr>
          <a:xfrm>
            <a:off x="704088" y="5870448"/>
            <a:ext cx="10762488" cy="0"/>
          </a:xfrm>
          <a:prstGeom prst="line">
            <a:avLst/>
          </a:prstGeom>
          <a:ln w="19050">
            <a:solidFill>
              <a:srgbClr val="687F7D"/>
            </a:solidFill>
          </a:ln>
          <a:effectLst/>
        </p:spPr>
      </p:cxnSp>
      <p:sp>
        <p:nvSpPr>
          <p:cNvPr id="11" name="TextBox 10"/>
          <p:cNvSpPr txBox="1"/>
          <p:nvPr/>
        </p:nvSpPr>
        <p:spPr>
          <a:xfrm>
            <a:off x="713232" y="6135624"/>
            <a:ext cx="6400800" cy="39319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FFFFFF"/>
                </a:solidFill>
                <a:latin typeface="Noto Sans CJK KR"/>
                <a:ea typeface="Noto Sans CJK KR"/>
              </a:defRPr>
            </a:pPr>
            <a:r>
              <a:rPr>
                <a:ea typeface="Noto Sans CJK KR"/>
              </a:rPr>
              <a:t>WEEK 04 · 투자 입문 스터디</a:t>
            </a:r>
          </a:p>
        </p:txBody>
      </p:sp>
      <p:sp>
        <p:nvSpPr>
          <p:cNvPr id="12" name="TextBox 11"/>
          <p:cNvSpPr txBox="1"/>
          <p:nvPr/>
        </p:nvSpPr>
        <p:spPr>
          <a:xfrm>
            <a:off x="7726679" y="6144768"/>
            <a:ext cx="3749039" cy="393192"/>
          </a:xfrm>
          <a:prstGeom prst="rect">
            <a:avLst/>
          </a:prstGeom>
          <a:noFill/>
        </p:spPr>
        <p:txBody>
          <a:bodyPr wrap="none" anchor="t" anchorCtr="0" lIns="0" rIns="0" tIns="0" bIns="0">
            <a:noAutofit/>
          </a:bodyPr>
          <a:lstStyle/>
          <a:p>
            <a:pPr algn="r">
              <a:lnSpc>
                <a:spcPct val="116000"/>
              </a:lnSpc>
              <a:spcBef>
                <a:spcPts val="0"/>
              </a:spcBef>
              <a:spcAft>
                <a:spcPts val="0"/>
              </a:spcAft>
              <a:defRPr sz="1500" b="0">
                <a:solidFill>
                  <a:srgbClr val="D4DEDA"/>
                </a:solidFill>
                <a:latin typeface="Noto Sans CJK KR"/>
                <a:ea typeface="Noto Sans CJK KR"/>
              </a:defRPr>
            </a:pPr>
            <a:r>
              <a:rPr>
                <a:ea typeface="Noto Sans CJK KR"/>
              </a:rPr>
              <a:t>개념 → 자료 → 계산 → 해석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EPS는 기업 이익을 주식 한 주의 단위로 바꿉니다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실제 EPS는 주당이익 주석의 이익·가중평균 주식 수·기본/희석 구분을 확인합니다.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02</a:t>
            </a:r>
          </a:p>
        </p:txBody>
      </p:sp>
      <p:sp>
        <p:nvSpPr>
          <p:cNvPr id="19" name="TextBox 18"/>
          <p:cNvSpPr txBox="1"/>
          <p:nvPr/>
        </p:nvSpPr>
        <p:spPr>
          <a:xfrm>
            <a:off x="594360"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01</a:t>
            </a:r>
          </a:p>
        </p:txBody>
      </p:sp>
      <p:cxnSp>
        <p:nvCxnSpPr>
          <p:cNvPr id="20" name="Connector 19"/>
          <p:cNvCxnSpPr/>
          <p:nvPr/>
        </p:nvCxnSpPr>
        <p:spPr>
          <a:xfrm>
            <a:off x="594360" y="2926080"/>
            <a:ext cx="3407664" cy="0"/>
          </a:xfrm>
          <a:prstGeom prst="line">
            <a:avLst/>
          </a:prstGeom>
          <a:ln w="25400">
            <a:solidFill>
              <a:srgbClr val="D8DEDA"/>
            </a:solidFill>
          </a:ln>
          <a:effectLst/>
        </p:spPr>
      </p:cxnSp>
      <p:sp>
        <p:nvSpPr>
          <p:cNvPr id="21" name="TextBox 20"/>
          <p:cNvSpPr txBox="1"/>
          <p:nvPr/>
        </p:nvSpPr>
        <p:spPr>
          <a:xfrm>
            <a:off x="594360"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같은 귀속 범위의 순이익</a:t>
            </a:r>
          </a:p>
        </p:txBody>
      </p:sp>
      <p:sp>
        <p:nvSpPr>
          <p:cNvPr id="22" name="TextBox 21"/>
          <p:cNvSpPr txBox="1"/>
          <p:nvPr/>
        </p:nvSpPr>
        <p:spPr>
          <a:xfrm>
            <a:off x="594360"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8억 원</a:t>
            </a:r>
          </a:p>
        </p:txBody>
      </p:sp>
      <p:sp>
        <p:nvSpPr>
          <p:cNvPr id="23" name="TextBox 22"/>
          <p:cNvSpPr txBox="1"/>
          <p:nvPr/>
        </p:nvSpPr>
        <p:spPr>
          <a:xfrm>
            <a:off x="594360"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가상 2025년 순이익</a:t>
            </a:r>
          </a:p>
        </p:txBody>
      </p:sp>
      <p:sp>
        <p:nvSpPr>
          <p:cNvPr id="24" name="TextBox 23"/>
          <p:cNvSpPr txBox="1"/>
          <p:nvPr/>
        </p:nvSpPr>
        <p:spPr>
          <a:xfrm>
            <a:off x="4002024"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25" name="TextBox 24"/>
          <p:cNvSpPr txBox="1"/>
          <p:nvPr/>
        </p:nvSpPr>
        <p:spPr>
          <a:xfrm>
            <a:off x="4386072"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02</a:t>
            </a:r>
          </a:p>
        </p:txBody>
      </p:sp>
      <p:cxnSp>
        <p:nvCxnSpPr>
          <p:cNvPr id="26" name="Connector 25"/>
          <p:cNvCxnSpPr/>
          <p:nvPr/>
        </p:nvCxnSpPr>
        <p:spPr>
          <a:xfrm>
            <a:off x="4386072" y="2926080"/>
            <a:ext cx="3407664" cy="0"/>
          </a:xfrm>
          <a:prstGeom prst="line">
            <a:avLst/>
          </a:prstGeom>
          <a:ln w="25400">
            <a:solidFill>
              <a:srgbClr val="D8DEDA"/>
            </a:solidFill>
          </a:ln>
          <a:effectLst/>
        </p:spPr>
      </p:cxnSp>
      <p:sp>
        <p:nvSpPr>
          <p:cNvPr id="27" name="TextBox 26"/>
          <p:cNvSpPr txBox="1"/>
          <p:nvPr/>
        </p:nvSpPr>
        <p:spPr>
          <a:xfrm>
            <a:off x="4386072"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일정한 주식 수</a:t>
            </a:r>
          </a:p>
        </p:txBody>
      </p:sp>
      <p:sp>
        <p:nvSpPr>
          <p:cNvPr id="28" name="TextBox 27"/>
          <p:cNvSpPr txBox="1"/>
          <p:nvPr/>
        </p:nvSpPr>
        <p:spPr>
          <a:xfrm>
            <a:off x="4386072"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100만 주</a:t>
            </a:r>
          </a:p>
        </p:txBody>
      </p:sp>
      <p:sp>
        <p:nvSpPr>
          <p:cNvPr id="29" name="TextBox 28"/>
          <p:cNvSpPr txBox="1"/>
          <p:nvPr/>
        </p:nvSpPr>
        <p:spPr>
          <a:xfrm>
            <a:off x="4386072"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희석·자기주식 등 없는 가정</a:t>
            </a:r>
          </a:p>
        </p:txBody>
      </p:sp>
      <p:sp>
        <p:nvSpPr>
          <p:cNvPr id="30" name="TextBox 29"/>
          <p:cNvSpPr txBox="1"/>
          <p:nvPr/>
        </p:nvSpPr>
        <p:spPr>
          <a:xfrm>
            <a:off x="7793736" y="3931920"/>
            <a:ext cx="365760" cy="548640"/>
          </a:xfrm>
          <a:prstGeom prst="rect">
            <a:avLst/>
          </a:prstGeom>
          <a:noFill/>
        </p:spPr>
        <p:txBody>
          <a:bodyPr wrap="none" anchor="t" anchorCtr="0" lIns="0" rIns="0" tIns="0" bIns="0">
            <a:noAutofit/>
          </a:bodyPr>
          <a:lstStyle/>
          <a:p>
            <a:pPr algn="l">
              <a:lnSpc>
                <a:spcPct val="116000"/>
              </a:lnSpc>
              <a:spcBef>
                <a:spcPts val="0"/>
              </a:spcBef>
              <a:spcAft>
                <a:spcPts val="0"/>
              </a:spcAft>
              <a:defRPr sz="2500" b="0">
                <a:solidFill>
                  <a:srgbClr val="CF283B"/>
                </a:solidFill>
                <a:latin typeface="Noto Sans CJK KR"/>
                <a:ea typeface="Noto Sans CJK KR"/>
              </a:defRPr>
            </a:pPr>
            <a:r>
              <a:rPr>
                <a:ea typeface="Noto Sans CJK KR"/>
              </a:rPr>
              <a:t>→</a:t>
            </a:r>
          </a:p>
        </p:txBody>
      </p:sp>
      <p:sp>
        <p:nvSpPr>
          <p:cNvPr id="31" name="TextBox 30"/>
          <p:cNvSpPr txBox="1"/>
          <p:nvPr/>
        </p:nvSpPr>
        <p:spPr>
          <a:xfrm>
            <a:off x="8177784" y="2496312"/>
            <a:ext cx="3407664" cy="32004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CF283B"/>
                </a:solidFill>
                <a:latin typeface="Noto Sans CJK KR"/>
                <a:ea typeface="Noto Sans CJK KR"/>
              </a:defRPr>
            </a:pPr>
            <a:r>
              <a:rPr>
                <a:ea typeface="Noto Sans CJK KR"/>
              </a:rPr>
              <a:t>03</a:t>
            </a:r>
          </a:p>
        </p:txBody>
      </p:sp>
      <p:cxnSp>
        <p:nvCxnSpPr>
          <p:cNvPr id="32" name="Connector 31"/>
          <p:cNvCxnSpPr/>
          <p:nvPr/>
        </p:nvCxnSpPr>
        <p:spPr>
          <a:xfrm>
            <a:off x="8177784" y="2926080"/>
            <a:ext cx="3407664" cy="0"/>
          </a:xfrm>
          <a:prstGeom prst="line">
            <a:avLst/>
          </a:prstGeom>
          <a:ln w="25400">
            <a:solidFill>
              <a:srgbClr val="D8DEDA"/>
            </a:solidFill>
          </a:ln>
          <a:effectLst/>
        </p:spPr>
      </p:cxnSp>
      <p:sp>
        <p:nvSpPr>
          <p:cNvPr id="33" name="TextBox 32"/>
          <p:cNvSpPr txBox="1"/>
          <p:nvPr/>
        </p:nvSpPr>
        <p:spPr>
          <a:xfrm>
            <a:off x="8177784" y="3172968"/>
            <a:ext cx="3407664" cy="493776"/>
          </a:xfrm>
          <a:prstGeom prst="rect">
            <a:avLst/>
          </a:prstGeom>
          <a:noFill/>
        </p:spPr>
        <p:txBody>
          <a:bodyPr wrap="none" anchor="t" anchorCtr="0" lIns="0" rIns="0" tIns="0" bIns="0">
            <a:noAutofit/>
          </a:bodyPr>
          <a:lstStyle/>
          <a:p>
            <a:pPr algn="l">
              <a:lnSpc>
                <a:spcPct val="116000"/>
              </a:lnSpc>
              <a:spcBef>
                <a:spcPts val="0"/>
              </a:spcBef>
              <a:spcAft>
                <a:spcPts val="0"/>
              </a:spcAft>
              <a:defRPr sz="2000" b="1">
                <a:solidFill>
                  <a:srgbClr val="5C6B6E"/>
                </a:solidFill>
                <a:latin typeface="Noto Sans CJK KR"/>
                <a:ea typeface="Noto Sans CJK KR"/>
              </a:defRPr>
            </a:pPr>
            <a:r>
              <a:rPr>
                <a:ea typeface="Noto Sans CJK KR"/>
              </a:rPr>
              <a:t>주당순이익</a:t>
            </a:r>
          </a:p>
        </p:txBody>
      </p:sp>
      <p:sp>
        <p:nvSpPr>
          <p:cNvPr id="34" name="TextBox 33"/>
          <p:cNvSpPr txBox="1"/>
          <p:nvPr/>
        </p:nvSpPr>
        <p:spPr>
          <a:xfrm>
            <a:off x="8177784" y="3831336"/>
            <a:ext cx="3407664" cy="94183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800원</a:t>
            </a:r>
          </a:p>
        </p:txBody>
      </p:sp>
      <p:sp>
        <p:nvSpPr>
          <p:cNvPr id="35" name="TextBox 34"/>
          <p:cNvSpPr txBox="1"/>
          <p:nvPr/>
        </p:nvSpPr>
        <p:spPr>
          <a:xfrm>
            <a:off x="8177784" y="4928616"/>
            <a:ext cx="3407664" cy="667512"/>
          </a:xfrm>
          <a:prstGeom prst="rect">
            <a:avLst/>
          </a:prstGeom>
          <a:noFill/>
        </p:spPr>
        <p:txBody>
          <a:bodyPr wrap="none" anchor="t" anchorCtr="0" lIns="0" rIns="0" tIns="0" bIns="0">
            <a:noAutofit/>
          </a:bodyPr>
          <a:lstStyle/>
          <a:p>
            <a:pPr algn="l">
              <a:lnSpc>
                <a:spcPct val="116000"/>
              </a:lnSpc>
              <a:spcBef>
                <a:spcPts val="0"/>
              </a:spcBef>
              <a:spcAft>
                <a:spcPts val="0"/>
              </a:spcAft>
              <a:defRPr sz="1700" b="0">
                <a:solidFill>
                  <a:srgbClr val="5C6B6E"/>
                </a:solidFill>
                <a:latin typeface="Noto Sans CJK KR"/>
                <a:ea typeface="Noto Sans CJK KR"/>
              </a:defRPr>
            </a:pPr>
            <a:r>
              <a:rPr>
                <a:ea typeface="Noto Sans CJK KR"/>
              </a:rPr>
              <a:t>8억 원 ÷ 100만 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주가가 같은데 PER가 높아진 이유</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주가가 오르지 않아도 이익이 줄면 이익 대비 가격은 높아집니다.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03</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2024년 EPS 1,000원</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PER 20배</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주가 20,000원 ÷ EPS 1,000원</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2025년 EPS 800원</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PER 25배</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주가 20,000원 ÷ EPS 800원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PBR와 ROE는 자본을 다른 방식으로 사용합니다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PBR의 기말 자본과 ROE의 평균 자본을 같은 분모로 처리하지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04</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기말 자본 90억 원</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BPS 9,000원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주가 20,000 ÷ BPS 9,000 ≈ PBR 2.22배</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기초 70억 · 기말 90억</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평균 자본 80억</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순이익 8억 ÷ 평균 자본 80억 = ROE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가격 시나리오에는 이익과 평가 배수 가정이 들어갑니다</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주식 수 100만 주 유지. 현재 가정 주가 20,000원. 배당·비용·확률 미포함.</a:t>
            </a:r>
          </a:p>
        </p:txBody>
      </p:sp>
      <p:sp>
        <p:nvSpPr>
          <p:cNvPr id="14" name="Rectangle 13"/>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5" name="TextBox 14"/>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같은 이익 회복에도 평가 배수에 따라 계산 가격이 달라집니다.</a:t>
            </a:r>
          </a:p>
        </p:txBody>
      </p:sp>
      <p:cxnSp>
        <p:nvCxnSpPr>
          <p:cNvPr id="16" name="Connector 15"/>
          <p:cNvCxnSpPr/>
          <p:nvPr/>
        </p:nvCxnSpPr>
        <p:spPr>
          <a:xfrm>
            <a:off x="594360" y="6455664"/>
            <a:ext cx="11000232" cy="0"/>
          </a:xfrm>
          <a:prstGeom prst="line">
            <a:avLst/>
          </a:prstGeom>
          <a:ln w="19050">
            <a:solidFill>
              <a:srgbClr val="D8DEDA"/>
            </a:solidFill>
          </a:ln>
          <a:effectLst/>
        </p:spPr>
      </p:cxnSp>
      <p:sp>
        <p:nvSpPr>
          <p:cNvPr id="17" name="TextBox 16"/>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8" name="TextBox 17"/>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9" name="TextBox 18"/>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05</a:t>
            </a:r>
          </a:p>
        </p:txBody>
      </p:sp>
      <p:sp>
        <p:nvSpPr>
          <p:cNvPr id="20" name="Rectangle 19"/>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1" name="TextBox 20"/>
          <p:cNvSpPr txBox="1"/>
          <p:nvPr/>
        </p:nvSpPr>
        <p:spPr>
          <a:xfrm>
            <a:off x="740664" y="2532888"/>
            <a:ext cx="3749039"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순이익 / EPS</a:t>
            </a:r>
          </a:p>
        </p:txBody>
      </p:sp>
      <p:sp>
        <p:nvSpPr>
          <p:cNvPr id="22" name="TextBox 21"/>
          <p:cNvSpPr txBox="1"/>
          <p:nvPr/>
        </p:nvSpPr>
        <p:spPr>
          <a:xfrm>
            <a:off x="4782312" y="2532888"/>
            <a:ext cx="31821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PER 20배</a:t>
            </a:r>
          </a:p>
        </p:txBody>
      </p:sp>
      <p:sp>
        <p:nvSpPr>
          <p:cNvPr id="23" name="TextBox 22"/>
          <p:cNvSpPr txBox="1"/>
          <p:nvPr/>
        </p:nvSpPr>
        <p:spPr>
          <a:xfrm>
            <a:off x="8257032" y="2532888"/>
            <a:ext cx="318211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PER 25배</a:t>
            </a:r>
          </a:p>
        </p:txBody>
      </p:sp>
      <p:sp>
        <p:nvSpPr>
          <p:cNvPr id="24" name="Rectangle 23"/>
          <p:cNvSpPr/>
          <p:nvPr/>
        </p:nvSpPr>
        <p:spPr>
          <a:xfrm>
            <a:off x="594360" y="2935224"/>
            <a:ext cx="10991088" cy="713232"/>
          </a:xfrm>
          <a:prstGeom prst="rect">
            <a:avLst/>
          </a:prstGeom>
          <a:solidFill>
            <a:srgbClr val="FFFFFF"/>
          </a:solidFill>
          <a:ln>
            <a:noFill/>
          </a:ln>
          <a:effectLst/>
        </p:spPr>
        <p:txBody>
          <a:bodyPr rtlCol="0" anchor="ctr"/>
          <a:lstStyle/>
          <a:p>
            <a:pPr algn="ctr"/>
          </a:p>
        </p:txBody>
      </p:sp>
      <p:sp>
        <p:nvSpPr>
          <p:cNvPr id="25" name="TextBox 24"/>
          <p:cNvSpPr txBox="1"/>
          <p:nvPr/>
        </p:nvSpPr>
        <p:spPr>
          <a:xfrm>
            <a:off x="740664" y="3063240"/>
            <a:ext cx="374903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6억 / 600원</a:t>
            </a:r>
          </a:p>
        </p:txBody>
      </p:sp>
      <p:sp>
        <p:nvSpPr>
          <p:cNvPr id="26" name="TextBox 25"/>
          <p:cNvSpPr txBox="1"/>
          <p:nvPr/>
        </p:nvSpPr>
        <p:spPr>
          <a:xfrm>
            <a:off x="4782312" y="3063240"/>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12,000원</a:t>
            </a:r>
          </a:p>
        </p:txBody>
      </p:sp>
      <p:sp>
        <p:nvSpPr>
          <p:cNvPr id="27" name="TextBox 26"/>
          <p:cNvSpPr txBox="1"/>
          <p:nvPr/>
        </p:nvSpPr>
        <p:spPr>
          <a:xfrm>
            <a:off x="8257032" y="3063240"/>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15,000원</a:t>
            </a:r>
          </a:p>
        </p:txBody>
      </p:sp>
      <p:sp>
        <p:nvSpPr>
          <p:cNvPr id="28" name="Rectangle 27"/>
          <p:cNvSpPr/>
          <p:nvPr/>
        </p:nvSpPr>
        <p:spPr>
          <a:xfrm>
            <a:off x="594360" y="3648456"/>
            <a:ext cx="10991088" cy="713232"/>
          </a:xfrm>
          <a:prstGeom prst="rect">
            <a:avLst/>
          </a:prstGeom>
          <a:solidFill>
            <a:srgbClr val="E8EDE8"/>
          </a:solidFill>
          <a:ln>
            <a:noFill/>
          </a:ln>
          <a:effectLst/>
        </p:spPr>
        <p:txBody>
          <a:bodyPr rtlCol="0" anchor="ctr"/>
          <a:lstStyle/>
          <a:p>
            <a:pPr algn="ctr"/>
          </a:p>
        </p:txBody>
      </p:sp>
      <p:sp>
        <p:nvSpPr>
          <p:cNvPr id="29" name="TextBox 28"/>
          <p:cNvSpPr txBox="1"/>
          <p:nvPr/>
        </p:nvSpPr>
        <p:spPr>
          <a:xfrm>
            <a:off x="740664" y="3776472"/>
            <a:ext cx="374903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8억 / 800원</a:t>
            </a:r>
          </a:p>
        </p:txBody>
      </p:sp>
      <p:sp>
        <p:nvSpPr>
          <p:cNvPr id="30" name="TextBox 29"/>
          <p:cNvSpPr txBox="1"/>
          <p:nvPr/>
        </p:nvSpPr>
        <p:spPr>
          <a:xfrm>
            <a:off x="4782312" y="3776472"/>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16,000원</a:t>
            </a:r>
          </a:p>
        </p:txBody>
      </p:sp>
      <p:sp>
        <p:nvSpPr>
          <p:cNvPr id="31" name="TextBox 30"/>
          <p:cNvSpPr txBox="1"/>
          <p:nvPr/>
        </p:nvSpPr>
        <p:spPr>
          <a:xfrm>
            <a:off x="8257032" y="3776472"/>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20,000원</a:t>
            </a:r>
          </a:p>
        </p:txBody>
      </p:sp>
      <p:sp>
        <p:nvSpPr>
          <p:cNvPr id="32" name="Rectangle 31"/>
          <p:cNvSpPr/>
          <p:nvPr/>
        </p:nvSpPr>
        <p:spPr>
          <a:xfrm>
            <a:off x="594360" y="4361688"/>
            <a:ext cx="10991088" cy="713232"/>
          </a:xfrm>
          <a:prstGeom prst="rect">
            <a:avLst/>
          </a:prstGeom>
          <a:solidFill>
            <a:srgbClr val="FBE9E7"/>
          </a:solidFill>
          <a:ln>
            <a:noFill/>
          </a:ln>
          <a:effectLst/>
        </p:spPr>
        <p:txBody>
          <a:bodyPr rtlCol="0" anchor="ctr"/>
          <a:lstStyle/>
          <a:p>
            <a:pPr algn="ctr"/>
          </a:p>
        </p:txBody>
      </p:sp>
      <p:sp>
        <p:nvSpPr>
          <p:cNvPr id="33" name="TextBox 32"/>
          <p:cNvSpPr txBox="1"/>
          <p:nvPr/>
        </p:nvSpPr>
        <p:spPr>
          <a:xfrm>
            <a:off x="740664" y="4489703"/>
            <a:ext cx="3749039"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CF283B"/>
                </a:solidFill>
                <a:latin typeface="Noto Sans CJK KR"/>
                <a:ea typeface="Noto Sans CJK KR"/>
              </a:defRPr>
            </a:pPr>
            <a:r>
              <a:rPr>
                <a:ea typeface="Noto Sans CJK KR"/>
              </a:rPr>
              <a:t>10억 / 1,000원</a:t>
            </a:r>
          </a:p>
        </p:txBody>
      </p:sp>
      <p:sp>
        <p:nvSpPr>
          <p:cNvPr id="34" name="TextBox 33"/>
          <p:cNvSpPr txBox="1"/>
          <p:nvPr/>
        </p:nvSpPr>
        <p:spPr>
          <a:xfrm>
            <a:off x="4782312" y="4489703"/>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20,000원</a:t>
            </a:r>
          </a:p>
        </p:txBody>
      </p:sp>
      <p:sp>
        <p:nvSpPr>
          <p:cNvPr id="35" name="TextBox 34"/>
          <p:cNvSpPr txBox="1"/>
          <p:nvPr/>
        </p:nvSpPr>
        <p:spPr>
          <a:xfrm>
            <a:off x="8257032" y="4489703"/>
            <a:ext cx="3182112" cy="5486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CF283B"/>
                </a:solidFill>
                <a:latin typeface="Noto Sans CJK KR"/>
                <a:ea typeface="Noto Sans CJK KR"/>
              </a:defRPr>
            </a:pPr>
            <a:r>
              <a:rPr>
                <a:ea typeface="Noto Sans CJK KR"/>
              </a:rPr>
              <a:t>25,000원</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시나리오를 제시하기 전에 답할 두 질문</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높은 이익과 높은 배수를 동시에 썼다면 각각의 근거를 제시해야 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06</a:t>
            </a:r>
          </a:p>
        </p:txBody>
      </p:sp>
      <p:sp>
        <p:nvSpPr>
          <p:cNvPr id="19" name="Rounded Rectangle 18"/>
          <p:cNvSpPr/>
          <p:nvPr/>
        </p:nvSpPr>
        <p:spPr>
          <a:xfrm>
            <a:off x="594360"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13816"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사업 가정</a:t>
            </a:r>
          </a:p>
        </p:txBody>
      </p:sp>
      <p:sp>
        <p:nvSpPr>
          <p:cNvPr id="21" name="TextBox 20"/>
          <p:cNvSpPr txBox="1"/>
          <p:nvPr/>
        </p:nvSpPr>
        <p:spPr>
          <a:xfrm>
            <a:off x="813816"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왜 10억인가?</a:t>
            </a:r>
          </a:p>
        </p:txBody>
      </p:sp>
      <p:sp>
        <p:nvSpPr>
          <p:cNvPr id="22" name="TextBox 21"/>
          <p:cNvSpPr txBox="1"/>
          <p:nvPr/>
        </p:nvSpPr>
        <p:spPr>
          <a:xfrm>
            <a:off x="813816"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원가율·판매가격·물량의 근거</a:t>
            </a:r>
          </a:p>
        </p:txBody>
      </p:sp>
      <p:sp>
        <p:nvSpPr>
          <p:cNvPr id="23" name="Rounded Rectangle 22"/>
          <p:cNvSpPr/>
          <p:nvPr/>
        </p:nvSpPr>
        <p:spPr>
          <a:xfrm>
            <a:off x="6190488" y="2487168"/>
            <a:ext cx="5394959" cy="2990088"/>
          </a:xfrm>
          <a:prstGeom prst="roundRect">
            <a:avLst>
              <a:gd name="adj" fmla="val 12000"/>
            </a:avLst>
          </a:prstGeom>
          <a:solidFill>
            <a:srgbClr val="FFFFFF"/>
          </a:solidFill>
          <a:ln>
            <a:noFill/>
          </a:ln>
          <a:effectLst/>
        </p:spPr>
        <p:txBody>
          <a:bodyPr rtlCol="0" anchor="ctr"/>
          <a:lstStyle/>
          <a:p>
            <a:pPr algn="ctr"/>
          </a:p>
        </p:txBody>
      </p:sp>
      <p:sp>
        <p:nvSpPr>
          <p:cNvPr id="24" name="TextBox 23"/>
          <p:cNvSpPr txBox="1"/>
          <p:nvPr/>
        </p:nvSpPr>
        <p:spPr>
          <a:xfrm>
            <a:off x="6409944" y="2697480"/>
            <a:ext cx="4956048" cy="347472"/>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5C6B6E"/>
                </a:solidFill>
                <a:latin typeface="Noto Sans CJK KR"/>
                <a:ea typeface="Noto Sans CJK KR"/>
              </a:defRPr>
            </a:pPr>
            <a:r>
              <a:rPr>
                <a:ea typeface="Noto Sans CJK KR"/>
              </a:rPr>
              <a:t>평가 가정</a:t>
            </a:r>
          </a:p>
        </p:txBody>
      </p:sp>
      <p:sp>
        <p:nvSpPr>
          <p:cNvPr id="25" name="TextBox 24"/>
          <p:cNvSpPr txBox="1"/>
          <p:nvPr/>
        </p:nvSpPr>
        <p:spPr>
          <a:xfrm>
            <a:off x="6409944" y="3319272"/>
            <a:ext cx="4956048" cy="1005840"/>
          </a:xfrm>
          <a:prstGeom prst="rect">
            <a:avLst/>
          </a:prstGeom>
          <a:noFill/>
        </p:spPr>
        <p:txBody>
          <a:bodyPr wrap="none" anchor="t" anchorCtr="0" lIns="0" rIns="0" tIns="0" bIns="0">
            <a:noAutofit/>
          </a:bodyPr>
          <a:lstStyle/>
          <a:p>
            <a:pPr algn="l">
              <a:lnSpc>
                <a:spcPct val="116000"/>
              </a:lnSpc>
              <a:spcBef>
                <a:spcPts val="0"/>
              </a:spcBef>
              <a:spcAft>
                <a:spcPts val="0"/>
              </a:spcAft>
              <a:defRPr sz="3400" b="1">
                <a:solidFill>
                  <a:srgbClr val="19282C"/>
                </a:solidFill>
                <a:latin typeface="Noto Sans CJK KR"/>
                <a:ea typeface="Noto Sans CJK KR"/>
              </a:defRPr>
            </a:pPr>
            <a:r>
              <a:rPr>
                <a:ea typeface="Noto Sans CJK KR"/>
              </a:rPr>
              <a:t>왜 25배인가?</a:t>
            </a:r>
          </a:p>
        </p:txBody>
      </p:sp>
      <p:sp>
        <p:nvSpPr>
          <p:cNvPr id="26" name="TextBox 25"/>
          <p:cNvSpPr txBox="1"/>
          <p:nvPr/>
        </p:nvSpPr>
        <p:spPr>
          <a:xfrm>
            <a:off x="6409944" y="4443984"/>
            <a:ext cx="4956048"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같은 기준의 비교와 위험 검토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TRY IT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이익은 늘었지만 계산 가격이 낮아질 수 있나요?</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EPS와 평가 배수의 변화를 따로 계산합니다.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07</a:t>
            </a:r>
          </a:p>
        </p:txBody>
      </p:sp>
      <p:sp>
        <p:nvSpPr>
          <p:cNvPr id="19" name="Rounded Rectangle 18"/>
          <p:cNvSpPr/>
          <p:nvPr/>
        </p:nvSpPr>
        <p:spPr>
          <a:xfrm>
            <a:off x="594360" y="2468880"/>
            <a:ext cx="10991088" cy="3127248"/>
          </a:xfrm>
          <a:prstGeom prst="roundRect">
            <a:avLst>
              <a:gd name="adj" fmla="val 12000"/>
            </a:avLst>
          </a:prstGeom>
          <a:solidFill>
            <a:srgbClr val="19282C"/>
          </a:solidFill>
          <a:ln>
            <a:noFill/>
          </a:ln>
          <a:effectLst/>
        </p:spPr>
        <p:txBody>
          <a:bodyPr rtlCol="0" anchor="ctr"/>
          <a:lstStyle/>
          <a:p>
            <a:pPr algn="ctr"/>
          </a:p>
        </p:txBody>
      </p:sp>
      <p:sp>
        <p:nvSpPr>
          <p:cNvPr id="20" name="TextBox 19"/>
          <p:cNvSpPr txBox="1"/>
          <p:nvPr/>
        </p:nvSpPr>
        <p:spPr>
          <a:xfrm>
            <a:off x="877824" y="2798064"/>
            <a:ext cx="10378440" cy="996696"/>
          </a:xfrm>
          <a:prstGeom prst="rect">
            <a:avLst/>
          </a:prstGeom>
          <a:noFill/>
        </p:spPr>
        <p:txBody>
          <a:bodyPr wrap="none" anchor="t" anchorCtr="0" lIns="0" rIns="0" tIns="0" bIns="0">
            <a:noAutofit/>
          </a:bodyPr>
          <a:lstStyle/>
          <a:p>
            <a:pPr algn="l">
              <a:lnSpc>
                <a:spcPct val="116000"/>
              </a:lnSpc>
              <a:spcBef>
                <a:spcPts val="0"/>
              </a:spcBef>
              <a:spcAft>
                <a:spcPts val="0"/>
              </a:spcAft>
              <a:defRPr sz="2800" b="1">
                <a:solidFill>
                  <a:srgbClr val="FFFFFF"/>
                </a:solidFill>
                <a:latin typeface="Noto Sans CJK KR"/>
                <a:ea typeface="Noto Sans CJK KR"/>
              </a:defRPr>
            </a:pPr>
            <a:r>
              <a:rPr>
                <a:ea typeface="Noto Sans CJK KR"/>
              </a:rPr>
              <a:t>EPS 1,000 → 1,200원 / PER 20 → 15배</a:t>
            </a:r>
          </a:p>
        </p:txBody>
      </p:sp>
      <p:sp>
        <p:nvSpPr>
          <p:cNvPr id="21" name="TextBox 20"/>
          <p:cNvSpPr txBox="1"/>
          <p:nvPr/>
        </p:nvSpPr>
        <p:spPr>
          <a:xfrm>
            <a:off x="896112" y="4096512"/>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01</a:t>
            </a:r>
          </a:p>
        </p:txBody>
      </p:sp>
      <p:sp>
        <p:nvSpPr>
          <p:cNvPr id="22" name="TextBox 21"/>
          <p:cNvSpPr txBox="1"/>
          <p:nvPr/>
        </p:nvSpPr>
        <p:spPr>
          <a:xfrm>
            <a:off x="1463040" y="4087368"/>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전후의 EPS × PER를 각각 계산하세요.</a:t>
            </a:r>
          </a:p>
        </p:txBody>
      </p:sp>
      <p:sp>
        <p:nvSpPr>
          <p:cNvPr id="23" name="TextBox 22"/>
          <p:cNvSpPr txBox="1"/>
          <p:nvPr/>
        </p:nvSpPr>
        <p:spPr>
          <a:xfrm>
            <a:off x="896112" y="4498848"/>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02</a:t>
            </a:r>
          </a:p>
        </p:txBody>
      </p:sp>
      <p:sp>
        <p:nvSpPr>
          <p:cNvPr id="24" name="TextBox 23"/>
          <p:cNvSpPr txBox="1"/>
          <p:nvPr/>
        </p:nvSpPr>
        <p:spPr>
          <a:xfrm>
            <a:off x="1463040" y="4489704"/>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가격 변화율을 구하세요.</a:t>
            </a:r>
          </a:p>
        </p:txBody>
      </p:sp>
      <p:sp>
        <p:nvSpPr>
          <p:cNvPr id="25" name="TextBox 24"/>
          <p:cNvSpPr txBox="1"/>
          <p:nvPr/>
        </p:nvSpPr>
        <p:spPr>
          <a:xfrm>
            <a:off x="896112" y="4901184"/>
            <a:ext cx="393192" cy="329184"/>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F3ACAA"/>
                </a:solidFill>
                <a:latin typeface="Noto Sans CJK KR"/>
                <a:ea typeface="Noto Sans CJK KR"/>
              </a:defRPr>
            </a:pPr>
            <a:r>
              <a:rPr>
                <a:ea typeface="Noto Sans CJK KR"/>
              </a:rPr>
              <a:t>03</a:t>
            </a:r>
          </a:p>
        </p:txBody>
      </p:sp>
      <p:sp>
        <p:nvSpPr>
          <p:cNvPr id="26" name="TextBox 25"/>
          <p:cNvSpPr txBox="1"/>
          <p:nvPr/>
        </p:nvSpPr>
        <p:spPr>
          <a:xfrm>
            <a:off x="1463040" y="4892040"/>
            <a:ext cx="9738360" cy="347472"/>
          </a:xfrm>
          <a:prstGeom prst="rect">
            <a:avLst/>
          </a:prstGeom>
          <a:noFill/>
        </p:spPr>
        <p:txBody>
          <a:bodyPr wrap="none" anchor="t" anchorCtr="0" lIns="0" rIns="0" tIns="0" bIns="0">
            <a:noAutofit/>
          </a:bodyPr>
          <a:lstStyle/>
          <a:p>
            <a:pPr algn="l">
              <a:lnSpc>
                <a:spcPct val="116000"/>
              </a:lnSpc>
              <a:spcBef>
                <a:spcPts val="0"/>
              </a:spcBef>
              <a:spcAft>
                <a:spcPts val="0"/>
              </a:spcAft>
              <a:defRPr sz="1800" b="0">
                <a:solidFill>
                  <a:srgbClr val="FFFFFF"/>
                </a:solidFill>
                <a:latin typeface="Noto Sans CJK KR"/>
                <a:ea typeface="Noto Sans CJK KR"/>
              </a:defRPr>
            </a:pPr>
            <a:r>
              <a:rPr>
                <a:ea typeface="Noto Sans CJK KR"/>
              </a:rPr>
              <a:t>“이익 증가 = 주가 상승”에서 빠진 조건은 무엇인가요?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ANSWER</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EPS +20%와 계산 가격 −10%가 동시에 가능합니다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평가 배수가 낮아지면 이익 증가가 가격 상승으로 이어지지 않을 수 있습니다.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08</a:t>
            </a:r>
          </a:p>
        </p:txBody>
      </p:sp>
      <p:sp>
        <p:nvSpPr>
          <p:cNvPr id="19" name="Rounded Rectangle 18"/>
          <p:cNvSpPr/>
          <p:nvPr/>
        </p:nvSpPr>
        <p:spPr>
          <a:xfrm>
            <a:off x="594360" y="2441448"/>
            <a:ext cx="5376672" cy="3172968"/>
          </a:xfrm>
          <a:prstGeom prst="roundRect">
            <a:avLst>
              <a:gd name="adj" fmla="val 12000"/>
            </a:avLst>
          </a:prstGeom>
          <a:solidFill>
            <a:srgbClr val="FFFFFF"/>
          </a:solidFill>
          <a:ln>
            <a:noFill/>
          </a:ln>
          <a:effectLst/>
        </p:spPr>
        <p:txBody>
          <a:bodyPr rtlCol="0" anchor="ctr"/>
          <a:lstStyle/>
          <a:p>
            <a:pPr algn="ctr"/>
          </a:p>
        </p:txBody>
      </p:sp>
      <p:sp>
        <p:nvSpPr>
          <p:cNvPr id="20" name="TextBox 19"/>
          <p:cNvSpPr txBox="1"/>
          <p:nvPr/>
        </p:nvSpPr>
        <p:spPr>
          <a:xfrm>
            <a:off x="850392"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5C6B6E"/>
                </a:solidFill>
                <a:latin typeface="Noto Sans CJK KR"/>
                <a:ea typeface="Noto Sans CJK KR"/>
              </a:defRPr>
            </a:pPr>
            <a:r>
              <a:rPr>
                <a:ea typeface="Noto Sans CJK KR"/>
              </a:rPr>
              <a:t>처음</a:t>
            </a:r>
          </a:p>
        </p:txBody>
      </p:sp>
      <p:sp>
        <p:nvSpPr>
          <p:cNvPr id="21" name="TextBox 20"/>
          <p:cNvSpPr txBox="1"/>
          <p:nvPr/>
        </p:nvSpPr>
        <p:spPr>
          <a:xfrm>
            <a:off x="850392"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20,000원</a:t>
            </a:r>
          </a:p>
        </p:txBody>
      </p:sp>
      <p:sp>
        <p:nvSpPr>
          <p:cNvPr id="22" name="TextBox 21"/>
          <p:cNvSpPr txBox="1"/>
          <p:nvPr/>
        </p:nvSpPr>
        <p:spPr>
          <a:xfrm>
            <a:off x="850392"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EPS 1,000원 × PER 20배</a:t>
            </a:r>
          </a:p>
        </p:txBody>
      </p:sp>
      <p:sp>
        <p:nvSpPr>
          <p:cNvPr id="23" name="Rounded Rectangle 22"/>
          <p:cNvSpPr/>
          <p:nvPr/>
        </p:nvSpPr>
        <p:spPr>
          <a:xfrm>
            <a:off x="6208776" y="2441448"/>
            <a:ext cx="5376672" cy="3172968"/>
          </a:xfrm>
          <a:prstGeom prst="roundRect">
            <a:avLst>
              <a:gd name="adj" fmla="val 12000"/>
            </a:avLst>
          </a:prstGeom>
          <a:solidFill>
            <a:srgbClr val="19282C"/>
          </a:solidFill>
          <a:ln>
            <a:noFill/>
          </a:ln>
          <a:effectLst/>
        </p:spPr>
        <p:txBody>
          <a:bodyPr rtlCol="0" anchor="ctr"/>
          <a:lstStyle/>
          <a:p>
            <a:pPr algn="ctr"/>
          </a:p>
        </p:txBody>
      </p:sp>
      <p:sp>
        <p:nvSpPr>
          <p:cNvPr id="24" name="TextBox 23"/>
          <p:cNvSpPr txBox="1"/>
          <p:nvPr/>
        </p:nvSpPr>
        <p:spPr>
          <a:xfrm>
            <a:off x="6464808" y="2724912"/>
            <a:ext cx="4864608" cy="365760"/>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E2ADAF"/>
                </a:solidFill>
                <a:latin typeface="Noto Sans CJK KR"/>
                <a:ea typeface="Noto Sans CJK KR"/>
              </a:defRPr>
            </a:pPr>
            <a:r>
              <a:rPr>
                <a:ea typeface="Noto Sans CJK KR"/>
              </a:rPr>
              <a:t>변경 가정</a:t>
            </a:r>
          </a:p>
        </p:txBody>
      </p:sp>
      <p:sp>
        <p:nvSpPr>
          <p:cNvPr id="25" name="TextBox 24"/>
          <p:cNvSpPr txBox="1"/>
          <p:nvPr/>
        </p:nvSpPr>
        <p:spPr>
          <a:xfrm>
            <a:off x="6464808" y="3337560"/>
            <a:ext cx="4846320" cy="1051560"/>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FFFFFF"/>
                </a:solidFill>
                <a:latin typeface="Noto Sans CJK KR"/>
                <a:ea typeface="Noto Sans CJK KR"/>
              </a:defRPr>
            </a:pPr>
            <a:r>
              <a:rPr>
                <a:ea typeface="Noto Sans CJK KR"/>
              </a:rPr>
              <a:t>18,000원</a:t>
            </a:r>
          </a:p>
        </p:txBody>
      </p:sp>
      <p:sp>
        <p:nvSpPr>
          <p:cNvPr id="26" name="TextBox 25"/>
          <p:cNvSpPr txBox="1"/>
          <p:nvPr/>
        </p:nvSpPr>
        <p:spPr>
          <a:xfrm>
            <a:off x="6464808" y="4636008"/>
            <a:ext cx="4846320" cy="77724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FFFFFF"/>
                </a:solidFill>
                <a:latin typeface="Noto Sans CJK KR"/>
                <a:ea typeface="Noto Sans CJK KR"/>
              </a:defRPr>
            </a:pPr>
            <a:r>
              <a:rPr>
                <a:ea typeface="Noto Sans CJK KR"/>
              </a:rPr>
              <a:t>EPS 1,200원 × PER 15배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CONCEPT</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낮은 배수를 매수 결론으로 바로 바꾸지 않습니다</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배수는 비교를 돕는 숫자입니다. 결론의 근거를 대신하지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09</a:t>
            </a:r>
          </a:p>
        </p:txBody>
      </p:sp>
      <p:sp>
        <p:nvSpPr>
          <p:cNvPr id="19" name="Rectangle 18"/>
          <p:cNvSpPr/>
          <p:nvPr/>
        </p:nvSpPr>
        <p:spPr>
          <a:xfrm>
            <a:off x="594360" y="2496312"/>
            <a:ext cx="73152" cy="2926080"/>
          </a:xfrm>
          <a:prstGeom prst="rect">
            <a:avLst/>
          </a:prstGeom>
          <a:solidFill>
            <a:srgbClr val="CF283B"/>
          </a:solidFill>
          <a:ln>
            <a:noFill/>
          </a:ln>
          <a:effectLst/>
        </p:spPr>
        <p:txBody>
          <a:bodyPr rtlCol="0" anchor="ctr"/>
          <a:lstStyle/>
          <a:p>
            <a:pPr algn="ctr"/>
          </a:p>
        </p:txBody>
      </p:sp>
      <p:sp>
        <p:nvSpPr>
          <p:cNvPr id="20" name="TextBox 19"/>
          <p:cNvSpPr txBox="1"/>
          <p:nvPr/>
        </p:nvSpPr>
        <p:spPr>
          <a:xfrm>
            <a:off x="950976" y="2670048"/>
            <a:ext cx="10222992" cy="1810512"/>
          </a:xfrm>
          <a:prstGeom prst="rect">
            <a:avLst/>
          </a:prstGeom>
          <a:noFill/>
        </p:spPr>
        <p:txBody>
          <a:bodyPr wrap="none" anchor="t" anchorCtr="0" lIns="0" rIns="0" tIns="0" bIns="0">
            <a:noAutofit/>
          </a:bodyPr>
          <a:lstStyle/>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“이익이 일시적이지 않은지,</a:t>
            </a:r>
          </a:p>
          <a:p>
            <a:pPr algn="l">
              <a:lnSpc>
                <a:spcPct val="116000"/>
              </a:lnSpc>
              <a:spcBef>
                <a:spcPts val="0"/>
              </a:spcBef>
              <a:spcAft>
                <a:spcPts val="0"/>
              </a:spcAft>
              <a:defRPr sz="2900" b="1">
                <a:solidFill>
                  <a:srgbClr val="19282C"/>
                </a:solidFill>
                <a:latin typeface="Noto Sans CJK KR"/>
                <a:ea typeface="Noto Sans CJK KR"/>
              </a:defRPr>
            </a:pPr>
            <a:r>
              <a:rPr>
                <a:ea typeface="Noto Sans CJK KR"/>
              </a:rPr>
              <a:t>비교 기준과 사업 위험이 같은지 확인한다.”</a:t>
            </a:r>
          </a:p>
        </p:txBody>
      </p:sp>
      <p:sp>
        <p:nvSpPr>
          <p:cNvPr id="21" name="TextBox 20"/>
          <p:cNvSpPr txBox="1"/>
          <p:nvPr/>
        </p:nvSpPr>
        <p:spPr>
          <a:xfrm>
            <a:off x="960120" y="4745736"/>
            <a:ext cx="10168128" cy="731520"/>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5C6B6E"/>
                </a:solidFill>
                <a:latin typeface="Noto Sans CJK KR"/>
                <a:ea typeface="Noto Sans CJK KR"/>
              </a:defRPr>
            </a:pPr>
            <a:r>
              <a:rPr>
                <a:ea typeface="Noto Sans CJK KR"/>
              </a:rPr>
              <a:t>확인 목록: 실적 기간 · 기본/희석 EPS · 일회성 이익 · 비교 기업의 사업 차이</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PRACTICE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제출할 분석 메모: 가정과 수정 조건까지</a:t>
            </a:r>
          </a:p>
        </p:txBody>
      </p:sp>
      <p:sp>
        <p:nvSpPr>
          <p:cNvPr id="13" name="Rectangle 12"/>
          <p:cNvSpPr/>
          <p:nvPr/>
        </p:nvSpPr>
        <p:spPr>
          <a:xfrm>
            <a:off x="594360" y="5998464"/>
            <a:ext cx="45720" cy="320040"/>
          </a:xfrm>
          <a:prstGeom prst="rect">
            <a:avLst/>
          </a:prstGeom>
          <a:solidFill>
            <a:srgbClr val="CF283B"/>
          </a:solidFill>
          <a:ln>
            <a:noFill/>
          </a:ln>
          <a:effectLst/>
        </p:spPr>
        <p:txBody>
          <a:bodyPr rtlCol="0" anchor="ctr"/>
          <a:lstStyle/>
          <a:p>
            <a:pPr algn="ctr"/>
          </a:p>
        </p:txBody>
      </p:sp>
      <p:sp>
        <p:nvSpPr>
          <p:cNvPr id="14" name="TextBox 13"/>
          <p:cNvSpPr txBox="1"/>
          <p:nvPr/>
        </p:nvSpPr>
        <p:spPr>
          <a:xfrm>
            <a:off x="758952" y="5989320"/>
            <a:ext cx="10835640" cy="429768"/>
          </a:xfrm>
          <a:prstGeom prst="rect">
            <a:avLst/>
          </a:prstGeom>
          <a:noFill/>
        </p:spPr>
        <p:txBody>
          <a:bodyPr wrap="none" anchor="t" anchorCtr="0" lIns="0" rIns="0" tIns="0" bIns="0">
            <a:noAutofit/>
          </a:bodyPr>
          <a:lstStyle/>
          <a:p>
            <a:pPr algn="l">
              <a:lnSpc>
                <a:spcPct val="116000"/>
              </a:lnSpc>
              <a:spcBef>
                <a:spcPts val="0"/>
              </a:spcBef>
              <a:spcAft>
                <a:spcPts val="0"/>
              </a:spcAft>
              <a:defRPr sz="1600" b="1">
                <a:solidFill>
                  <a:srgbClr val="19282C"/>
                </a:solidFill>
                <a:latin typeface="Noto Sans CJK KR"/>
                <a:ea typeface="Noto Sans CJK KR"/>
              </a:defRPr>
            </a:pPr>
            <a:r>
              <a:rPr>
                <a:ea typeface="Noto Sans CJK KR"/>
              </a:rPr>
              <a:t>가상 시나리오를 회사 전망이나 수익 보장으로 표시하지 않습니다.</a:t>
            </a:r>
          </a:p>
        </p:txBody>
      </p:sp>
      <p:cxnSp>
        <p:nvCxnSpPr>
          <p:cNvPr id="15" name="Connector 14"/>
          <p:cNvCxnSpPr/>
          <p:nvPr/>
        </p:nvCxnSpPr>
        <p:spPr>
          <a:xfrm>
            <a:off x="594360" y="6455664"/>
            <a:ext cx="11000232" cy="0"/>
          </a:xfrm>
          <a:prstGeom prst="line">
            <a:avLst/>
          </a:prstGeom>
          <a:ln w="19050">
            <a:solidFill>
              <a:srgbClr val="D8DEDA"/>
            </a:solidFill>
          </a:ln>
          <a:effectLst/>
        </p:spPr>
      </p:cxnSp>
      <p:sp>
        <p:nvSpPr>
          <p:cNvPr id="16" name="TextBox 15"/>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7" name="TextBox 16"/>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8" name="TextBox 17"/>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10</a:t>
            </a:r>
          </a:p>
        </p:txBody>
      </p:sp>
      <p:sp>
        <p:nvSpPr>
          <p:cNvPr id="19" name="Rectangle 18"/>
          <p:cNvSpPr/>
          <p:nvPr/>
        </p:nvSpPr>
        <p:spPr>
          <a:xfrm>
            <a:off x="594360" y="2423160"/>
            <a:ext cx="10991088" cy="512064"/>
          </a:xfrm>
          <a:prstGeom prst="rect">
            <a:avLst/>
          </a:prstGeom>
          <a:solidFill>
            <a:srgbClr val="19282C"/>
          </a:solidFill>
          <a:ln>
            <a:noFill/>
          </a:ln>
          <a:effectLst/>
        </p:spPr>
        <p:txBody>
          <a:bodyPr rtlCol="0" anchor="ctr"/>
          <a:lstStyle/>
          <a:p>
            <a:pPr algn="ctr"/>
          </a:p>
        </p:txBody>
      </p:sp>
      <p:sp>
        <p:nvSpPr>
          <p:cNvPr id="20" name="TextBox 19"/>
          <p:cNvSpPr txBox="1"/>
          <p:nvPr/>
        </p:nvSpPr>
        <p:spPr>
          <a:xfrm>
            <a:off x="740664" y="2532888"/>
            <a:ext cx="2084832"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항목</a:t>
            </a:r>
          </a:p>
        </p:txBody>
      </p:sp>
      <p:sp>
        <p:nvSpPr>
          <p:cNvPr id="21" name="TextBox 20"/>
          <p:cNvSpPr txBox="1"/>
          <p:nvPr/>
        </p:nvSpPr>
        <p:spPr>
          <a:xfrm>
            <a:off x="3118104" y="2532888"/>
            <a:ext cx="8321040" cy="283464"/>
          </a:xfrm>
          <a:prstGeom prst="rect">
            <a:avLst/>
          </a:prstGeom>
          <a:noFill/>
        </p:spPr>
        <p:txBody>
          <a:bodyPr wrap="none" anchor="t" anchorCtr="0" lIns="0" rIns="0" tIns="0" bIns="0">
            <a:noAutofit/>
          </a:bodyPr>
          <a:lstStyle/>
          <a:p>
            <a:pPr algn="l">
              <a:lnSpc>
                <a:spcPct val="116000"/>
              </a:lnSpc>
              <a:spcBef>
                <a:spcPts val="0"/>
              </a:spcBef>
              <a:spcAft>
                <a:spcPts val="0"/>
              </a:spcAft>
              <a:defRPr sz="1500" b="1">
                <a:solidFill>
                  <a:srgbClr val="FFFFFF"/>
                </a:solidFill>
                <a:latin typeface="Noto Sans CJK KR"/>
                <a:ea typeface="Noto Sans CJK KR"/>
              </a:defRPr>
            </a:pPr>
            <a:r>
              <a:rPr>
                <a:ea typeface="Noto Sans CJK KR"/>
              </a:rPr>
              <a:t>완성 예시</a:t>
            </a:r>
          </a:p>
        </p:txBody>
      </p:sp>
      <p:sp>
        <p:nvSpPr>
          <p:cNvPr id="22" name="Rectangle 21"/>
          <p:cNvSpPr/>
          <p:nvPr/>
        </p:nvSpPr>
        <p:spPr>
          <a:xfrm>
            <a:off x="594360" y="2935224"/>
            <a:ext cx="10991088" cy="707110"/>
          </a:xfrm>
          <a:prstGeom prst="rect">
            <a:avLst/>
          </a:prstGeom>
          <a:solidFill>
            <a:srgbClr val="FFFFFF"/>
          </a:solidFill>
          <a:ln>
            <a:noFill/>
          </a:ln>
          <a:effectLst/>
        </p:spPr>
        <p:txBody>
          <a:bodyPr rtlCol="0" anchor="ctr"/>
          <a:lstStyle/>
          <a:p>
            <a:pPr algn="ctr"/>
          </a:p>
        </p:txBody>
      </p:sp>
      <p:sp>
        <p:nvSpPr>
          <p:cNvPr id="23" name="TextBox 22"/>
          <p:cNvSpPr txBox="1"/>
          <p:nvPr/>
        </p:nvSpPr>
        <p:spPr>
          <a:xfrm>
            <a:off x="740664" y="306324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현재 기준</a:t>
            </a:r>
          </a:p>
        </p:txBody>
      </p:sp>
      <p:sp>
        <p:nvSpPr>
          <p:cNvPr id="24" name="TextBox 23"/>
          <p:cNvSpPr txBox="1"/>
          <p:nvPr/>
        </p:nvSpPr>
        <p:spPr>
          <a:xfrm>
            <a:off x="3118104" y="306324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주가 20,000원 / EPS 800원 / PER 25배</a:t>
            </a:r>
          </a:p>
        </p:txBody>
      </p:sp>
      <p:sp>
        <p:nvSpPr>
          <p:cNvPr id="25" name="Rectangle 24"/>
          <p:cNvSpPr/>
          <p:nvPr/>
        </p:nvSpPr>
        <p:spPr>
          <a:xfrm>
            <a:off x="594360" y="3642334"/>
            <a:ext cx="10991088" cy="707110"/>
          </a:xfrm>
          <a:prstGeom prst="rect">
            <a:avLst/>
          </a:prstGeom>
          <a:solidFill>
            <a:srgbClr val="E8EDE8"/>
          </a:solidFill>
          <a:ln>
            <a:noFill/>
          </a:ln>
          <a:effectLst/>
        </p:spPr>
        <p:txBody>
          <a:bodyPr rtlCol="0" anchor="ctr"/>
          <a:lstStyle/>
          <a:p>
            <a:pPr algn="ctr"/>
          </a:p>
        </p:txBody>
      </p:sp>
      <p:sp>
        <p:nvSpPr>
          <p:cNvPr id="26" name="TextBox 25"/>
          <p:cNvSpPr txBox="1"/>
          <p:nvPr/>
        </p:nvSpPr>
        <p:spPr>
          <a:xfrm>
            <a:off x="740664" y="377035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회복 가정</a:t>
            </a:r>
          </a:p>
        </p:txBody>
      </p:sp>
      <p:sp>
        <p:nvSpPr>
          <p:cNvPr id="27" name="TextBox 26"/>
          <p:cNvSpPr txBox="1"/>
          <p:nvPr/>
        </p:nvSpPr>
        <p:spPr>
          <a:xfrm>
            <a:off x="3118104" y="377035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순이익 10억 원 / EPS 1,000원</a:t>
            </a:r>
          </a:p>
        </p:txBody>
      </p:sp>
      <p:sp>
        <p:nvSpPr>
          <p:cNvPr id="28" name="Rectangle 27"/>
          <p:cNvSpPr/>
          <p:nvPr/>
        </p:nvSpPr>
        <p:spPr>
          <a:xfrm>
            <a:off x="594360" y="4349444"/>
            <a:ext cx="10991088" cy="707110"/>
          </a:xfrm>
          <a:prstGeom prst="rect">
            <a:avLst/>
          </a:prstGeom>
          <a:solidFill>
            <a:srgbClr val="FFFFFF"/>
          </a:solidFill>
          <a:ln>
            <a:noFill/>
          </a:ln>
          <a:effectLst/>
        </p:spPr>
        <p:txBody>
          <a:bodyPr rtlCol="0" anchor="ctr"/>
          <a:lstStyle/>
          <a:p>
            <a:pPr algn="ctr"/>
          </a:p>
        </p:txBody>
      </p:sp>
      <p:sp>
        <p:nvSpPr>
          <p:cNvPr id="29" name="TextBox 28"/>
          <p:cNvSpPr txBox="1"/>
          <p:nvPr/>
        </p:nvSpPr>
        <p:spPr>
          <a:xfrm>
            <a:off x="740664" y="447746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가격 민감도</a:t>
            </a:r>
          </a:p>
        </p:txBody>
      </p:sp>
      <p:sp>
        <p:nvSpPr>
          <p:cNvPr id="30" name="TextBox 29"/>
          <p:cNvSpPr txBox="1"/>
          <p:nvPr/>
        </p:nvSpPr>
        <p:spPr>
          <a:xfrm>
            <a:off x="3118104" y="447746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PER 20배면 20,000원, 25배면 25,000원</a:t>
            </a:r>
          </a:p>
        </p:txBody>
      </p:sp>
      <p:sp>
        <p:nvSpPr>
          <p:cNvPr id="31" name="Rectangle 30"/>
          <p:cNvSpPr/>
          <p:nvPr/>
        </p:nvSpPr>
        <p:spPr>
          <a:xfrm>
            <a:off x="594360" y="5056554"/>
            <a:ext cx="10991088" cy="707110"/>
          </a:xfrm>
          <a:prstGeom prst="rect">
            <a:avLst/>
          </a:prstGeom>
          <a:solidFill>
            <a:srgbClr val="E8EDE8"/>
          </a:solidFill>
          <a:ln>
            <a:noFill/>
          </a:ln>
          <a:effectLst/>
        </p:spPr>
        <p:txBody>
          <a:bodyPr rtlCol="0" anchor="ctr"/>
          <a:lstStyle/>
          <a:p>
            <a:pPr algn="ctr"/>
          </a:p>
        </p:txBody>
      </p:sp>
      <p:sp>
        <p:nvSpPr>
          <p:cNvPr id="32" name="TextBox 31"/>
          <p:cNvSpPr txBox="1"/>
          <p:nvPr/>
        </p:nvSpPr>
        <p:spPr>
          <a:xfrm>
            <a:off x="740664" y="5184570"/>
            <a:ext cx="2084832"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수정 조건</a:t>
            </a:r>
          </a:p>
        </p:txBody>
      </p:sp>
      <p:sp>
        <p:nvSpPr>
          <p:cNvPr id="33" name="TextBox 32"/>
          <p:cNvSpPr txBox="1"/>
          <p:nvPr/>
        </p:nvSpPr>
        <p:spPr>
          <a:xfrm>
            <a:off x="3118104" y="5184570"/>
            <a:ext cx="8321040" cy="542518"/>
          </a:xfrm>
          <a:prstGeom prst="rect">
            <a:avLst/>
          </a:prstGeom>
          <a:noFill/>
        </p:spPr>
        <p:txBody>
          <a:bodyPr wrap="none" anchor="t" anchorCtr="0" lIns="0" rIns="0" tIns="0" bIns="0">
            <a:noAutofit/>
          </a:bodyPr>
          <a:lstStyle/>
          <a:p>
            <a:pPr algn="l">
              <a:lnSpc>
                <a:spcPct val="116000"/>
              </a:lnSpc>
              <a:spcBef>
                <a:spcPts val="0"/>
              </a:spcBef>
              <a:spcAft>
                <a:spcPts val="0"/>
              </a:spcAft>
              <a:defRPr sz="1900" b="0">
                <a:solidFill>
                  <a:srgbClr val="19282C"/>
                </a:solidFill>
                <a:latin typeface="Noto Sans CJK KR"/>
                <a:ea typeface="Noto Sans CJK KR"/>
              </a:defRPr>
            </a:pPr>
            <a:r>
              <a:rPr>
                <a:ea typeface="Noto Sans CJK KR"/>
              </a:rPr>
              <a:t>원가율이 계속 높으면 이익 회복 가정을 재검토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Rectangle 1"/>
          <p:cNvSpPr/>
          <p:nvPr/>
        </p:nvSpPr>
        <p:spPr>
          <a:xfrm>
            <a:off x="566928" y="384048"/>
            <a:ext cx="246888" cy="54864"/>
          </a:xfrm>
          <a:prstGeom prst="rect">
            <a:avLst/>
          </a:prstGeom>
          <a:solidFill>
            <a:srgbClr val="CF283B"/>
          </a:solidFill>
          <a:ln>
            <a:noFill/>
          </a:ln>
          <a:effectLst/>
        </p:spPr>
        <p:txBody>
          <a:bodyPr rtlCol="0" anchor="ctr"/>
          <a:lstStyle/>
          <a:p>
            <a:pPr algn="ctr"/>
          </a:p>
        </p:txBody>
      </p:sp>
      <p:sp>
        <p:nvSpPr>
          <p:cNvPr id="3" name="TextBox 2"/>
          <p:cNvSpPr txBox="1"/>
          <p:nvPr/>
        </p:nvSpPr>
        <p:spPr>
          <a:xfrm>
            <a:off x="932688" y="283464"/>
            <a:ext cx="7315200" cy="274320"/>
          </a:xfrm>
          <a:prstGeom prst="rect">
            <a:avLst/>
          </a:prstGeom>
          <a:noFill/>
        </p:spPr>
        <p:txBody>
          <a:bodyPr wrap="none" anchor="t" anchorCtr="0" lIns="0" rIns="0" tIns="0" bIns="0">
            <a:noAutofit/>
          </a:bodyPr>
          <a:lstStyle/>
          <a:p>
            <a:pPr algn="l">
              <a:lnSpc>
                <a:spcPct val="116000"/>
              </a:lnSpc>
              <a:spcBef>
                <a:spcPts val="0"/>
              </a:spcBef>
              <a:spcAft>
                <a:spcPts val="0"/>
              </a:spcAft>
              <a:defRPr sz="1100" b="1">
                <a:solidFill>
                  <a:srgbClr val="5C6B6E"/>
                </a:solidFill>
                <a:latin typeface="Noto Sans CJK KR"/>
                <a:ea typeface="Noto Sans CJK KR"/>
              </a:defRPr>
            </a:pPr>
            <a:r>
              <a:rPr>
                <a:ea typeface="Noto Sans CJK KR"/>
              </a:rPr>
              <a:t>WEEK 04 / REFERENCE</a:t>
            </a:r>
          </a:p>
        </p:txBody>
      </p:sp>
      <p:sp>
        <p:nvSpPr>
          <p:cNvPr id="4" name="Rectangle 3"/>
          <p:cNvSpPr/>
          <p:nvPr/>
        </p:nvSpPr>
        <p:spPr>
          <a:xfrm>
            <a:off x="9710928" y="356616"/>
            <a:ext cx="118872" cy="64008"/>
          </a:xfrm>
          <a:prstGeom prst="rect">
            <a:avLst/>
          </a:prstGeom>
          <a:solidFill>
            <a:srgbClr val="D8DEDA"/>
          </a:solidFill>
          <a:ln>
            <a:noFill/>
          </a:ln>
          <a:effectLst/>
        </p:spPr>
        <p:txBody>
          <a:bodyPr rtlCol="0" anchor="ctr"/>
          <a:lstStyle/>
          <a:p>
            <a:pPr algn="ctr"/>
          </a:p>
        </p:txBody>
      </p:sp>
      <p:sp>
        <p:nvSpPr>
          <p:cNvPr id="5" name="Rectangle 4"/>
          <p:cNvSpPr/>
          <p:nvPr/>
        </p:nvSpPr>
        <p:spPr>
          <a:xfrm>
            <a:off x="9930384" y="356616"/>
            <a:ext cx="118872" cy="64008"/>
          </a:xfrm>
          <a:prstGeom prst="rect">
            <a:avLst/>
          </a:prstGeom>
          <a:solidFill>
            <a:srgbClr val="D8DEDA"/>
          </a:solidFill>
          <a:ln>
            <a:noFill/>
          </a:ln>
          <a:effectLst/>
        </p:spPr>
        <p:txBody>
          <a:bodyPr rtlCol="0" anchor="ctr"/>
          <a:lstStyle/>
          <a:p>
            <a:pPr algn="ctr"/>
          </a:p>
        </p:txBody>
      </p:sp>
      <p:sp>
        <p:nvSpPr>
          <p:cNvPr id="6" name="Rectangle 5"/>
          <p:cNvSpPr/>
          <p:nvPr/>
        </p:nvSpPr>
        <p:spPr>
          <a:xfrm>
            <a:off x="10149840" y="356616"/>
            <a:ext cx="118872" cy="64008"/>
          </a:xfrm>
          <a:prstGeom prst="rect">
            <a:avLst/>
          </a:prstGeom>
          <a:solidFill>
            <a:srgbClr val="D8DEDA"/>
          </a:solidFill>
          <a:ln>
            <a:noFill/>
          </a:ln>
          <a:effectLst/>
        </p:spPr>
        <p:txBody>
          <a:bodyPr rtlCol="0" anchor="ctr"/>
          <a:lstStyle/>
          <a:p>
            <a:pPr algn="ctr"/>
          </a:p>
        </p:txBody>
      </p:sp>
      <p:sp>
        <p:nvSpPr>
          <p:cNvPr id="7" name="Rectangle 6"/>
          <p:cNvSpPr/>
          <p:nvPr/>
        </p:nvSpPr>
        <p:spPr>
          <a:xfrm>
            <a:off x="10369296" y="356616"/>
            <a:ext cx="118872" cy="64008"/>
          </a:xfrm>
          <a:prstGeom prst="rect">
            <a:avLst/>
          </a:prstGeom>
          <a:solidFill>
            <a:srgbClr val="CF283B"/>
          </a:solidFill>
          <a:ln>
            <a:noFill/>
          </a:ln>
          <a:effectLst/>
        </p:spPr>
        <p:txBody>
          <a:bodyPr rtlCol="0" anchor="ctr"/>
          <a:lstStyle/>
          <a:p>
            <a:pPr algn="ctr"/>
          </a:p>
        </p:txBody>
      </p:sp>
      <p:sp>
        <p:nvSpPr>
          <p:cNvPr id="8" name="Rectangle 7"/>
          <p:cNvSpPr/>
          <p:nvPr/>
        </p:nvSpPr>
        <p:spPr>
          <a:xfrm>
            <a:off x="10588751" y="356616"/>
            <a:ext cx="118872" cy="64008"/>
          </a:xfrm>
          <a:prstGeom prst="rect">
            <a:avLst/>
          </a:prstGeom>
          <a:solidFill>
            <a:srgbClr val="D8DEDA"/>
          </a:solidFill>
          <a:ln>
            <a:noFill/>
          </a:ln>
          <a:effectLst/>
        </p:spPr>
        <p:txBody>
          <a:bodyPr rtlCol="0" anchor="ctr"/>
          <a:lstStyle/>
          <a:p>
            <a:pPr algn="ctr"/>
          </a:p>
        </p:txBody>
      </p:sp>
      <p:sp>
        <p:nvSpPr>
          <p:cNvPr id="9" name="Rectangle 8"/>
          <p:cNvSpPr/>
          <p:nvPr/>
        </p:nvSpPr>
        <p:spPr>
          <a:xfrm>
            <a:off x="10808207" y="356616"/>
            <a:ext cx="118872" cy="64008"/>
          </a:xfrm>
          <a:prstGeom prst="rect">
            <a:avLst/>
          </a:prstGeom>
          <a:solidFill>
            <a:srgbClr val="D8DEDA"/>
          </a:solidFill>
          <a:ln>
            <a:noFill/>
          </a:ln>
          <a:effectLst/>
        </p:spPr>
        <p:txBody>
          <a:bodyPr rtlCol="0" anchor="ctr"/>
          <a:lstStyle/>
          <a:p>
            <a:pPr algn="ctr"/>
          </a:p>
        </p:txBody>
      </p:sp>
      <p:sp>
        <p:nvSpPr>
          <p:cNvPr id="10" name="Rectangle 9"/>
          <p:cNvSpPr/>
          <p:nvPr/>
        </p:nvSpPr>
        <p:spPr>
          <a:xfrm>
            <a:off x="11027663" y="356616"/>
            <a:ext cx="118872" cy="64008"/>
          </a:xfrm>
          <a:prstGeom prst="rect">
            <a:avLst/>
          </a:prstGeom>
          <a:solidFill>
            <a:srgbClr val="D8DEDA"/>
          </a:solidFill>
          <a:ln>
            <a:noFill/>
          </a:ln>
          <a:effectLst/>
        </p:spPr>
        <p:txBody>
          <a:bodyPr rtlCol="0" anchor="ctr"/>
          <a:lstStyle/>
          <a:p>
            <a:pPr algn="ctr"/>
          </a:p>
        </p:txBody>
      </p:sp>
      <p:sp>
        <p:nvSpPr>
          <p:cNvPr id="11" name="Rectangle 10"/>
          <p:cNvSpPr/>
          <p:nvPr/>
        </p:nvSpPr>
        <p:spPr>
          <a:xfrm>
            <a:off x="11247119" y="356616"/>
            <a:ext cx="118872" cy="64008"/>
          </a:xfrm>
          <a:prstGeom prst="rect">
            <a:avLst/>
          </a:prstGeom>
          <a:solidFill>
            <a:srgbClr val="D8DEDA"/>
          </a:solidFill>
          <a:ln>
            <a:noFill/>
          </a:ln>
          <a:effectLst/>
        </p:spPr>
        <p:txBody>
          <a:bodyPr rtlCol="0" anchor="ctr"/>
          <a:lstStyle/>
          <a:p>
            <a:pPr algn="ctr"/>
          </a:p>
        </p:txBody>
      </p:sp>
      <p:sp>
        <p:nvSpPr>
          <p:cNvPr id="12" name="TextBox 11"/>
          <p:cNvSpPr txBox="1"/>
          <p:nvPr/>
        </p:nvSpPr>
        <p:spPr>
          <a:xfrm>
            <a:off x="594360" y="822960"/>
            <a:ext cx="10972800" cy="932688"/>
          </a:xfrm>
          <a:prstGeom prst="rect">
            <a:avLst/>
          </a:prstGeom>
          <a:noFill/>
        </p:spPr>
        <p:txBody>
          <a:bodyPr wrap="none" anchor="t" anchorCtr="0" lIns="0" rIns="0" tIns="0" bIns="0">
            <a:noAutofit/>
          </a:bodyPr>
          <a:lstStyle/>
          <a:p>
            <a:pPr algn="l">
              <a:lnSpc>
                <a:spcPct val="116000"/>
              </a:lnSpc>
              <a:spcBef>
                <a:spcPts val="0"/>
              </a:spcBef>
              <a:spcAft>
                <a:spcPts val="0"/>
              </a:spcAft>
              <a:defRPr sz="3100" b="1">
                <a:solidFill>
                  <a:srgbClr val="19282C"/>
                </a:solidFill>
                <a:latin typeface="Noto Sans CJK KR"/>
                <a:ea typeface="Noto Sans CJK KR"/>
              </a:defRPr>
            </a:pPr>
            <a:r>
              <a:rPr>
                <a:ea typeface="Noto Sans CJK KR"/>
              </a:rPr>
              <a:t>수업 자료와 다음 확인 항목</a:t>
            </a:r>
          </a:p>
        </p:txBody>
      </p:sp>
      <p:sp>
        <p:nvSpPr>
          <p:cNvPr id="13" name="TextBox 12"/>
          <p:cNvSpPr txBox="1"/>
          <p:nvPr/>
        </p:nvSpPr>
        <p:spPr>
          <a:xfrm>
            <a:off x="612648" y="1810512"/>
            <a:ext cx="10972800" cy="384048"/>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가상 사례의 계산과 실제 원문 조사를 구분합니다.</a:t>
            </a:r>
          </a:p>
        </p:txBody>
      </p:sp>
      <p:cxnSp>
        <p:nvCxnSpPr>
          <p:cNvPr id="14" name="Connector 13"/>
          <p:cNvCxnSpPr/>
          <p:nvPr/>
        </p:nvCxnSpPr>
        <p:spPr>
          <a:xfrm>
            <a:off x="594360" y="6455664"/>
            <a:ext cx="11000232" cy="0"/>
          </a:xfrm>
          <a:prstGeom prst="line">
            <a:avLst/>
          </a:prstGeom>
          <a:ln w="19050">
            <a:solidFill>
              <a:srgbClr val="D8DEDA"/>
            </a:solidFill>
          </a:ln>
          <a:effectLst/>
        </p:spPr>
      </p:cxnSp>
      <p:sp>
        <p:nvSpPr>
          <p:cNvPr id="15" name="TextBox 14"/>
          <p:cNvSpPr txBox="1"/>
          <p:nvPr/>
        </p:nvSpPr>
        <p:spPr>
          <a:xfrm>
            <a:off x="594360" y="6556248"/>
            <a:ext cx="36576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AMICOM / 투자 스터디</a:t>
            </a:r>
          </a:p>
        </p:txBody>
      </p:sp>
      <p:sp>
        <p:nvSpPr>
          <p:cNvPr id="16" name="TextBox 15"/>
          <p:cNvSpPr txBox="1"/>
          <p:nvPr/>
        </p:nvSpPr>
        <p:spPr>
          <a:xfrm>
            <a:off x="4590288" y="6556248"/>
            <a:ext cx="5486400" cy="173736"/>
          </a:xfrm>
          <a:prstGeom prst="rect">
            <a:avLst/>
          </a:prstGeom>
          <a:noFill/>
        </p:spPr>
        <p:txBody>
          <a:bodyPr wrap="none" anchor="t" anchorCtr="0" lIns="0" rIns="0" tIns="0" bIns="0">
            <a:noAutofit/>
          </a:bodyPr>
          <a:lstStyle/>
          <a:p>
            <a:pPr algn="l">
              <a:lnSpc>
                <a:spcPct val="116000"/>
              </a:lnSpc>
              <a:spcBef>
                <a:spcPts val="0"/>
              </a:spcBef>
              <a:spcAft>
                <a:spcPts val="0"/>
              </a:spcAft>
              <a:defRPr sz="900" b="0">
                <a:solidFill>
                  <a:srgbClr val="5C6B6E"/>
                </a:solidFill>
                <a:latin typeface="Noto Sans CJK KR"/>
                <a:ea typeface="Noto Sans CJK KR"/>
              </a:defRPr>
            </a:pPr>
            <a:r>
              <a:rPr>
                <a:ea typeface="Noto Sans CJK KR"/>
              </a:rPr>
              <a:t>수치·회사·계약은 학습용 가상 자료</a:t>
            </a:r>
          </a:p>
        </p:txBody>
      </p:sp>
      <p:sp>
        <p:nvSpPr>
          <p:cNvPr id="17" name="TextBox 16"/>
          <p:cNvSpPr txBox="1"/>
          <p:nvPr/>
        </p:nvSpPr>
        <p:spPr>
          <a:xfrm>
            <a:off x="11064240" y="6519672"/>
            <a:ext cx="530352" cy="228600"/>
          </a:xfrm>
          <a:prstGeom prst="rect">
            <a:avLst/>
          </a:prstGeom>
          <a:noFill/>
        </p:spPr>
        <p:txBody>
          <a:bodyPr wrap="none" anchor="t" anchorCtr="0" lIns="0" rIns="0" tIns="0" bIns="0">
            <a:noAutofit/>
          </a:bodyPr>
          <a:lstStyle/>
          <a:p>
            <a:pPr algn="r">
              <a:lnSpc>
                <a:spcPct val="116000"/>
              </a:lnSpc>
              <a:spcBef>
                <a:spcPts val="0"/>
              </a:spcBef>
              <a:spcAft>
                <a:spcPts val="0"/>
              </a:spcAft>
              <a:defRPr sz="1100" b="0">
                <a:solidFill>
                  <a:srgbClr val="5C6B6E"/>
                </a:solidFill>
                <a:latin typeface="Noto Sans CJK KR"/>
                <a:ea typeface="Noto Sans CJK KR"/>
              </a:defRPr>
            </a:pPr>
            <a:r>
              <a:rPr>
                <a:ea typeface="Noto Sans CJK KR"/>
              </a:rPr>
              <a:t>11</a:t>
            </a:r>
          </a:p>
        </p:txBody>
      </p:sp>
      <p:sp>
        <p:nvSpPr>
          <p:cNvPr id="18" name="TextBox 17"/>
          <p:cNvSpPr txBox="1"/>
          <p:nvPr/>
        </p:nvSpPr>
        <p:spPr>
          <a:xfrm>
            <a:off x="713232" y="2404872"/>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보고서 정보</a:t>
            </a:r>
          </a:p>
        </p:txBody>
      </p:sp>
      <p:sp>
        <p:nvSpPr>
          <p:cNvPr id="19" name="TextBox 18"/>
          <p:cNvSpPr txBox="1"/>
          <p:nvPr/>
        </p:nvSpPr>
        <p:spPr>
          <a:xfrm>
            <a:off x="713232" y="2834639"/>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2"/>
              </a:rPr>
              <a:t>https://dart.fss.or.kr/introduction/content2.do</a:t>
            </a:r>
          </a:p>
        </p:txBody>
      </p:sp>
      <p:sp>
        <p:nvSpPr>
          <p:cNvPr id="20" name="TextBox 19"/>
          <p:cNvSpPr txBox="1"/>
          <p:nvPr/>
        </p:nvSpPr>
        <p:spPr>
          <a:xfrm>
            <a:off x="713232" y="3355848"/>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금융감독원 DART · 공시 검색</a:t>
            </a:r>
          </a:p>
        </p:txBody>
      </p:sp>
      <p:sp>
        <p:nvSpPr>
          <p:cNvPr id="21" name="TextBox 20"/>
          <p:cNvSpPr txBox="1"/>
          <p:nvPr/>
        </p:nvSpPr>
        <p:spPr>
          <a:xfrm>
            <a:off x="713232" y="3785615"/>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3"/>
              </a:rPr>
              <a:t>https://dart.fss.or.kr/dsab007/main.do</a:t>
            </a:r>
          </a:p>
        </p:txBody>
      </p:sp>
      <p:sp>
        <p:nvSpPr>
          <p:cNvPr id="22" name="TextBox 21"/>
          <p:cNvSpPr txBox="1"/>
          <p:nvPr/>
        </p:nvSpPr>
        <p:spPr>
          <a:xfrm>
            <a:off x="713232" y="4306824"/>
            <a:ext cx="10789920" cy="393192"/>
          </a:xfrm>
          <a:prstGeom prst="rect">
            <a:avLst/>
          </a:prstGeom>
          <a:noFill/>
        </p:spPr>
        <p:txBody>
          <a:bodyPr wrap="none" anchor="t" anchorCtr="0" lIns="0" rIns="0" tIns="0" bIns="0">
            <a:noAutofit/>
          </a:bodyPr>
          <a:lstStyle/>
          <a:p>
            <a:pPr algn="l">
              <a:lnSpc>
                <a:spcPct val="116000"/>
              </a:lnSpc>
              <a:spcBef>
                <a:spcPts val="0"/>
              </a:spcBef>
              <a:spcAft>
                <a:spcPts val="0"/>
              </a:spcAft>
              <a:defRPr sz="1900" b="1">
                <a:solidFill>
                  <a:srgbClr val="19282C"/>
                </a:solidFill>
                <a:latin typeface="Noto Sans CJK KR"/>
                <a:ea typeface="Noto Sans CJK KR"/>
              </a:defRPr>
            </a:pPr>
            <a:r>
              <a:rPr>
                <a:ea typeface="Noto Sans CJK KR"/>
              </a:rPr>
              <a:t>SEC · 재무제표 입문</a:t>
            </a:r>
          </a:p>
        </p:txBody>
      </p:sp>
      <p:sp>
        <p:nvSpPr>
          <p:cNvPr id="23" name="TextBox 22"/>
          <p:cNvSpPr txBox="1"/>
          <p:nvPr/>
        </p:nvSpPr>
        <p:spPr>
          <a:xfrm>
            <a:off x="713232" y="4736592"/>
            <a:ext cx="10789920" cy="384048"/>
          </a:xfrm>
          <a:prstGeom prst="rect">
            <a:avLst/>
          </a:prstGeom>
          <a:noFill/>
        </p:spPr>
        <p:txBody>
          <a:bodyPr wrap="none" anchor="t" anchorCtr="0" lIns="0" rIns="0" tIns="0" bIns="0">
            <a:noAutofit/>
          </a:bodyPr>
          <a:lstStyle/>
          <a:p>
            <a:pPr algn="l">
              <a:lnSpc>
                <a:spcPct val="116000"/>
              </a:lnSpc>
              <a:spcBef>
                <a:spcPts val="0"/>
              </a:spcBef>
              <a:spcAft>
                <a:spcPts val="0"/>
              </a:spcAft>
              <a:defRPr sz="1100" b="0">
                <a:solidFill>
                  <a:srgbClr val="5C6B6E"/>
                </a:solidFill>
                <a:latin typeface="Noto Sans CJK KR"/>
                <a:ea typeface="Noto Sans CJK KR"/>
              </a:defRPr>
            </a:pPr>
            <a:r>
              <a:rPr>
                <a:ea typeface="Noto Sans CJK KR"/>
                <a:hlinkClick r:id="rId4"/>
              </a:rPr>
              <a:t>https://www.sec.gov/about/reports-publications/investorpubsbegfinstmtguide</a:t>
            </a:r>
          </a:p>
        </p:txBody>
      </p:sp>
      <p:sp>
        <p:nvSpPr>
          <p:cNvPr id="24" name="TextBox 23"/>
          <p:cNvSpPr txBox="1"/>
          <p:nvPr/>
        </p:nvSpPr>
        <p:spPr>
          <a:xfrm>
            <a:off x="731520" y="5678424"/>
            <a:ext cx="10744200" cy="411480"/>
          </a:xfrm>
          <a:prstGeom prst="rect">
            <a:avLst/>
          </a:prstGeom>
          <a:noFill/>
        </p:spPr>
        <p:txBody>
          <a:bodyPr wrap="none" anchor="t" anchorCtr="0" lIns="0" rIns="0" tIns="0" bIns="0">
            <a:noAutofit/>
          </a:bodyPr>
          <a:lstStyle/>
          <a:p>
            <a:pPr algn="l">
              <a:lnSpc>
                <a:spcPct val="116000"/>
              </a:lnSpc>
              <a:spcBef>
                <a:spcPts val="0"/>
              </a:spcBef>
              <a:spcAft>
                <a:spcPts val="0"/>
              </a:spcAft>
              <a:defRPr sz="1600" b="0">
                <a:solidFill>
                  <a:srgbClr val="5C6B6E"/>
                </a:solidFill>
                <a:latin typeface="Noto Sans CJK KR"/>
                <a:ea typeface="Noto Sans CJK KR"/>
              </a:defRPr>
            </a:pPr>
            <a:r>
              <a:rPr>
                <a:ea typeface="Noto Sans CJK KR"/>
              </a:rPr>
              <a:t>한빛식품·계약 문장·거래 기록은 교육을 위해 만든 가상 자료입니다.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아미콤 투자 스터디 4주차 · 가격과 가치 비교</dc:title>
  <dc:subject>가상 기업 자료를 활용한 투자 입문 수업</dc:subject>
  <dc:creator>아미콤 투자 스터디</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